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4:06.4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0 24575,'-1'49'0,"0"-23"0,0 1 0,3-1 0,5 38 0,-5-56 0,0 0 0,0-1 0,1 1 0,-1-1 0,2 0 0,-1 1 0,1-1 0,0-1 0,1 1 0,0-1 0,0 0 0,0 0 0,1 0 0,-1 0 0,13 7 0,49 38 0,-43-31 0,1-1 0,1-1 0,39 20 0,-9-12 0,111 47 0,-139-65 0,0-1 0,0-1 0,32 1 0,262-3 0,-170-7 0,-43 1 0,117 5 0,-165 5 0,-36-4 0,48 1 0,-41-4 0,1 1 0,47 9 0,-45-7 0,0-1 0,58-4 0,-59 0 0,1 1 0,65 9 0,-48-2 0,0-3 0,0-2 0,56-5 0,-2 0 0,34 1 0,150 5 0,-212 5 0,-36-3 0,43 0 0,-43-6 0,-12-1 0,0 2 0,0 2 0,57 9 0,-68-8 0,0 0 0,0-2 0,20 0 0,-20-1 0,0 1 0,0 1 0,22 4 0,7 6 0,79 31 0,-120-38 0,1 0 0,0 1 0,-1 0 0,0 0 0,0 1 0,-1 0 0,11 15 0,8 8 0,-15-20 0,3 2 0,-1 1 0,0 0 0,0 1 0,-1 0 0,-1 1 0,0 0 0,-2 0 0,14 33 0,12 77 0,-25-85 0,14 67 0,24 90 0,-18-130 0,-16-39 0,-13-28 0,1 1 0,-1-1 0,0 1 0,1-1 0,-1 1 0,0-1 0,1 1 0,-1-1 0,0 1 0,0-1 0,0 1 0,1-1 0,-1 1 0,0 0 0,0-1 0,0 1 0,0-1 0,0 1 0,0-1 0,0 1 0,0 0 0,0-1 0,-1 1 0,1-1 0,0 1 0,0-1 0,0 1 0,-1-1 0,1 1 0,0-1 0,-1 2 0,-17-6 0,-22-21 0,39 24 0,-84-71-1365,76 66-5461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4:07.5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1 374 24575,'-1'-14'0,"2"-1"0,-1 1 0,2 0 0,0-1 0,1 1 0,0 0 0,1 0 0,1 1 0,0-1 0,1 1 0,0 0 0,1 0 0,0 1 0,10-12 0,15-34 0,-8 13 0,9-10-1365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4:10.6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2587 16 24575,'0'-1'0,"1"0"0,-1 0 0,1 0 0,-1 0 0,1 0 0,0 1 0,-1-1 0,1 0 0,0 0 0,0 0 0,0 1 0,0-1 0,0 0 0,0 1 0,-1-1 0,1 1 0,1-1 0,-1 1 0,0-1 0,0 1 0,0 0 0,0 0 0,0-1 0,0 1 0,0 0 0,0 0 0,1 0 0,1 0 0,34 1 0,39 12 0,95 3 0,-111-11 0,-37-2 0,0 1 0,23 7 0,37 6 0,-43-10 0,-1 1 0,51 18 0,4 1 0,162 56 0,-104-29 0,-100-34 0,55 28 0,-72-31 0,95 55 0,-45-24 0,-66-36 0,-1 1 0,0 1 0,28 28 0,-7-6 0,21 18 0,103 123 0,-97-93 0,79 134 0,-4-15 0,-13-21 0,-92-117 0,51 132 0,-78-174 0,11 35 0,15 69 0,-11-34 0,109 404-248,-39 9-325,-85-440 557,6 52-69,-1 131 1,-14 556 1090,-3-766-1006,0 0 0,-13 48 0,7-40 0,-31 121 0,22-109 0,-3 0 0,-55 105 0,70-153 0,-27 51 0,-4-1 0,-55 73 0,28-53 0,38-45 0,-2 0 0,-1-2 0,-2-2 0,-52 44 0,22-30 0,-1-2 0,-135 70 0,27-49 0,92-38 0,-386 132 0,419-144 0,0-3 0,-70 11 0,-9 2 0,89-16 0,-1-2 0,0-2 0,-51 3 0,-97 9 0,-726-18 0,893 3 0,1 0 0,0 1 0,-1 1 0,2 0 0,-31 13 0,-7 2 0,27-10 0,1 1 0,0 2 0,-46 27 0,-64 55 0,125-86 0,-61 49 0,44-33 0,-50 32 0,34-26 0,-32 16 0,70-43 0,0 0 0,0 1 0,0-1 0,1 1 0,-1 0 0,1 0 0,0 1 0,0-1 0,-6 10 0,-29 54 0,13-19 0,-11 11 0,24-36 0,-1 0 0,-1-1 0,-2-1 0,-34 37 0,-25 0 0,59-48 0,0 2 0,1-1 0,1 2 0,-25 28 0,-81 117 0,111-148 0,0-1 0,0 0 0,-2-1 0,-20 14 0,17-13 0,-11 6 0,-1-1 0,-40 16 0,26-13 0,-2 0 0,-87 23 0,9-21 0,-20-3 0,128-14 0,0 0 0,0 1 0,1 0 0,-1 1 0,1 1 0,-14 8 0,14-8 0,-23 10 0,24-11 0,-1 1 0,1 0 0,0 1 0,-13 9 0,-4 8-1365,21-16-5461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4:20.1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0 321 24575,'3'0'0,"0"-1"0,0 0 0,0-1 0,-1 1 0,1 0 0,-1-1 0,1 0 0,-1 1 0,1-1 0,-1 0 0,0 0 0,4-5 0,23-28 0,117-205-1017,-140 229 669,0 0-6478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4:21.6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24575,'3'0'0,"4"0"0,3 0 0,4 0 0,2 0 0,2 0 0,0 0 0,0 0 0,-2 3 0,-2 1 0,0 3 0,1 3 0,1 0 0,-3 1 0,-3-1-8191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8:08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24575,'56'1'0,"-11"0"0,0-2 0,74-10 0,-67 4 0,0 3 0,1 2 0,55 5 0,-2 0 0,317-3 0,-413-1-241,-1 0-1,1 0 1,-1-1 0,11-4-1,-19 6 84,11-3-6668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8:13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24575,'-2'73'0,"4"83"0,-1-154 0,-1 0 0,0 0 0,1 0 0,0 0 0,-1-1 0,1 1 0,0 0 0,0-1 0,0 1 0,0 0 0,1-1 0,-1 1 0,0-1 0,0 0 0,1 1 0,-1-1 0,1 0 0,-1 0 0,1 0 0,0 0 0,-1 0 0,1 0 0,0-1 0,0 1 0,0-1 0,-1 1 0,4 0 0,63 6 0,-33-5 0,31 5 0,0-3 0,91-6 0,-39 0 0,-44 3 0,80-3 0,-48-16 0,-60 11 0,-22 3 0,-1 1 0,25 0 0,129-15 0,-175 19 0,0-1 0,-1 0 0,1 0 0,0 0 0,-1 0 0,1 0 0,0 0 0,0 0 0,-1 0 0,1-1 0,0 1 0,-1-1 0,1 1 0,-1-1 0,1 0 0,0 1 0,-1-1 0,0 0 0,1 0 0,-1 0 0,0 0 0,1 0 0,-1-1 0,0 1 0,0 0 0,0-1 0,0 1 0,0 0 0,2-4 0,-4 3 0,1 0 0,0 0 0,-1 1 0,0-1 0,1 0 0,-1 0 0,0 1 0,0-1 0,0 0 0,0 1 0,0-1 0,0 1 0,0-1 0,0 1 0,-1-1 0,1 1 0,-1 0 0,1 0 0,-1 0 0,1 0 0,-1 0 0,0 0 0,1 0 0,-1 0 0,0 1 0,0-1 0,-2 0 0,-21-9 0,-2 1 0,1 1 0,-1 1 0,-55-6 0,40 4-1365,30 6-5461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48:14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0 24575,'-1'10'0,"-1"-1"0,0 1 0,0-1 0,-1 0 0,-1 0 0,1 0 0,-1 0 0,-1 0 0,0-1 0,0 0 0,-13 15 0,-23 44 0,24-33-1365,12-24-5461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50:34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24575,'1'-2'0,"0"1"0,-1 0 0,1 0 0,0-1 0,0 1 0,0 0 0,1 0 0,-1 0 0,0 0 0,0 0 0,1 0 0,-1 1 0,0-1 0,1 0 0,-1 1 0,0-1 0,1 1 0,-1-1 0,4 0 0,34-9 0,-37 10 0,79-13 0,-1 4 0,2 4 0,107 6 0,-71 0 0,-103 0 26,-1 1 0,1 0 0,-1 1 0,21 7 0,-19-5-400,-1-1 0,1 0 1,20 1-1,-22-4-6452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8:50:36.8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24575,'6'1'0,"0"1"0,0 0 0,0 0 0,-1 0 0,1 1 0,-1 0 0,0 0 0,7 5 0,13 6 0,6 3 0,0 0 0,47 36 0,-77-52 0,0-1 0,0 1 0,0 0 0,0-1 0,0 1 0,0 0 0,0-1 0,0 1 0,0 0 0,0 0 0,-1 0 0,1 0 0,0 0 0,0 0 0,-1 0 0,1 0 0,-1 0 0,1 0 0,-1 0 0,0 1 0,1-1 0,-1 0 0,0 0 0,0 0 0,0 0 0,0 1 0,0-1 0,0 0 0,0 0 0,0 0 0,0 1 0,-1-1 0,1 0 0,0 0 0,-1 0 0,1 0 0,-1 0 0,1 0 0,-1 1 0,0-1 0,1-1 0,-2 2 0,-4 4 0,0 0 0,-1-1 0,0 0 0,0-1 0,-11 6 0,-16 12 0,-65 79 0,66-72 0,26-23 0,0-1 0,1 1 0,-1 1 0,-6 9 0,5-7-1365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9:07:46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24575,'3'0'0,"1"-3"0,0-4 0,-1-4 0,2 1 0,0-3 0,0 0 0,1 1 0,0 0 0,2 1 0,0 1 0,1 1 0,-1-1 0,-1-1 0,0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9:08:01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1129 24575,'5'-2'0,"0"0"0,0-1 0,0 1 0,-1-1 0,1 0 0,-1-1 0,1 1 0,-1-1 0,0 0 0,0 0 0,-1 0 0,6-9 0,3-1 0,33-28 0,2 2 0,1 2 0,58-35 0,-69 52 0,58-26 0,-61 32 0,-1-2 0,51-33 0,47-60 0,-100 86 0,32-33 0,-3 2 0,17-19 0,-44 42 0,-21 19 0,1 1 0,25-19 0,31-22 0,-53 38 0,0 2 0,2 0 0,-1 2 0,27-14 0,-21 12 0,0-1 0,0-1 0,38-34 0,17-11 0,-57 39-1365,-14 11-5461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9:08:10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1151 24575,'2'0'0,"0"-1"0,0 1 0,0-1 0,-1 1 0,1-1 0,0 0 0,0 0 0,-1 0 0,1 0 0,0 0 0,-1 0 0,1 0 0,-1 0 0,1-1 0,-1 1 0,2-4 0,23-31 0,-14 18 0,19-18 0,1 2 0,68-54 0,26-27 0,-115 104 0,0 2 0,1 0 0,19-12 0,8-5 0,29-28 0,-60 48 0,0 1 0,0 0 0,1 0 0,0 1 0,0 0 0,0 0 0,0 1 0,0 0 0,12-1 0,-10 1 0,-1 1 0,1-2 0,-1 1 0,1-2 0,-1 1 0,18-12 0,39-23 0,-53 32 0,-1 0 0,0-1 0,0 0 0,18-15 0,35-34 0,-17 12 0,2 3 0,102-65 0,-95 68 0,-25 17 0,-1-2 0,51-50 0,-43 38 77,11-12-1519,-44 39-5384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9:23:22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583 0 24575,'-25'2'0,"-1"1"0,1 0 0,0 2 0,0 1 0,-40 16 0,38-13 0,-39 11 0,19-6 0,-53 23 0,89-33 0,-1 0 0,0-1 0,-20 3 0,21-4 0,0 0 0,-1 1 0,1 0 0,-12 5 0,22-8 0,1 0 0,-1 1 0,0-1 0,0 0 0,0 0 0,1 1 0,-1-1 0,0 0 0,1 1 0,-1-1 0,0 1 0,1-1 0,-1 1 0,0-1 0,1 1 0,-1-1 0,1 1 0,-1 0 0,1-1 0,-1 1 0,1 0 0,0-1 0,-1 1 0,1 0 0,0 0 0,0-1 0,-1 1 0,1 0 0,0 0 0,0-1 0,0 1 0,0 0 0,0 0 0,0 0 0,0-1 0,0 1 0,0 0 0,0 0 0,1 0 0,-1-1 0,0 1 0,0 0 0,1 0 0,-1-1 0,1 1 0,-1 0 0,0-1 0,1 1 0,-1 0 0,1-1 0,0 1 0,-1-1 0,1 1 0,-1-1 0,1 1 0,1 0 0,51 30 0,-32-20 0,-7 2 0,-1 0 0,0 1 0,16 22 0,-17-21 0,67 72 0,-50-58 0,42 55 0,-61-71 0,1 0 0,1-1 0,22 19 0,23 23 0,14 55-1365,-61-98-5461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9:23:23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813 0 24575,'-796'0'-1365,"779"0"-5461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9:23:25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 24575,'-1'2'0,"0"1"0,1-1 0,-1 0 0,-1 1 0,1-1 0,0 0 0,0 0 0,-1 0 0,0 0 0,1 0 0,-1 0 0,0-1 0,0 1 0,0 0 0,0-1 0,-2 2 0,-35 23 0,38-26 0,-10 7 0,-1 1 0,1 1 0,-12 12 0,-17 14 0,38-33 0,0 0 0,0-1 0,0 1 0,1 0 0,-1 0 0,1 1 0,-1-1 0,1 0 0,0 1 0,0-1 0,0 0 0,0 1 0,0-1 0,0 1 0,1 0 0,-1-1 0,1 1 0,0-1 0,0 1 0,0 0 0,0-1 0,0 1 0,1 2 0,1 9 0,1 0 0,1 0 0,7 17 0,-1-1 0,-8-22-227,1-1-1,1 1 1,-1-1-1,1 1 1,7 9-1,-5-8-6598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9:48:18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24575,'830'0'0,"-690"18"0,1272-18-1365,-1397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24F24-34D2-4A0C-9FBA-515BDCAB9556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FB438-C01C-4877-AF3E-AB9853115E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7FB438-C01C-4877-AF3E-AB9853115EC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78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3788E-E655-16C9-7BC1-FF531A64D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109D25-0D0A-50AC-850D-19031817E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1BD623-EF90-1B4B-8A41-2E291D867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FDF16-A517-608F-5264-34FB27AC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84520-C410-001B-C666-F7F3B7B6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42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2F3EC-9C2A-FE90-1724-CBFF8DD95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78884-C7F3-03BB-BDB8-69ECEBF7C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DA50DF-511B-856D-C219-9418BA2B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B8D86-B1A2-17B4-B960-B8DC4C3C7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118C2A-E9C4-866A-D971-D2AD7777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73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D052C-D631-BFEE-FC97-CF579EE48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9B4259-4A39-49DE-2B08-1BB08C419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85397-6C60-99E7-E9AD-52BAC512F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E013F2-3766-7169-4B02-F943406CE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F1C5D3-AA14-E215-2AD1-0A4713D2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706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D8C9D-699A-C7C3-6262-4174B1FD6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FDE00-9772-9FC3-A5EB-F38D3E93E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EFBD97-C93D-261A-7FE8-A68E9E488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25D1C7-AB7D-A51C-49FB-BBA89A64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8CC401-8F13-65DC-0DE6-B9C6B0AD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300D4E-B608-5771-4E4E-C47C3E1F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260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7E501-4535-6252-72F3-E1AB317F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088DC2-68BF-24D2-5FB4-E99B2E5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E6F844-E992-35B3-8878-BE059EBFE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8E8C19-5846-27A7-E6C1-A3BE34136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A2DFDDA-3A3D-52C1-AE43-628889204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599204-1ABB-2ABA-71E7-3B27C3DAD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81E3C7-5C4F-CC9B-C8B4-784C9FE4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05074D-3161-3FBF-6838-E7F43064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18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351F9-1E1F-2EA3-8832-EA5527336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4C9082-E2E7-1764-5A9D-92DAF3D2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4647C6-CD9E-3A58-26FB-574AF9C5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7031E-16D0-9510-72CE-0AC92B63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63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FA9B69-8EC1-791F-6448-017C312E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F41DFB-2CF7-DD39-75E7-04EA487A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AB25C5-3E97-2D64-6C98-4AA1768D9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86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BA84B-D8F7-AB2F-97E1-5E301A5E2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AE42CC-9B64-4A7C-0514-9CFAC8D1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9629A3-3FCA-B183-7FF3-11FCAAA82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E80FA87-FEEE-18F1-3ED4-1A6B366B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F7D9A7-851E-2E86-FBE0-9FF7AB83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694D91-70A9-5B98-D5BA-06DB14C9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63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5ACA4-8252-47F3-6196-8E393480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A22E7E-7990-276A-A61D-9F29D8064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D04002-7E97-26E0-D079-8B4490AC8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7EBD19-7836-5C7C-E44D-DD14C164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D2FB92-4A53-1C1C-B885-69462726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EC4763-F37E-97C9-B395-0AD3ABA7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0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EC7D6-2067-F4D9-7E86-F1AED619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EE2D43-9AF4-A600-A54E-620F1122E1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776C8B-4C8C-E743-DF58-11EFC834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562D29-0D50-3D26-5C0C-AECEB4CC6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8117B9-AF34-6278-958F-5898F058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965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605F30-0EB3-E196-07BD-3C1385E87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E9A7F7-C81D-851C-0B20-98BBBF845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92812-2B25-7CB1-B9AE-AA1435FB8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D8CA7-375C-A234-EA3F-FB6A5A93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E7FC20-79E3-8B18-30E5-91CBA0F4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64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C20C6EE-33E4-4533-466F-D8070A6C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1EF8D6-6EDF-9B06-8D5F-5C5E5B4EB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527E9E-64DA-5A12-6CF1-B41533BC8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B2574-7DB7-4AD3-87FC-177CD5C76A52}" type="datetimeFigureOut">
              <a:rPr lang="ko-KR" altLang="en-US" smtClean="0"/>
              <a:t>2026-03-01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DA132F-F5A2-9BE8-98A8-4A5D16C03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D05AC2-821B-3D92-FB4A-F61658C7F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8471A-E3C6-4370-AB27-EB5E7EB406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396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12" Type="http://schemas.openxmlformats.org/officeDocument/2006/relationships/customXml" Target="../ink/ink10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9.xml"/><Relationship Id="rId4" Type="http://schemas.openxmlformats.org/officeDocument/2006/relationships/customXml" Target="../ink/ink6.xml"/><Relationship Id="rId9" Type="http://schemas.openxmlformats.org/officeDocument/2006/relationships/image" Target="../media/image12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12.xml"/><Relationship Id="rId4" Type="http://schemas.openxmlformats.org/officeDocument/2006/relationships/image" Target="../media/image18.png"/><Relationship Id="rId9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image" Target="../media/image1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23.png"/><Relationship Id="rId10" Type="http://schemas.openxmlformats.org/officeDocument/2006/relationships/image" Target="../media/image13.jpeg"/><Relationship Id="rId4" Type="http://schemas.openxmlformats.org/officeDocument/2006/relationships/customXml" Target="../ink/ink14.xml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1E8EC-8E14-60A6-F908-2BB404D9E9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Generative Models</a:t>
            </a:r>
            <a:br>
              <a:rPr lang="en-US" altLang="ko-KR" dirty="0"/>
            </a:br>
            <a:r>
              <a:rPr lang="en-US" altLang="ko-KR" dirty="0"/>
              <a:t>Lecture 11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811AED-6F77-D218-EFAE-3656B7A09A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326816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C3DBB-0495-8C52-506C-40069929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0"/>
            <a:ext cx="10515600" cy="1325563"/>
          </a:xfrm>
        </p:spPr>
        <p:txBody>
          <a:bodyPr/>
          <a:lstStyle/>
          <a:p>
            <a:r>
              <a:rPr lang="ko-KR" altLang="en-US" dirty="0"/>
              <a:t>기존 생성 모델의 단점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8FED1-F6D8-BE7C-3CA5-D59D4FF38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250" y="1253330"/>
            <a:ext cx="10515600" cy="5420519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ko-KR" altLang="en-US" sz="2000" dirty="0"/>
              <a:t>기존 생성 모델 </a:t>
            </a:r>
            <a:r>
              <a:rPr lang="en-US" altLang="ko-KR" sz="2000" dirty="0"/>
              <a:t>---&gt; </a:t>
            </a:r>
            <a:r>
              <a:rPr lang="ko-KR" altLang="en-US" sz="2000" dirty="0">
                <a:solidFill>
                  <a:srgbClr val="FF0000"/>
                </a:solidFill>
              </a:rPr>
              <a:t>확률을 기반</a:t>
            </a:r>
            <a:r>
              <a:rPr lang="ko-KR" altLang="en-US" sz="2000" dirty="0"/>
              <a:t>으로 한 생성 모델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       1) </a:t>
            </a:r>
            <a:r>
              <a:rPr lang="ko-KR" altLang="en-US" sz="2000" dirty="0"/>
              <a:t>비음수성 </a:t>
            </a:r>
            <a:r>
              <a:rPr lang="en-US" altLang="ko-KR" sz="2000" dirty="0"/>
              <a:t>--&gt; </a:t>
            </a:r>
            <a:r>
              <a:rPr lang="ko-KR" altLang="en-US" sz="2000" dirty="0"/>
              <a:t>모든 입력 </a:t>
            </a:r>
            <a:r>
              <a:rPr lang="en-US" altLang="ko-KR" sz="2000" dirty="0"/>
              <a:t>x</a:t>
            </a:r>
            <a:r>
              <a:rPr lang="ko-KR" altLang="en-US" sz="2000" dirty="0"/>
              <a:t>에 대해 함수 값 </a:t>
            </a:r>
            <a:r>
              <a:rPr lang="en-US" altLang="ko-KR" sz="2000" dirty="0"/>
              <a:t>&gt;=0  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(</a:t>
            </a:r>
            <a:r>
              <a:rPr lang="ko-KR" altLang="en-US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지수함수를 취하면 된다</a:t>
            </a:r>
            <a:r>
              <a:rPr lang="en-US" altLang="ko-KR" sz="2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/>
              <a:t>        </a:t>
            </a:r>
            <a:r>
              <a:rPr lang="en-US" altLang="ko-KR" sz="2000" dirty="0">
                <a:solidFill>
                  <a:srgbClr val="FF0000"/>
                </a:solidFill>
              </a:rPr>
              <a:t>2) </a:t>
            </a:r>
            <a:r>
              <a:rPr lang="ko-KR" altLang="en-US" sz="2000" dirty="0">
                <a:solidFill>
                  <a:srgbClr val="FF0000"/>
                </a:solidFill>
              </a:rPr>
              <a:t>정규화 </a:t>
            </a:r>
            <a:r>
              <a:rPr lang="en-US" altLang="ko-KR" sz="2000" dirty="0">
                <a:solidFill>
                  <a:srgbClr val="FF0000"/>
                </a:solidFill>
              </a:rPr>
              <a:t>--&gt; </a:t>
            </a:r>
            <a:r>
              <a:rPr lang="ko-KR" altLang="en-US" sz="2000" dirty="0">
                <a:solidFill>
                  <a:srgbClr val="FF0000"/>
                </a:solidFill>
              </a:rPr>
              <a:t>가능한 모든 입력에 대한 확률의 합 </a:t>
            </a:r>
            <a:r>
              <a:rPr lang="en-US" altLang="ko-KR" sz="2000" dirty="0">
                <a:solidFill>
                  <a:srgbClr val="FF0000"/>
                </a:solidFill>
              </a:rPr>
              <a:t>= 1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2) </a:t>
            </a:r>
            <a:r>
              <a:rPr lang="ko-KR" altLang="en-US" sz="2000" dirty="0"/>
              <a:t>정규화가 어렵다</a:t>
            </a:r>
            <a:r>
              <a:rPr lang="en-US" altLang="ko-KR" sz="2000" dirty="0"/>
              <a:t>. / </a:t>
            </a:r>
            <a:r>
              <a:rPr lang="ko-KR" altLang="en-US" sz="2000" dirty="0">
                <a:solidFill>
                  <a:srgbClr val="FF0000"/>
                </a:solidFill>
              </a:rPr>
              <a:t>케이크의 전체 크기는 고정 </a:t>
            </a:r>
            <a:r>
              <a:rPr lang="en-US" altLang="ko-KR" sz="2000" dirty="0">
                <a:solidFill>
                  <a:srgbClr val="FF0000"/>
                </a:solidFill>
              </a:rPr>
              <a:t>-&gt; </a:t>
            </a:r>
            <a:r>
              <a:rPr lang="ko-KR" altLang="en-US" sz="2000" dirty="0">
                <a:solidFill>
                  <a:srgbClr val="FF0000"/>
                </a:solidFill>
              </a:rPr>
              <a:t>한 조각의 크기는 다른 조각에 영향</a:t>
            </a:r>
            <a:r>
              <a:rPr lang="en-US" altLang="ko-KR" sz="2000" dirty="0">
                <a:solidFill>
                  <a:srgbClr val="FF0000"/>
                </a:solidFill>
              </a:rPr>
              <a:t>.</a:t>
            </a:r>
          </a:p>
          <a:p>
            <a:pPr marL="514350" indent="-514350">
              <a:buAutoNum type="arabicParenR"/>
            </a:pPr>
            <a:endParaRPr lang="ko-KR" altLang="en-US" dirty="0"/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277C64-492B-1092-0A8C-E65BB8C26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03" y="2487214"/>
            <a:ext cx="802005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58729F-F748-19D8-16C0-D7464D29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기존 생성 모델에서 단점을 해결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82BA3D-13B4-0A5A-5F88-84C7A289E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250" y="1191418"/>
            <a:ext cx="11537950" cy="46632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/>
              <a:t>1) </a:t>
            </a:r>
            <a:r>
              <a:rPr lang="ko-KR" altLang="en-US" sz="2000" dirty="0"/>
              <a:t>기존에는 </a:t>
            </a:r>
            <a:r>
              <a:rPr lang="ko-KR" altLang="en-US" sz="2000" dirty="0">
                <a:solidFill>
                  <a:srgbClr val="FF0000"/>
                </a:solidFill>
              </a:rPr>
              <a:t>정규화 상수</a:t>
            </a:r>
            <a:r>
              <a:rPr lang="en-US" altLang="ko-KR" sz="2000" dirty="0">
                <a:solidFill>
                  <a:srgbClr val="FF0000"/>
                </a:solidFill>
              </a:rPr>
              <a:t>(Z)</a:t>
            </a:r>
            <a:r>
              <a:rPr lang="ko-KR" altLang="en-US" sz="2000" dirty="0"/>
              <a:t>를 수학적으로 계산 가능한 함수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가우시안</a:t>
            </a:r>
            <a:r>
              <a:rPr lang="en-US" altLang="ko-KR" sz="2000" dirty="0"/>
              <a:t>, </a:t>
            </a:r>
            <a:r>
              <a:rPr lang="ko-KR" altLang="en-US" sz="2000" dirty="0"/>
              <a:t>지수 분포</a:t>
            </a:r>
            <a:r>
              <a:rPr lang="en-US" altLang="ko-KR" sz="2000" dirty="0"/>
              <a:t>)</a:t>
            </a:r>
            <a:r>
              <a:rPr lang="ko-KR" altLang="en-US" sz="2000" dirty="0"/>
              <a:t>만 골라서 사용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-----&gt;</a:t>
            </a:r>
            <a:r>
              <a:rPr lang="ko-KR" altLang="en-US" sz="2000" dirty="0">
                <a:solidFill>
                  <a:srgbClr val="FF0000"/>
                </a:solidFill>
              </a:rPr>
              <a:t>신경망 구조를 매우 제한적으로 </a:t>
            </a:r>
            <a:r>
              <a:rPr lang="ko-KR" altLang="en-US" sz="2000" dirty="0" err="1">
                <a:solidFill>
                  <a:srgbClr val="FF0000"/>
                </a:solidFill>
              </a:rPr>
              <a:t>만듬</a:t>
            </a:r>
            <a:r>
              <a:rPr lang="en-US" altLang="ko-KR" sz="2000" dirty="0">
                <a:solidFill>
                  <a:srgbClr val="FF0000"/>
                </a:solidFill>
              </a:rPr>
              <a:t>. (Problem)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2) </a:t>
            </a:r>
            <a:r>
              <a:rPr lang="ko-KR" altLang="en-US" sz="2000" dirty="0"/>
              <a:t>복잡한 모델을 만들기 위해 단순한 블록을 쌓는 전략 사용</a:t>
            </a:r>
            <a:r>
              <a:rPr lang="en-US" altLang="ko-KR" sz="2000" dirty="0"/>
              <a:t>. </a:t>
            </a:r>
            <a:r>
              <a:rPr lang="en-US" altLang="ko-KR" sz="2000" dirty="0">
                <a:solidFill>
                  <a:srgbClr val="FF0000"/>
                </a:solidFill>
              </a:rPr>
              <a:t>(Solution)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3) </a:t>
            </a:r>
            <a:r>
              <a:rPr lang="ko-KR" altLang="en-US" sz="2000" dirty="0">
                <a:solidFill>
                  <a:srgbClr val="FF0000"/>
                </a:solidFill>
              </a:rPr>
              <a:t>만약 정규화 상수를 계산하기 어렵다면 어떻게 해야 하지</a:t>
            </a:r>
            <a:r>
              <a:rPr lang="en-US" altLang="ko-KR" sz="2000" dirty="0">
                <a:solidFill>
                  <a:srgbClr val="FF0000"/>
                </a:solidFill>
              </a:rPr>
              <a:t>? (Problem 2)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pic>
        <p:nvPicPr>
          <p:cNvPr id="9" name="그림 8" descr="교통, 선박, 범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9571FB-1963-EDE4-EB95-9C07859F2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711191"/>
            <a:ext cx="8305800" cy="2278259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74CE26C-ADBA-BD91-C499-22616835EDF3}"/>
              </a:ext>
            </a:extLst>
          </p:cNvPr>
          <p:cNvGrpSpPr/>
          <p:nvPr/>
        </p:nvGrpSpPr>
        <p:grpSpPr>
          <a:xfrm>
            <a:off x="6399920" y="1777890"/>
            <a:ext cx="1530360" cy="584640"/>
            <a:chOff x="6399920" y="1777890"/>
            <a:chExt cx="1530360" cy="58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7EBC5D5-79C7-BE1D-60ED-0C7D2F1F2C04}"/>
                    </a:ext>
                  </a:extLst>
                </p14:cNvPr>
                <p14:cNvContentPartPr/>
                <p14:nvPr/>
              </p14:nvContentPartPr>
              <p14:xfrm>
                <a:off x="6399920" y="1777890"/>
                <a:ext cx="1464120" cy="569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7EBC5D5-79C7-BE1D-60ED-0C7D2F1F2C0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90920" y="1768890"/>
                  <a:ext cx="148176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7F24301-3515-4945-C4A3-EE04EA85BB84}"/>
                    </a:ext>
                  </a:extLst>
                </p14:cNvPr>
                <p14:cNvContentPartPr/>
                <p14:nvPr/>
              </p14:nvContentPartPr>
              <p14:xfrm>
                <a:off x="7873760" y="2227530"/>
                <a:ext cx="56520" cy="1350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7F24301-3515-4945-C4A3-EE04EA85BB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864760" y="2218530"/>
                  <a:ext cx="7416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F9B70AD-4A60-E25B-01FE-6E8FE99E083C}"/>
                  </a:ext>
                </a:extLst>
              </p14:cNvPr>
              <p14:cNvContentPartPr/>
              <p14:nvPr/>
            </p14:nvContentPartPr>
            <p14:xfrm>
              <a:off x="7780880" y="2546850"/>
              <a:ext cx="1991880" cy="274464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1F9B70AD-4A60-E25B-01FE-6E8FE99E08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72240" y="2537850"/>
                <a:ext cx="2009520" cy="276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11AAEF5E-161F-3093-AC16-A3E512B79528}"/>
              </a:ext>
            </a:extLst>
          </p:cNvPr>
          <p:cNvGrpSpPr/>
          <p:nvPr/>
        </p:nvGrpSpPr>
        <p:grpSpPr>
          <a:xfrm>
            <a:off x="7791320" y="5173770"/>
            <a:ext cx="85680" cy="142200"/>
            <a:chOff x="7791320" y="5173770"/>
            <a:chExt cx="8568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629DFC5F-7CCD-B2DE-2B2D-0CDBDE4C4191}"/>
                    </a:ext>
                  </a:extLst>
                </p14:cNvPr>
                <p14:cNvContentPartPr/>
                <p14:nvPr/>
              </p14:nvContentPartPr>
              <p14:xfrm>
                <a:off x="7791320" y="5173770"/>
                <a:ext cx="81000" cy="1159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629DFC5F-7CCD-B2DE-2B2D-0CDBDE4C41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782320" y="5164770"/>
                  <a:ext cx="98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0C76DCB9-DE8B-9E42-4705-CF4A17C9F950}"/>
                    </a:ext>
                  </a:extLst>
                </p14:cNvPr>
                <p14:cNvContentPartPr/>
                <p14:nvPr/>
              </p14:nvContentPartPr>
              <p14:xfrm>
                <a:off x="7803920" y="5295810"/>
                <a:ext cx="73080" cy="201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0C76DCB9-DE8B-9E42-4705-CF4A17C9F95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95280" y="5286810"/>
                  <a:ext cx="90720" cy="3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448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1B54C-980B-8F50-99B3-69495C530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에너지 기반 모델 </a:t>
            </a:r>
            <a:r>
              <a:rPr lang="en-US" altLang="ko-KR" dirty="0"/>
              <a:t>(</a:t>
            </a:r>
            <a:r>
              <a:rPr lang="ko-KR" altLang="en-US"/>
              <a:t>문제 해결</a:t>
            </a:r>
            <a:r>
              <a:rPr lang="en-US" altLang="ko-KR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510A60-EF45-5B07-2526-1FD0A01C0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400968"/>
            <a:ext cx="5524500" cy="619125"/>
          </a:xfrm>
          <a:prstGeom prst="rect">
            <a:avLst/>
          </a:prstGeom>
        </p:spPr>
      </p:pic>
      <p:pic>
        <p:nvPicPr>
          <p:cNvPr id="11" name="그림 10" descr="폰트, 화이트, 친필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D041CF-7699-5E82-FB79-B7BEADD91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03" y="2971800"/>
            <a:ext cx="2524125" cy="657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D27EF9D3-85F4-983A-85C8-A0C3859F4700}"/>
                  </a:ext>
                </a:extLst>
              </p14:cNvPr>
              <p14:cNvContentPartPr/>
              <p14:nvPr/>
            </p14:nvContentPartPr>
            <p14:xfrm>
              <a:off x="5308400" y="1798050"/>
              <a:ext cx="407520" cy="1224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D27EF9D3-85F4-983A-85C8-A0C3859F47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9760" y="1789410"/>
                <a:ext cx="425160" cy="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EC942EB6-E22D-CF83-7EDC-E908F407D664}"/>
              </a:ext>
            </a:extLst>
          </p:cNvPr>
          <p:cNvGrpSpPr/>
          <p:nvPr/>
        </p:nvGrpSpPr>
        <p:grpSpPr>
          <a:xfrm>
            <a:off x="5619080" y="1828650"/>
            <a:ext cx="451440" cy="160560"/>
            <a:chOff x="5619080" y="1828650"/>
            <a:chExt cx="451440" cy="16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0821A2D-55D4-9893-4223-EECA6EB231EA}"/>
                    </a:ext>
                  </a:extLst>
                </p14:cNvPr>
                <p14:cNvContentPartPr/>
                <p14:nvPr/>
              </p14:nvContentPartPr>
              <p14:xfrm>
                <a:off x="5619080" y="1828650"/>
                <a:ext cx="449280" cy="1036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0821A2D-55D4-9893-4223-EECA6EB231E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10080" y="1820010"/>
                  <a:ext cx="466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9549944-57D9-2D70-9D69-FF2F95CD4E28}"/>
                    </a:ext>
                  </a:extLst>
                </p14:cNvPr>
                <p14:cNvContentPartPr/>
                <p14:nvPr/>
              </p14:nvContentPartPr>
              <p14:xfrm>
                <a:off x="6028040" y="1904970"/>
                <a:ext cx="42480" cy="842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9549944-57D9-2D70-9D69-FF2F95CD4E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19400" y="1895970"/>
                  <a:ext cx="60120" cy="101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E1EF9D8-1652-DBDF-52E7-62B1B59BEE93}"/>
              </a:ext>
            </a:extLst>
          </p:cNvPr>
          <p:cNvSpPr txBox="1"/>
          <p:nvPr/>
        </p:nvSpPr>
        <p:spPr>
          <a:xfrm>
            <a:off x="6178550" y="1587500"/>
            <a:ext cx="53359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에너지라고 정의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물리학에서 에너지가 낮은 상태가 안정적이듯이</a:t>
            </a:r>
            <a:r>
              <a:rPr lang="en-US" altLang="ko-KR" dirty="0"/>
              <a:t>,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에너지가 낮을수록 확률이 높다고 해석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E7D121F-1409-B7FE-624B-BBC753A38D7D}"/>
              </a:ext>
            </a:extLst>
          </p:cNvPr>
          <p:cNvGrpSpPr/>
          <p:nvPr/>
        </p:nvGrpSpPr>
        <p:grpSpPr>
          <a:xfrm>
            <a:off x="2965160" y="3200250"/>
            <a:ext cx="308520" cy="147240"/>
            <a:chOff x="2965160" y="3200250"/>
            <a:chExt cx="30852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6602CBF-56F6-13BF-DA2D-3D87F31941CE}"/>
                    </a:ext>
                  </a:extLst>
                </p14:cNvPr>
                <p14:cNvContentPartPr/>
                <p14:nvPr/>
              </p14:nvContentPartPr>
              <p14:xfrm>
                <a:off x="2965160" y="3249930"/>
                <a:ext cx="291240" cy="205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6602CBF-56F6-13BF-DA2D-3D87F31941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56520" y="3241290"/>
                  <a:ext cx="308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BFBD779-C0BD-36EF-4AD6-0EA10D100A85}"/>
                    </a:ext>
                  </a:extLst>
                </p14:cNvPr>
                <p14:cNvContentPartPr/>
                <p14:nvPr/>
              </p14:nvContentPartPr>
              <p14:xfrm>
                <a:off x="3175400" y="3200250"/>
                <a:ext cx="98280" cy="1472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BFBD779-C0BD-36EF-4AD6-0EA10D100A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66760" y="3191610"/>
                  <a:ext cx="115920" cy="164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E89B1B0-D4C4-2B92-0CFD-509C3F2B6EBE}"/>
              </a:ext>
            </a:extLst>
          </p:cNvPr>
          <p:cNvSpPr txBox="1"/>
          <p:nvPr/>
        </p:nvSpPr>
        <p:spPr>
          <a:xfrm>
            <a:off x="3375752" y="3092450"/>
            <a:ext cx="311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에너지의 총합</a:t>
            </a:r>
            <a:r>
              <a:rPr lang="en-US" altLang="ko-KR" dirty="0"/>
              <a:t>. (</a:t>
            </a:r>
            <a:r>
              <a:rPr lang="ko-KR" altLang="en-US" dirty="0"/>
              <a:t>전체 부피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6" name="그림 25" descr="원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B95191-5938-AA11-CCF7-2B1FDA2343D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02" y="4025392"/>
            <a:ext cx="5400675" cy="24003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F0B2D1C-D8A3-F40C-F630-F657E8A6D082}"/>
              </a:ext>
            </a:extLst>
          </p:cNvPr>
          <p:cNvSpPr txBox="1"/>
          <p:nvPr/>
        </p:nvSpPr>
        <p:spPr>
          <a:xfrm>
            <a:off x="5425748" y="4139684"/>
            <a:ext cx="6242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자연적으로 에너지가 높은 상태는 불안정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그래서 들뜬 상태라고 정의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arenR" startAt="2"/>
            </a:pPr>
            <a:r>
              <a:rPr lang="ko-KR" altLang="en-US" dirty="0"/>
              <a:t>대부분은 에너지가 낮은 상태로 가려 함</a:t>
            </a:r>
            <a:r>
              <a:rPr lang="en-US" altLang="ko-KR" dirty="0"/>
              <a:t>.</a:t>
            </a:r>
          </a:p>
          <a:p>
            <a:pPr marL="342900" indent="-342900">
              <a:buAutoNum type="arabicParenR" startAt="2"/>
            </a:pPr>
            <a:endParaRPr lang="en-US" altLang="ko-KR" dirty="0"/>
          </a:p>
          <a:p>
            <a:pPr marL="342900" indent="-342900">
              <a:buAutoNum type="arabicParenR" startAt="2"/>
            </a:pPr>
            <a:r>
              <a:rPr lang="ko-KR" altLang="en-US" dirty="0">
                <a:solidFill>
                  <a:srgbClr val="FF0000"/>
                </a:solidFill>
              </a:rPr>
              <a:t>자연적으로 에너지가 낮은 상태가 압도적으로 많음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dirty="0"/>
              <a:t>     ---&gt;</a:t>
            </a:r>
            <a:r>
              <a:rPr lang="ko-KR" altLang="en-US" dirty="0"/>
              <a:t>그래서 에너지가 낮을수록 확률이 높다고 해석함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779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FA1C5B-6BBC-272C-5CF0-F46691EF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에너지 기반 모델의 장단점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047C81-0C7F-C51D-BBB9-801784D73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343818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ko-KR" altLang="en-US" sz="2000" dirty="0"/>
              <a:t>장점 </a:t>
            </a:r>
            <a:r>
              <a:rPr lang="en-US" altLang="ko-KR" sz="2000" dirty="0"/>
              <a:t>---&gt; </a:t>
            </a:r>
            <a:r>
              <a:rPr lang="ko-KR" altLang="en-US" sz="2000" dirty="0"/>
              <a:t>제한된 신경망 구조가 아닌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모든 신경망 함수 </a:t>
            </a:r>
            <a:r>
              <a:rPr lang="en-US" altLang="ko-KR" sz="2000" dirty="0">
                <a:solidFill>
                  <a:srgbClr val="FF0000"/>
                </a:solidFill>
              </a:rPr>
              <a:t>( f(</a:t>
            </a:r>
            <a:r>
              <a:rPr lang="el-GR" altLang="ko-KR" sz="2000" dirty="0">
                <a:solidFill>
                  <a:srgbClr val="FF0000"/>
                </a:solidFill>
              </a:rPr>
              <a:t>θ</a:t>
            </a:r>
            <a:r>
              <a:rPr lang="en-US" altLang="ko-KR" sz="2000" dirty="0">
                <a:solidFill>
                  <a:srgbClr val="FF0000"/>
                </a:solidFill>
              </a:rPr>
              <a:t>) )</a:t>
            </a:r>
            <a:r>
              <a:rPr lang="ko-KR" altLang="en-US" sz="2000" dirty="0">
                <a:solidFill>
                  <a:srgbClr val="FF0000"/>
                </a:solidFill>
              </a:rPr>
              <a:t> 사용 가능</a:t>
            </a:r>
            <a:r>
              <a:rPr lang="en-US" altLang="ko-KR" sz="2000" dirty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AutoNum type="arabicParenR"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457200" indent="-457200">
              <a:buAutoNum type="arabicParenR"/>
            </a:pPr>
            <a:r>
              <a:rPr lang="ko-KR" altLang="en-US" sz="2000" dirty="0"/>
              <a:t>단점 </a:t>
            </a:r>
            <a:r>
              <a:rPr lang="en-US" altLang="ko-KR" sz="2000" dirty="0"/>
              <a:t>---&gt; </a:t>
            </a:r>
            <a:r>
              <a:rPr lang="ko-KR" altLang="en-US" sz="2000" dirty="0"/>
              <a:t>샘플 생성이 어려움</a:t>
            </a:r>
            <a:r>
              <a:rPr lang="en-US" altLang="ko-KR" sz="2000" dirty="0"/>
              <a:t>, </a:t>
            </a:r>
            <a:r>
              <a:rPr lang="ko-KR" altLang="en-US" sz="2000" dirty="0"/>
              <a:t>우도 계산</a:t>
            </a:r>
            <a:r>
              <a:rPr lang="en-US" altLang="ko-KR" sz="2000" dirty="0"/>
              <a:t>(</a:t>
            </a:r>
            <a:r>
              <a:rPr lang="ko-KR" altLang="en-US" sz="2000" dirty="0"/>
              <a:t>학습</a:t>
            </a:r>
            <a:r>
              <a:rPr lang="en-US" altLang="ko-KR" sz="2000" dirty="0"/>
              <a:t>)</a:t>
            </a:r>
            <a:r>
              <a:rPr lang="ko-KR" altLang="en-US" sz="2000" dirty="0"/>
              <a:t>이 </a:t>
            </a:r>
            <a:r>
              <a:rPr lang="ko-KR" altLang="en-US" sz="2000" dirty="0" err="1"/>
              <a:t>힘듬</a:t>
            </a:r>
            <a:r>
              <a:rPr lang="en-US" altLang="ko-KR" sz="2000" dirty="0"/>
              <a:t>,</a:t>
            </a:r>
          </a:p>
          <a:p>
            <a:pPr marL="0" indent="0">
              <a:buNone/>
            </a:pPr>
            <a:r>
              <a:rPr lang="en-US" altLang="ko-KR" sz="2000" dirty="0"/>
              <a:t>                   </a:t>
            </a:r>
            <a:r>
              <a:rPr lang="ko-KR" altLang="en-US" sz="2000" dirty="0"/>
              <a:t>특히 차원이 높아질수록 </a:t>
            </a:r>
            <a:r>
              <a:rPr lang="en-US" altLang="ko-KR" sz="2000" dirty="0"/>
              <a:t>Z(</a:t>
            </a:r>
            <a:r>
              <a:rPr lang="el-GR" altLang="ko-KR" sz="2000" dirty="0"/>
              <a:t>θ</a:t>
            </a:r>
            <a:r>
              <a:rPr lang="en-US" altLang="ko-KR" sz="2000" dirty="0"/>
              <a:t>) </a:t>
            </a:r>
            <a:r>
              <a:rPr lang="ko-KR" altLang="en-US" sz="2000" dirty="0"/>
              <a:t>계산이 불가능 </a:t>
            </a:r>
            <a:r>
              <a:rPr lang="en-US" altLang="ko-KR" sz="2000" dirty="0"/>
              <a:t>(</a:t>
            </a:r>
            <a:r>
              <a:rPr lang="ko-KR" altLang="en-US" sz="2000" dirty="0"/>
              <a:t>차원의 저주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8" name="그림 7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750504-81FD-45FD-7CBE-27A5D98D2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3317874"/>
            <a:ext cx="8039100" cy="237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28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D9C55-E4D5-4B63-EB34-11E33FE06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10515600" cy="1325563"/>
          </a:xfrm>
        </p:spPr>
        <p:txBody>
          <a:bodyPr/>
          <a:lstStyle/>
          <a:p>
            <a:r>
              <a:rPr lang="ko-KR" altLang="en-US" dirty="0"/>
              <a:t>에너지 기반 모델의 응용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60C0B2-BF4C-8800-A168-03B937C4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253331"/>
            <a:ext cx="11601450" cy="4351338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altLang="ko-KR" sz="2000" dirty="0"/>
              <a:t>Z(</a:t>
            </a:r>
            <a:r>
              <a:rPr lang="el-GR" altLang="ko-KR" sz="2000" dirty="0"/>
              <a:t>θ</a:t>
            </a:r>
            <a:r>
              <a:rPr lang="en-US" altLang="ko-KR" sz="2000" dirty="0"/>
              <a:t>) </a:t>
            </a:r>
            <a:r>
              <a:rPr lang="ko-KR" altLang="en-US" sz="2000" dirty="0"/>
              <a:t>를 몰라도 두 가지의 데이터  </a:t>
            </a:r>
            <a:r>
              <a:rPr lang="en-US" altLang="ko-KR" sz="2000" dirty="0"/>
              <a:t>X, X’</a:t>
            </a:r>
            <a:r>
              <a:rPr lang="ko-KR" altLang="en-US" sz="2000" dirty="0"/>
              <a:t>중 무엇이 더 진짜 같은지는 비교 가능</a:t>
            </a:r>
            <a:r>
              <a:rPr lang="en-US" altLang="ko-KR" sz="2000" dirty="0"/>
              <a:t>. 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분모가 사라짐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       ------&gt;</a:t>
            </a:r>
            <a:r>
              <a:rPr lang="ko-KR" altLang="en-US" sz="2000" dirty="0">
                <a:solidFill>
                  <a:srgbClr val="FF0000"/>
                </a:solidFill>
              </a:rPr>
              <a:t>이상치 탐지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노이즈 제거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객체 인식 등에 활용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                             </a:t>
            </a:r>
            <a:r>
              <a:rPr lang="en-US" altLang="ko-KR" sz="2000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7030A0"/>
                </a:solidFill>
              </a:rPr>
              <a:t>                             =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7030A0"/>
                </a:solidFill>
              </a:rPr>
              <a:t>                             &lt;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2) Ising </a:t>
            </a:r>
            <a:r>
              <a:rPr lang="ko-KR" altLang="en-US" sz="2000" dirty="0"/>
              <a:t>모델 </a:t>
            </a:r>
            <a:r>
              <a:rPr lang="en-US" altLang="ko-KR" sz="2000" dirty="0"/>
              <a:t>---&gt; </a:t>
            </a:r>
            <a:r>
              <a:rPr lang="ko-KR" altLang="en-US" sz="2000" dirty="0"/>
              <a:t>이미지 복원 시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픽셀 간의 관계를 에너지 함수로 정의해 </a:t>
            </a:r>
            <a:r>
              <a:rPr lang="ko-KR" altLang="en-US" sz="2000" dirty="0"/>
              <a:t>진짜 이미지를 추론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5" name="그림 4" descr="폰트, 화이트, 상징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7ED501-C684-6BA4-21B1-0EC0CF1C9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15" y="2020887"/>
            <a:ext cx="1809750" cy="1325563"/>
          </a:xfrm>
          <a:prstGeom prst="rect">
            <a:avLst/>
          </a:prstGeom>
        </p:spPr>
      </p:pic>
      <p:pic>
        <p:nvPicPr>
          <p:cNvPr id="7" name="그림 6" descr="폰트, 화이트, 상징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01ADD6-040E-382A-2E51-FCC8568FF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299" y="2049461"/>
            <a:ext cx="1809750" cy="126841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E60DCD2D-FFCE-E3D1-6697-74B022DD38D9}"/>
                  </a:ext>
                </a:extLst>
              </p14:cNvPr>
              <p14:cNvContentPartPr/>
              <p14:nvPr/>
            </p14:nvContentPartPr>
            <p14:xfrm>
              <a:off x="5022560" y="2520570"/>
              <a:ext cx="32400" cy="5148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E60DCD2D-FFCE-E3D1-6697-74B022DD38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3920" y="2511570"/>
                <a:ext cx="5004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259E3434-FA59-20B5-89CB-D907ED3A455F}"/>
                  </a:ext>
                </a:extLst>
              </p14:cNvPr>
              <p14:cNvContentPartPr/>
              <p14:nvPr/>
            </p14:nvContentPartPr>
            <p14:xfrm>
              <a:off x="1161920" y="2806410"/>
              <a:ext cx="532440" cy="40680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259E3434-FA59-20B5-89CB-D907ED3A45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53280" y="2797770"/>
                <a:ext cx="55008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2EBD8CEE-E5C6-0F0C-8DFE-525B60804452}"/>
                  </a:ext>
                </a:extLst>
              </p14:cNvPr>
              <p14:cNvContentPartPr/>
              <p14:nvPr/>
            </p14:nvContentPartPr>
            <p14:xfrm>
              <a:off x="3555560" y="2792370"/>
              <a:ext cx="537840" cy="41472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2EBD8CEE-E5C6-0F0C-8DFE-525B608044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46920" y="2783370"/>
                <a:ext cx="555480" cy="43236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그림 24" descr="텍스트, 과일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1EE8CA-E5DE-FD8C-2F66-4E88ECC05B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0" y="4229099"/>
            <a:ext cx="7543800" cy="239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0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8DD8B-E4B7-95FF-6590-5B18BA7C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515600" cy="1325563"/>
          </a:xfrm>
        </p:spPr>
        <p:txBody>
          <a:bodyPr/>
          <a:lstStyle/>
          <a:p>
            <a:r>
              <a:rPr lang="en-US" altLang="ko-KR" dirty="0"/>
              <a:t>Boltzmann machine (Restricted / Deep)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15F3A6-D415-B74A-FFCC-8D127BA66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113630"/>
            <a:ext cx="5829300" cy="53252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1) RBM (</a:t>
            </a:r>
            <a:r>
              <a:rPr lang="en-US" altLang="ko-KR" sz="2000" dirty="0" err="1"/>
              <a:t>Restircted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잠재 변수가 포함된 가장 단순한 에너지 기반 모델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1200" dirty="0"/>
              <a:t>--&gt;</a:t>
            </a:r>
            <a:r>
              <a:rPr lang="ko-KR" altLang="en-US" sz="1200" dirty="0"/>
              <a:t>구조적 특징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1) </a:t>
            </a:r>
            <a:r>
              <a:rPr lang="ko-KR" altLang="en-US" sz="1200" dirty="0"/>
              <a:t>보이는 층 </a:t>
            </a:r>
            <a:r>
              <a:rPr lang="en-US" altLang="ko-KR" sz="1200" dirty="0"/>
              <a:t>(x) : </a:t>
            </a:r>
            <a:r>
              <a:rPr lang="ko-KR" altLang="en-US" sz="1200" dirty="0"/>
              <a:t>우리가 직접 관찰하는 데이터 </a:t>
            </a:r>
            <a:r>
              <a:rPr lang="en-US" altLang="ko-KR" sz="1200" dirty="0"/>
              <a:t>(ex :</a:t>
            </a:r>
            <a:r>
              <a:rPr lang="ko-KR" altLang="en-US" sz="1200" dirty="0"/>
              <a:t>이미지의 </a:t>
            </a:r>
            <a:r>
              <a:rPr lang="ko-KR" altLang="en-US" sz="1200" dirty="0" err="1"/>
              <a:t>픽셀값</a:t>
            </a:r>
            <a:r>
              <a:rPr lang="en-US" altLang="ko-KR" sz="1200" dirty="0"/>
              <a:t>)</a:t>
            </a:r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2) </a:t>
            </a:r>
            <a:r>
              <a:rPr lang="ko-KR" altLang="en-US" sz="1200" dirty="0"/>
              <a:t>숨겨진 층 </a:t>
            </a:r>
            <a:r>
              <a:rPr lang="en-US" altLang="ko-KR" sz="1200" dirty="0"/>
              <a:t>(z)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데이터 이면에 숨겨진 특징 </a:t>
            </a:r>
            <a:r>
              <a:rPr lang="en-US" altLang="ko-KR" sz="1200" dirty="0"/>
              <a:t>(ex : </a:t>
            </a:r>
            <a:r>
              <a:rPr lang="ko-KR" altLang="en-US" sz="1200" dirty="0"/>
              <a:t>선</a:t>
            </a:r>
            <a:r>
              <a:rPr lang="en-US" altLang="ko-KR" sz="1200" dirty="0"/>
              <a:t>, </a:t>
            </a:r>
            <a:r>
              <a:rPr lang="ko-KR" altLang="en-US" sz="1200" dirty="0"/>
              <a:t>모양</a:t>
            </a:r>
            <a:r>
              <a:rPr lang="en-US" altLang="ko-KR" sz="1200" dirty="0"/>
              <a:t>, </a:t>
            </a:r>
            <a:r>
              <a:rPr lang="ko-KR" altLang="en-US" sz="1200" dirty="0"/>
              <a:t>질감</a:t>
            </a:r>
            <a:r>
              <a:rPr lang="en-US" altLang="ko-KR" sz="1200" dirty="0"/>
              <a:t>)</a:t>
            </a:r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/>
              <a:t> </a:t>
            </a:r>
            <a:r>
              <a:rPr lang="en-US" altLang="ko-KR" sz="1200" dirty="0"/>
              <a:t>3)</a:t>
            </a:r>
            <a:r>
              <a:rPr lang="ko-KR" altLang="en-US" sz="1200" dirty="0"/>
              <a:t> 같은 </a:t>
            </a:r>
            <a:r>
              <a:rPr lang="ko-KR" altLang="en-US" sz="1200" dirty="0" err="1"/>
              <a:t>층끼리는</a:t>
            </a:r>
            <a:r>
              <a:rPr lang="ko-KR" altLang="en-US" sz="1200" dirty="0"/>
              <a:t> 서로 연결되지 않고</a:t>
            </a:r>
            <a:r>
              <a:rPr lang="en-US" altLang="ko-KR" sz="1200" dirty="0"/>
              <a:t>,</a:t>
            </a:r>
          </a:p>
          <a:p>
            <a:pPr marL="0" indent="0">
              <a:buNone/>
            </a:pPr>
            <a:r>
              <a:rPr lang="en-US" altLang="ko-KR" sz="1200" dirty="0"/>
              <a:t>    </a:t>
            </a:r>
            <a:r>
              <a:rPr lang="ko-KR" altLang="en-US" sz="1200" dirty="0">
                <a:solidFill>
                  <a:srgbClr val="FF0000"/>
                </a:solidFill>
              </a:rPr>
              <a:t>오직 서로 다른 층의 </a:t>
            </a:r>
            <a:r>
              <a:rPr lang="ko-KR" altLang="en-US" sz="1200" dirty="0" err="1">
                <a:solidFill>
                  <a:srgbClr val="FF0000"/>
                </a:solidFill>
              </a:rPr>
              <a:t>변수들끼리만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연결되어있음</a:t>
            </a:r>
            <a:r>
              <a:rPr lang="en-US" altLang="ko-KR" sz="1200" dirty="0">
                <a:solidFill>
                  <a:srgbClr val="FF0000"/>
                </a:solidFill>
              </a:rPr>
              <a:t>. (</a:t>
            </a:r>
            <a:r>
              <a:rPr lang="en-US" altLang="ko-KR" sz="1200" dirty="0" err="1">
                <a:solidFill>
                  <a:srgbClr val="FF0000"/>
                </a:solidFill>
              </a:rPr>
              <a:t>Restircted</a:t>
            </a:r>
            <a:r>
              <a:rPr lang="ko-KR" altLang="en-US" sz="1200" dirty="0">
                <a:solidFill>
                  <a:srgbClr val="FF0000"/>
                </a:solidFill>
              </a:rPr>
              <a:t>가 </a:t>
            </a:r>
            <a:r>
              <a:rPr lang="ko-KR" altLang="en-US" sz="1200" dirty="0" err="1">
                <a:solidFill>
                  <a:srgbClr val="FF0000"/>
                </a:solidFill>
              </a:rPr>
              <a:t>된이유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1200" dirty="0"/>
              <a:t> 4) </a:t>
            </a:r>
            <a:r>
              <a:rPr lang="ko-KR" altLang="en-US" sz="1200" dirty="0"/>
              <a:t>이러한 구조 덕분에 한 층의 값이 주어지면 다른 층의 값을 쉽게 계산</a:t>
            </a:r>
            <a:r>
              <a:rPr lang="en-US" altLang="ko-KR" sz="1200" dirty="0"/>
              <a:t>.</a:t>
            </a:r>
          </a:p>
        </p:txBody>
      </p:sp>
      <p:pic>
        <p:nvPicPr>
          <p:cNvPr id="9" name="그림 8" descr="텍스트, 폰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427EA3-E2FC-BA47-EE24-0A1E1F03D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80" y="4890009"/>
            <a:ext cx="4389177" cy="1708722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7B7D0B5D-B6D4-05BE-E3A3-8AAF79302FA9}"/>
              </a:ext>
            </a:extLst>
          </p:cNvPr>
          <p:cNvGrpSpPr/>
          <p:nvPr/>
        </p:nvGrpSpPr>
        <p:grpSpPr>
          <a:xfrm>
            <a:off x="2068587" y="5970831"/>
            <a:ext cx="524520" cy="276480"/>
            <a:chOff x="2068587" y="5970831"/>
            <a:chExt cx="5245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5C501F8-146E-4CD8-1688-EEB407AA3ECB}"/>
                    </a:ext>
                  </a:extLst>
                </p14:cNvPr>
                <p14:cNvContentPartPr/>
                <p14:nvPr/>
              </p14:nvContentPartPr>
              <p14:xfrm>
                <a:off x="2383227" y="5970831"/>
                <a:ext cx="209880" cy="2764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5C501F8-146E-4CD8-1688-EEB407AA3EC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74587" y="5961831"/>
                  <a:ext cx="2275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B881BE5-B473-34A9-9C85-E2BC96D19699}"/>
                    </a:ext>
                  </a:extLst>
                </p14:cNvPr>
                <p14:cNvContentPartPr/>
                <p14:nvPr/>
              </p14:nvContentPartPr>
              <p14:xfrm>
                <a:off x="2075067" y="6038871"/>
                <a:ext cx="293040" cy="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B881BE5-B473-34A9-9C85-E2BC96D196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66067" y="6029871"/>
                  <a:ext cx="310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E9F24CF-F9B3-3C3D-9DE7-1055D01E9C4C}"/>
                    </a:ext>
                  </a:extLst>
                </p14:cNvPr>
                <p14:cNvContentPartPr/>
                <p14:nvPr/>
              </p14:nvContentPartPr>
              <p14:xfrm>
                <a:off x="2068587" y="5977311"/>
                <a:ext cx="67320" cy="1324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E9F24CF-F9B3-3C3D-9DE7-1055D01E9C4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59947" y="5968671"/>
                  <a:ext cx="84960" cy="150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1625FC8-911E-639E-4BD8-A546FFBA8E52}"/>
              </a:ext>
            </a:extLst>
          </p:cNvPr>
          <p:cNvSpPr txBox="1"/>
          <p:nvPr/>
        </p:nvSpPr>
        <p:spPr>
          <a:xfrm>
            <a:off x="1275484" y="5854205"/>
            <a:ext cx="104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연결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1858367C-22ED-28CE-E5A5-5A5787A786D4}"/>
              </a:ext>
            </a:extLst>
          </p:cNvPr>
          <p:cNvSpPr txBox="1">
            <a:spLocks/>
          </p:cNvSpPr>
          <p:nvPr/>
        </p:nvSpPr>
        <p:spPr>
          <a:xfrm>
            <a:off x="5763619" y="1113630"/>
            <a:ext cx="6211833" cy="5325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dirty="0"/>
              <a:t>2) DBM (Deep)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RBM</a:t>
            </a:r>
            <a:r>
              <a:rPr lang="ko-KR" altLang="en-US" sz="1200" dirty="0">
                <a:solidFill>
                  <a:srgbClr val="FF0000"/>
                </a:solidFill>
              </a:rPr>
              <a:t>을 여러 층으로 쌓아 올려 만든 더 깊고 강력한 모델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--&gt;</a:t>
            </a:r>
            <a:r>
              <a:rPr lang="ko-KR" altLang="en-US" sz="1200" dirty="0"/>
              <a:t>구조적 특징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1) </a:t>
            </a:r>
            <a:r>
              <a:rPr lang="ko-KR" altLang="en-US" sz="1200" dirty="0"/>
              <a:t>맨 아래층 </a:t>
            </a:r>
            <a:r>
              <a:rPr lang="en-US" altLang="ko-KR" sz="1200" dirty="0"/>
              <a:t>(v) : </a:t>
            </a:r>
            <a:r>
              <a:rPr lang="ko-KR" altLang="en-US" sz="1200" dirty="0"/>
              <a:t>원본 픽셀 값</a:t>
            </a:r>
            <a:endParaRPr lang="en-US" altLang="ko-KR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2) </a:t>
            </a:r>
            <a:r>
              <a:rPr lang="ko-KR" altLang="en-US" sz="1200" dirty="0"/>
              <a:t>위로 갈수록 </a:t>
            </a:r>
            <a:r>
              <a:rPr lang="en-US" altLang="ko-KR" sz="1200" dirty="0"/>
              <a:t>(h)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아래층에서 학습한 특징들을 조합해 더 추상적인 개념 학습</a:t>
            </a:r>
            <a:r>
              <a:rPr lang="en-US" altLang="ko-KR" sz="120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/>
              <a:t>    1</a:t>
            </a:r>
            <a:r>
              <a:rPr lang="ko-KR" altLang="en-US" sz="1200" dirty="0"/>
              <a:t>층 </a:t>
            </a:r>
            <a:r>
              <a:rPr lang="en-US" altLang="ko-KR" sz="1200" dirty="0"/>
              <a:t>: </a:t>
            </a:r>
            <a:r>
              <a:rPr lang="ko-KR" altLang="en-US" sz="1200" dirty="0"/>
              <a:t>점과 선 인식 </a:t>
            </a:r>
            <a:r>
              <a:rPr lang="en-US" altLang="ko-KR" sz="1200" dirty="0"/>
              <a:t>--&gt;2</a:t>
            </a:r>
            <a:r>
              <a:rPr lang="ko-KR" altLang="en-US" sz="1200" dirty="0"/>
              <a:t>층 </a:t>
            </a:r>
            <a:r>
              <a:rPr lang="en-US" altLang="ko-KR" sz="1200" dirty="0"/>
              <a:t>: </a:t>
            </a:r>
            <a:r>
              <a:rPr lang="ko-KR" altLang="en-US" sz="1200" dirty="0"/>
              <a:t>코나 눈의 모양인식 </a:t>
            </a:r>
            <a:r>
              <a:rPr lang="en-US" altLang="ko-KR" sz="1200" dirty="0">
                <a:sym typeface="Wingdings" panose="05000000000000000000" pitchFamily="2" charset="2"/>
              </a:rPr>
              <a:t>--&gt;3</a:t>
            </a:r>
            <a:r>
              <a:rPr lang="ko-KR" altLang="en-US" sz="1200" dirty="0">
                <a:sym typeface="Wingdings" panose="05000000000000000000" pitchFamily="2" charset="2"/>
              </a:rPr>
              <a:t>층</a:t>
            </a:r>
            <a:r>
              <a:rPr lang="en-US" altLang="ko-KR" sz="1200" dirty="0">
                <a:sym typeface="Wingdings" panose="05000000000000000000" pitchFamily="2" charset="2"/>
              </a:rPr>
              <a:t>: </a:t>
            </a:r>
            <a:r>
              <a:rPr lang="ko-KR" altLang="en-US" sz="1200" dirty="0">
                <a:sym typeface="Wingdings" panose="05000000000000000000" pitchFamily="2" charset="2"/>
              </a:rPr>
              <a:t>전체적인 얼굴 형태 인식</a:t>
            </a:r>
            <a:endParaRPr lang="en-US" altLang="ko-KR" sz="1200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200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200" dirty="0">
                <a:sym typeface="Wingdings" panose="05000000000000000000" pitchFamily="2" charset="2"/>
              </a:rPr>
              <a:t> 3) </a:t>
            </a:r>
            <a:r>
              <a:rPr lang="ko-KR" altLang="en-US" sz="1200" dirty="0">
                <a:sym typeface="Wingdings" panose="05000000000000000000" pitchFamily="2" charset="2"/>
              </a:rPr>
              <a:t>초기 딥러닝 학습에서 매우 중요한 역할을 함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endParaRPr lang="en-US" altLang="ko-KR" sz="1200" dirty="0"/>
          </a:p>
        </p:txBody>
      </p:sp>
      <p:pic>
        <p:nvPicPr>
          <p:cNvPr id="20" name="그림 19" descr="텍스트, 스크린샷, 도표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E5597E-856C-0048-A2A4-21776C330F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380" y="3884594"/>
            <a:ext cx="4908550" cy="282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1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33FC6-9D76-7C5A-EF2C-F4B02D40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9375"/>
            <a:ext cx="10515600" cy="1325563"/>
          </a:xfrm>
        </p:spPr>
        <p:txBody>
          <a:bodyPr/>
          <a:lstStyle/>
          <a:p>
            <a:r>
              <a:rPr lang="ko-KR" altLang="en-US" dirty="0"/>
              <a:t>에너지 기반 모델의 학습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7AD6A-3A23-32B6-A495-89A528AFA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850" y="1336674"/>
            <a:ext cx="11588750" cy="499427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arenR"/>
            </a:pPr>
            <a:r>
              <a:rPr lang="ko-KR" altLang="en-US" sz="2000" dirty="0"/>
              <a:t>분모 </a:t>
            </a:r>
            <a:r>
              <a:rPr lang="en-US" altLang="ko-KR" sz="2000" dirty="0">
                <a:solidFill>
                  <a:srgbClr val="FF0000"/>
                </a:solidFill>
              </a:rPr>
              <a:t>Z(</a:t>
            </a:r>
            <a:r>
              <a:rPr lang="el-GR" altLang="ko-KR" sz="2000" dirty="0">
                <a:solidFill>
                  <a:srgbClr val="FF0000"/>
                </a:solidFill>
              </a:rPr>
              <a:t>θ</a:t>
            </a:r>
            <a:r>
              <a:rPr lang="en-US" altLang="ko-KR" sz="2000" dirty="0">
                <a:solidFill>
                  <a:srgbClr val="FF0000"/>
                </a:solidFill>
              </a:rPr>
              <a:t>) </a:t>
            </a:r>
            <a:r>
              <a:rPr lang="ko-KR" altLang="en-US" sz="2000" dirty="0">
                <a:solidFill>
                  <a:srgbClr val="FF0000"/>
                </a:solidFill>
              </a:rPr>
              <a:t>를 계산하는 것이 가장 큰 문제점</a:t>
            </a:r>
            <a:r>
              <a:rPr lang="en-US" altLang="ko-KR" sz="2000" dirty="0">
                <a:solidFill>
                  <a:srgbClr val="FF0000"/>
                </a:solidFill>
              </a:rPr>
              <a:t>. </a:t>
            </a:r>
            <a:r>
              <a:rPr lang="en-US" altLang="ko-KR" sz="2000" dirty="0"/>
              <a:t>(</a:t>
            </a:r>
            <a:r>
              <a:rPr lang="ko-KR" altLang="en-US" sz="2000" dirty="0"/>
              <a:t>모든 가능한 경우의 수를 다 더해야 해서</a:t>
            </a:r>
            <a:r>
              <a:rPr lang="en-US" altLang="ko-KR" sz="2000" dirty="0"/>
              <a:t>.)</a:t>
            </a:r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r>
              <a:rPr lang="ko-KR" altLang="en-US" sz="2000" dirty="0"/>
              <a:t>학습을 어떻게</a:t>
            </a:r>
            <a:r>
              <a:rPr lang="en-US" altLang="ko-KR" sz="2000" dirty="0"/>
              <a:t>? ---&gt; </a:t>
            </a:r>
            <a:r>
              <a:rPr lang="ko-KR" altLang="en-US" sz="2000" dirty="0">
                <a:solidFill>
                  <a:srgbClr val="FF0000"/>
                </a:solidFill>
              </a:rPr>
              <a:t>진짜 데이터의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점수는 위</a:t>
            </a:r>
            <a:r>
              <a:rPr lang="ko-KR" altLang="en-US" sz="2000" dirty="0"/>
              <a:t>로</a:t>
            </a:r>
            <a:r>
              <a:rPr lang="en-US" altLang="ko-KR" sz="2000" dirty="0"/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가짜데이터의 점수는 아래</a:t>
            </a:r>
            <a:r>
              <a:rPr lang="ko-KR" altLang="en-US" sz="2000" dirty="0"/>
              <a:t>로 밀자</a:t>
            </a:r>
            <a:r>
              <a:rPr lang="en-US" altLang="ko-KR" sz="2000" dirty="0"/>
              <a:t>.</a:t>
            </a:r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endParaRPr lang="en-US" altLang="ko-KR" sz="2000" dirty="0"/>
          </a:p>
          <a:p>
            <a:pPr marL="457200" indent="-457200">
              <a:buAutoNum type="arabicParenR"/>
            </a:pPr>
            <a:r>
              <a:rPr lang="ko-KR" altLang="en-US" sz="2000" dirty="0"/>
              <a:t>대비적 발산</a:t>
            </a:r>
            <a:r>
              <a:rPr lang="en-US" altLang="ko-KR" sz="2000" dirty="0"/>
              <a:t>(Contrastive Divergence) </a:t>
            </a:r>
          </a:p>
          <a:p>
            <a:pPr marL="0" indent="0">
              <a:buNone/>
            </a:pPr>
            <a:r>
              <a:rPr lang="ko-KR" altLang="en-US" sz="2000" dirty="0"/>
              <a:t>    </a:t>
            </a:r>
            <a:r>
              <a:rPr lang="en-US" altLang="ko-KR" sz="2000" dirty="0"/>
              <a:t>----&gt; </a:t>
            </a:r>
            <a:r>
              <a:rPr lang="ko-KR" altLang="en-US" sz="2000" dirty="0"/>
              <a:t>진짜 데이터와 모델이 생성한 샘플을 </a:t>
            </a:r>
            <a:r>
              <a:rPr lang="ko-KR" altLang="en-US" sz="2000" dirty="0">
                <a:solidFill>
                  <a:srgbClr val="FF0000"/>
                </a:solidFill>
              </a:rPr>
              <a:t>직접 대조하여 </a:t>
            </a:r>
            <a:r>
              <a:rPr lang="ko-KR" altLang="en-US" sz="2000" dirty="0"/>
              <a:t>학습하는 알고리즘 </a:t>
            </a:r>
          </a:p>
        </p:txBody>
      </p:sp>
      <p:pic>
        <p:nvPicPr>
          <p:cNvPr id="5" name="그림 4" descr="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72124C-486B-C1E5-2094-613722CF4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97" y="2662237"/>
            <a:ext cx="68865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81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FC8268-4B92-AD17-E6DF-6DEFED735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8255"/>
            <a:ext cx="10515600" cy="1325563"/>
          </a:xfrm>
        </p:spPr>
        <p:txBody>
          <a:bodyPr/>
          <a:lstStyle/>
          <a:p>
            <a:r>
              <a:rPr lang="ko-KR" altLang="en-US" dirty="0"/>
              <a:t>에너지 기반 모델의 샘플링</a:t>
            </a:r>
            <a:r>
              <a:rPr lang="en-US" altLang="ko-KR" dirty="0"/>
              <a:t>? (MCMC)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67BF57-517F-E4B3-6FBD-F8DD094A5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160" y="1549295"/>
            <a:ext cx="11627840" cy="5376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Markov Chain Monte Carlo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1)</a:t>
            </a:r>
            <a:r>
              <a:rPr lang="ko-KR" altLang="en-US" sz="2000" dirty="0"/>
              <a:t>임의의 샘플 </a:t>
            </a:r>
            <a:r>
              <a:rPr lang="en-US" altLang="ko-KR" sz="2000" dirty="0"/>
              <a:t>X</a:t>
            </a:r>
            <a:r>
              <a:rPr lang="ko-KR" altLang="en-US" sz="2000" dirty="0"/>
              <a:t>에서 시작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2)</a:t>
            </a:r>
            <a:r>
              <a:rPr lang="ko-KR" altLang="en-US" sz="2000" dirty="0"/>
              <a:t>노이즈를 추가해 새로운 </a:t>
            </a:r>
            <a:r>
              <a:rPr lang="en-US" altLang="ko-KR" sz="2000" dirty="0"/>
              <a:t>X’ </a:t>
            </a:r>
            <a:r>
              <a:rPr lang="ko-KR" altLang="en-US" sz="2000" dirty="0"/>
              <a:t>생성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3)</a:t>
            </a:r>
            <a:r>
              <a:rPr lang="ko-KR" altLang="en-US" sz="2000" dirty="0"/>
              <a:t>현재 샘플 </a:t>
            </a:r>
            <a:r>
              <a:rPr lang="en-US" altLang="ko-KR" sz="2000" dirty="0" err="1"/>
              <a:t>X</a:t>
            </a:r>
            <a:r>
              <a:rPr lang="en-US" altLang="ko-KR" sz="1400" dirty="0" err="1"/>
              <a:t>t</a:t>
            </a:r>
            <a:r>
              <a:rPr lang="en-US" altLang="ko-KR" sz="2000" dirty="0"/>
              <a:t> </a:t>
            </a:r>
            <a:r>
              <a:rPr lang="ko-KR" altLang="en-US" sz="2000" dirty="0"/>
              <a:t>와 제안된 샘플 </a:t>
            </a:r>
            <a:r>
              <a:rPr lang="en-US" altLang="ko-KR" sz="2000" dirty="0"/>
              <a:t>X’</a:t>
            </a:r>
            <a:r>
              <a:rPr lang="ko-KR" altLang="en-US" sz="2000" dirty="0"/>
              <a:t>의 확률</a:t>
            </a:r>
            <a:r>
              <a:rPr lang="en-US" altLang="ko-KR" sz="2000" dirty="0"/>
              <a:t>(</a:t>
            </a:r>
            <a:r>
              <a:rPr lang="ko-KR" altLang="en-US" sz="2000" dirty="0"/>
              <a:t>에너지</a:t>
            </a:r>
            <a:r>
              <a:rPr lang="en-US" altLang="ko-KR" sz="2000" dirty="0"/>
              <a:t>)</a:t>
            </a:r>
            <a:r>
              <a:rPr lang="ko-KR" altLang="en-US" sz="2000" dirty="0"/>
              <a:t>를 비교함</a:t>
            </a:r>
            <a:r>
              <a:rPr lang="en-US" altLang="ko-KR" sz="2000" dirty="0"/>
              <a:t>. </a:t>
            </a:r>
            <a:r>
              <a:rPr lang="en-US" altLang="ko-KR" sz="2000" dirty="0">
                <a:solidFill>
                  <a:srgbClr val="FF0000"/>
                </a:solidFill>
              </a:rPr>
              <a:t>Z</a:t>
            </a:r>
            <a:r>
              <a:rPr lang="ko-KR" altLang="en-US" sz="2000" dirty="0">
                <a:solidFill>
                  <a:srgbClr val="FF0000"/>
                </a:solidFill>
              </a:rPr>
              <a:t>는 몰라도 비율은 계산 가능</a:t>
            </a:r>
            <a:r>
              <a:rPr lang="en-US" altLang="ko-KR" sz="2000" dirty="0">
                <a:solidFill>
                  <a:srgbClr val="FF0000"/>
                </a:solidFill>
              </a:rPr>
              <a:t>!!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4)</a:t>
            </a:r>
            <a:r>
              <a:rPr lang="ko-KR" altLang="en-US" sz="2000" dirty="0"/>
              <a:t>이동 규칙</a:t>
            </a:r>
            <a:r>
              <a:rPr lang="en-US" altLang="ko-KR" sz="2000" dirty="0"/>
              <a:t> : </a:t>
            </a:r>
            <a:r>
              <a:rPr lang="ko-KR" altLang="en-US" sz="2000" dirty="0"/>
              <a:t>확률이 높아지면</a:t>
            </a:r>
            <a:r>
              <a:rPr lang="en-US" altLang="ko-KR" sz="2000" dirty="0"/>
              <a:t>(</a:t>
            </a:r>
            <a:r>
              <a:rPr lang="ko-KR" altLang="en-US" sz="2000" dirty="0"/>
              <a:t>에너지가 낮아지면</a:t>
            </a:r>
            <a:r>
              <a:rPr lang="en-US" altLang="ko-KR" sz="2000" dirty="0"/>
              <a:t>) </a:t>
            </a:r>
            <a:r>
              <a:rPr lang="ko-KR" altLang="en-US" sz="2000" dirty="0"/>
              <a:t>무조건 이동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              </a:t>
            </a:r>
            <a:r>
              <a:rPr lang="ko-KR" altLang="en-US" sz="2000" dirty="0">
                <a:solidFill>
                  <a:srgbClr val="FF0000"/>
                </a:solidFill>
              </a:rPr>
              <a:t>확률이 낮아지더라도</a:t>
            </a:r>
            <a:r>
              <a:rPr lang="en-US" altLang="ko-KR" sz="2000" dirty="0">
                <a:solidFill>
                  <a:srgbClr val="FF0000"/>
                </a:solidFill>
              </a:rPr>
              <a:t>, </a:t>
            </a:r>
            <a:r>
              <a:rPr lang="ko-KR" altLang="en-US" sz="2000" dirty="0">
                <a:solidFill>
                  <a:srgbClr val="FF0000"/>
                </a:solidFill>
              </a:rPr>
              <a:t>확률적으로 이동허용 </a:t>
            </a:r>
            <a:r>
              <a:rPr lang="en-US" altLang="ko-KR" sz="2000" dirty="0">
                <a:solidFill>
                  <a:srgbClr val="FF0000"/>
                </a:solidFill>
              </a:rPr>
              <a:t>---&gt;</a:t>
            </a:r>
            <a:r>
              <a:rPr lang="ko-KR" altLang="en-US" sz="2000" dirty="0">
                <a:solidFill>
                  <a:srgbClr val="FF0000"/>
                </a:solidFill>
              </a:rPr>
              <a:t>지역 최적해에 갇히지 않게 하려고</a:t>
            </a:r>
            <a:r>
              <a:rPr lang="en-US" altLang="ko-KR" sz="20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5" name="그림 4" descr="스케치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63CA3C-5B33-E9B2-DD0E-7FBCED33B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529" y="1833847"/>
            <a:ext cx="3857625" cy="1781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4B8FEE0B-CBC6-86E4-DFA4-5D1C6731183E}"/>
                  </a:ext>
                </a:extLst>
              </p14:cNvPr>
              <p14:cNvContentPartPr/>
              <p14:nvPr/>
            </p14:nvContentPartPr>
            <p14:xfrm>
              <a:off x="7778720" y="3378060"/>
              <a:ext cx="863280" cy="684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4B8FEE0B-CBC6-86E4-DFA4-5D1C673118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69720" y="3369060"/>
                <a:ext cx="880920" cy="2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9437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648</Words>
  <Application>Microsoft Office PowerPoint</Application>
  <PresentationFormat>와이드스크린</PresentationFormat>
  <Paragraphs>105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Deep Generative Models Lecture 11</vt:lpstr>
      <vt:lpstr>기존 생성 모델의 단점?</vt:lpstr>
      <vt:lpstr>기존 생성 모델에서 단점을 해결?</vt:lpstr>
      <vt:lpstr>에너지 기반 모델 (문제 해결)</vt:lpstr>
      <vt:lpstr>에너지 기반 모델의 장단점</vt:lpstr>
      <vt:lpstr>에너지 기반 모델의 응용</vt:lpstr>
      <vt:lpstr>Boltzmann machine (Restricted / Deep)</vt:lpstr>
      <vt:lpstr>에너지 기반 모델의 학습?</vt:lpstr>
      <vt:lpstr>에너지 기반 모델의 샘플링? (MCMC)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11</cp:revision>
  <dcterms:created xsi:type="dcterms:W3CDTF">2026-02-21T17:43:41Z</dcterms:created>
  <dcterms:modified xsi:type="dcterms:W3CDTF">2026-03-01T13:03:33Z</dcterms:modified>
</cp:coreProperties>
</file>