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27:03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470 668 24575,'-80'2'0,"-87"-4"0,159 0 0,1 1 0,0-1 0,0 0 0,0-1 0,0 1 0,0-2 0,1 1 0,-1-1 0,1 0 0,0 0 0,0 0 0,0-1 0,0 0 0,1 0 0,0-1 0,0 1 0,1-1 0,-1 0 0,-3-8 0,-5-8 0,1 0 0,2-1 0,0-1 0,-8-30 0,2-31 0,7 22 0,6 50 0,0-1 0,1 0 0,1 1 0,0-1 0,1 0 0,1 0 0,3-22 0,-3 30 0,1 1 0,-1-1 0,1 0 0,1 1 0,-1-1 0,1 1 0,0 0 0,0 0 0,0 0 0,1 0 0,0 1 0,0-1 0,0 1 0,0 0 0,1 0 0,0 0 0,-1 1 0,1 0 0,10-5 0,7-3 0,1 1 0,-1 2 0,1 0 0,1 1 0,25-3 0,-38 8 0,0 1 0,0 1 0,0 0 0,0 0 0,0 1 0,0 0 0,-1 1 0,1 1 0,0-1 0,-1 2 0,0-1 0,1 1 0,15 10 0,-16-6 0,0-1 0,-1 2 0,0-1 0,0 2 0,11 15 0,-2-3 0,0 3 0,-1 0 0,-1 2 0,-1 0 0,17 43 0,-24-52 0,-5-10-72,1 1 1,-2-1-1,1 1 0,-2 0 0,1 0 0,-1 0 0,0 0 0,-1 0 1,0 1-1,0-1 0,-1 0 0,0 0 0,-1 0 0,0 0 0,-1-1 1,1 1-1,-2 0 0,-5 12 0,0-9-6754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27:08.1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353 643 24575,'-22'-1'0,"-1"-1"0,1-1 0,0-1 0,0-1 0,0-1 0,1-1 0,0-1 0,0-1 0,1 0 0,0-2 0,0 0 0,2-1 0,-29-24 0,43 32 0,1-1 0,0 0 0,0 0 0,0 0 0,1 0 0,-1 0 0,1 0 0,0 0 0,1-1 0,-1 1 0,1-1 0,0 0 0,1 1 0,-1-1 0,1 0 0,1-10 0,0 1 0,0 1 0,1 0 0,1-1 0,0 1 0,8-20 0,38-63 0,-34 70 0,-2 0 0,15-39 0,-26 61 0,0 1 0,-1 0 0,2-1 0,-1 1 0,0 0 0,1 0 0,0 0 0,0 0 0,0 1 0,0-1 0,1 1 0,-1 0 0,1 0 0,0 0 0,0 0 0,0 1 0,8-4 0,1 1 0,1 0 0,0 1 0,0 1 0,25-3 0,-26 4 0,-1 1 0,1 0 0,0 0 0,-1 2 0,18 1 0,-25-1 0,-1 0 0,0 0 0,-1 1 0,1-1 0,0 1 0,0 0 0,-1 0 0,1 0 0,-1 0 0,1 1 0,-1-1 0,0 1 0,0 0 0,0 0 0,0 0 0,-1 0 0,1 1 0,-1-1 0,0 0 0,2 5 0,7 17 0,-1 1 0,-1-1 0,-2 1 0,0 1 0,-2 0 0,-1-1 0,-1 2 0,-1-1 0,-1 0 0,-6 49 0,4-64 0,0 1 0,-1-1 0,-1 1 0,0-1 0,0 0 0,-2 0 0,1-1 0,-1 1 0,-1-1 0,0 0 0,-1 0 0,0-1 0,0 0 0,-1 0 0,0 0 0,-1-1 0,0-1 0,-1 1 0,0-2 0,0 1 0,0-1 0,-1-1 0,0 0 0,0 0 0,-1-1 0,0-1 0,0 0 0,0 0 0,-21 2 0,-23 10-1365,39-11-5461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27:16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24575,'52'-19'0,"1"13"0,0 2 0,101 6 0,-45 0 0,483-2 0,-574 1 0,1 1 0,32 8 0,33 2 0,68-14 0,65 4 0,-204 0 0,0 1 0,-1 0 0,0 1 0,22 9 0,-22-8 0,-1-1 0,0 0 0,1-1 0,0 0 0,19 3 0,153-7 0,27 2 0,-138 10 0,-50-6 0,-1-1 0,32 0 0,1180-5 0,-1215 0 0,0-1 0,31-7 0,34-4 0,60 15 0,58-4 0,-120-10 0,-52 7 0,55-3 0,1394 9-1365,-1458-1-5461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1:40.6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24534,'0'1229'0,"3804"-1229"0,-3804-1229 0,-3804 1229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1:46.3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24575,'5'0'0,"5"0"0,5 0 0,4 0 0,4 0 0,1 0 0,1 0 0,1 0 0,0 0 0,-1 0 0,1 0 0,-1 0 0,-5 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1:47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24575,'5'0'0,"4"0"0,6 0 0,5 0 0,2 0 0,2 0 0,-3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1:48.36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24575,'4'0'0,"6"0"0,5 0 0,5 0 0,2 0 0,2 0 0,2 0 0,-1 0 0,1 0 0,0 0 0,-1 0 0,-4 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1:55.25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153 84 24575,'-3'-1'0,"0"1"0,0 0 0,-1 0 0,1 1 0,0-1 0,0 1 0,0-1 0,0 1 0,1 0 0,-1 0 0,0 0 0,0 1 0,0-1 0,1 1 0,-1-1 0,1 1 0,-1 0 0,1 0 0,-4 4 0,2 1 0,0 0 0,0 0 0,0 1 0,1-1 0,0 1 0,-2 10 0,-5 15 0,2 0 0,1 0 0,1 1 0,2 0 0,1 59 0,2-70 0,-2 1 0,-6 31 0,4-30 0,1 0 0,-2 39 0,6-57 0,0-1 0,1 1 0,0 0 0,0-1 0,0 1 0,1-1 0,0 0 0,0 1 0,0-1 0,1 0 0,0 0 0,0 0 0,1-1 0,5 7 0,-6-8 0,1-1 0,0 0 0,-1 0 0,1 0 0,1 0 0,-1-1 0,0 0 0,1 1 0,-1-2 0,1 1 0,-1 0 0,1-1 0,0 0 0,0 0 0,0-1 0,-1 1 0,1-1 0,0 0 0,0 0 0,8-2 0,-7 1 0,0 1 0,0-2 0,-1 1 0,1-1 0,0 0 0,-1 0 0,0 0 0,1-1 0,-1 0 0,0 0 0,0 0 0,-1-1 0,1 1 0,-1-1 0,0 0 0,7-8 0,4-9 0,-1-1 0,-1 0 0,-1-1 0,-1 0 0,-2-1 0,13-42 0,-13 26 0,-3-1 0,-1 1 0,0-60 0,-4 74 0,2 0 0,6-34 0,-5 40 0,0-1 0,-2 0 0,0 0 0,-2-30 0,0 49-4,-1-1 0,1 1 0,-1 0 0,1-1 0,-1 1 0,0 0 0,0 0 0,0 0 0,0 0 0,0 0 0,-1 0 0,1 0 0,-1 0 0,1 0 0,-1 0 0,1 1 0,-1-1 0,0 1 0,-3-3 0,0 2 26,1-1 0,-1 1 1,0 0-1,0 1 0,1-1 0,-1 1 1,0 0-1,-11-1 0,8 2-157,-1-1 0,1 2 0,-1-1 0,0 1 0,1 0 0,-1 1 0,1 0 0,0 0 0,-1 1 0,-14 7 0,7 1-6691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5:12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24575,'795'0'0,"-619"18"0,-138-18 0,0 2 0,49 9 0,-39-6 0,0-1 0,88-6 0,-37-1 0,1277 3 0,-1236 18 0,-31-20 0,83 4 0,-136 6 0,-36-4 0,0-1 0,24 0 0,-4-3 0,-1 3 0,46 7 0,-48-6 0,0-1 0,58-4 0,-60 0 0,0 1 0,0 1 0,40 8 0,-48-6 0,0 0 0,49-2 0,-51-2 0,1 2 0,-1 0 0,40 8 0,-43-5 0,0-1 0,26 1 0,30 3 0,-24 0 0,0-3 0,103-5 0,-52-2 0,689 3 0,-618-19 0,-131 18 0,69-10 0,-80 7-106,58 3-1,-60 2-1045,-17-1-5674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5:20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24575,'142'19'0,"-83"-16"0,61 11 0,-64-6 0,80 2 0,764-11 0,-760-17 0,20 21 0,121-6 0,-192-14-1365,-75 17-5461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7T22:35:24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24575,'742'0'0,"-584"18"0,654-18 0,-671 18 0,1235-19 0,-1218-17 0,142 19-1365,-284-1-5461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10538-BC87-D843-D50E-F3437E9C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27F9DD-0C87-0C47-EFF0-08D0DA427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891C9A-D8E8-D8AC-1C3A-9F6FE683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7A2AE6-B787-EEE8-61DD-EB2E3EA2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F23FC-ABE1-EE4B-1243-3AD90B91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2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104B2-7A6A-CF02-A287-B2F12C0CE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AA49EF-0ED4-8D5E-6AB5-ED08A4E19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A58A61-D287-DA6B-F4FD-EF1B4221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6D02F-57AA-F4FB-FEAA-AAFD074D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2C763B-68EF-A94F-6900-32F13E61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6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693BD-3838-2352-F325-D93CA653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F4485B-B65D-8D2C-6F28-3688E78D0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4CA660-15E9-474B-3DEE-9286468C2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1DC441-0F65-2678-6A19-D5B9F1E2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01865-41F3-D023-1364-47EB5D71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66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10081-D52E-C7FD-65F8-49B534CC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AF8168-C8C1-BC24-A3FF-51655731E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4021337-3194-1262-75D7-780B5413D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139152-F9B0-061F-7DBA-C3F06B3E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F72ADD-FA4A-B97C-24EF-8871A1E8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A465AB-49AC-342A-4BE7-1F30FE5D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70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2F6B3-E4B8-3746-A456-7832FE812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6623C8-2594-8653-3302-C3203650F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171BCB-0568-71EA-1A2A-C0CAB6B61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60153-7FDC-B698-CE70-FB7443720E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035505C-3A88-25BD-6C85-17E4C7810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F57685-BE1E-250A-3778-B5BDBEA0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2FB848-C663-9AC8-9DF8-2083825A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4D396A1-52E2-AA63-1391-E0C1DA9E3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5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961AD-5110-3E96-3F24-9FD165CF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872228-C858-D60C-9CC7-B83A0A93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D36CAC-065C-DC37-D3BF-49904EF34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C969AE-66DF-8882-F207-EC0AEC10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30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DACDC9-6AF8-32D4-CBD3-0C3EC4EBA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1D4B89-3695-CCFA-0433-83C1BD73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E80BF7-0149-77A1-8FB3-156CA8DB5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64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6FDA0-CF13-B3B7-8A78-42572707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C3D79E-52EA-A023-B24D-9EFCEFE0A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B97DA9-65E5-480E-63AE-83BFDEF1A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981C2-86CD-BE87-737D-3808CECF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C5B074-0084-E29D-91FE-873A50466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0EC5DB-33D5-DB62-0CB4-12E0D20F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46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4D5C8-A75E-6A6D-830D-7B1454B2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DF4A5E-9B58-649D-0E97-D990BB2CD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9DF74D-AE36-FD99-63CE-CB469EB6A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843064-B4AF-4282-D37B-162C820F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E896F7-9009-77CA-B848-2AF2241F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B8D8E4-304B-FEB4-0A7A-3C8903DA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040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8B46CE-2AEF-BE13-6E01-0B6F03742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17554D-FE8E-F01D-A37E-C594F6C91C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FA8C1-B69D-B875-AB45-FEC7F429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64D0F2-46B8-8EDE-20C1-F943D5B8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B15A7B-4D59-83A6-DEEB-B808AFE4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92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68B5270-4A86-B21A-0719-8DEC1E166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74034D-12D0-1A3E-658E-F2ECA0F24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568438-53FE-124A-418A-DAD00A60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5B05A-EDE6-D24E-D853-57720E91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44B8F0-3D07-837E-7657-ABEB7CA0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0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60FA4B-EAA2-BCA3-530F-D37ADDE72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F12984-7EF8-CD9B-9164-4F6C5E286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3CFB81-9484-8186-6B2E-CBAAEDAC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7AC66-658D-4A40-8142-57E4DE8B651C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222BE-7A84-672E-B6CE-5D0A00A8A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1E99E0-19B5-D34C-B7A3-1FA49264D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65C481-CF3B-477A-AD7C-ACC092297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761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14.png"/><Relationship Id="rId3" Type="http://schemas.openxmlformats.org/officeDocument/2006/relationships/image" Target="../media/image6.jpe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customXml" Target="../ink/ink7.xml"/><Relationship Id="rId2" Type="http://schemas.openxmlformats.org/officeDocument/2006/relationships/image" Target="../media/image5.jpe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4.xml"/><Relationship Id="rId5" Type="http://schemas.openxmlformats.org/officeDocument/2006/relationships/image" Target="../media/image7.png"/><Relationship Id="rId15" Type="http://schemas.openxmlformats.org/officeDocument/2006/relationships/customXml" Target="../ink/ink6.xml"/><Relationship Id="rId10" Type="http://schemas.openxmlformats.org/officeDocument/2006/relationships/image" Target="../media/image10.png"/><Relationship Id="rId19" Type="http://schemas.openxmlformats.org/officeDocument/2006/relationships/customXml" Target="../ink/ink8.xml"/><Relationship Id="rId4" Type="http://schemas.openxmlformats.org/officeDocument/2006/relationships/customXml" Target="../ink/ink1.xml"/><Relationship Id="rId9" Type="http://schemas.openxmlformats.org/officeDocument/2006/relationships/image" Target="../media/image9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2.jpeg"/><Relationship Id="rId7" Type="http://schemas.openxmlformats.org/officeDocument/2006/relationships/image" Target="../media/image19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18.png"/><Relationship Id="rId4" Type="http://schemas.openxmlformats.org/officeDocument/2006/relationships/customXml" Target="../ink/ink9.xml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95C04-74A1-6CBD-17B4-EF582A608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Deep Generative Models</a:t>
            </a:r>
            <a:br>
              <a:rPr lang="en-US" altLang="ko-KR" dirty="0"/>
            </a:br>
            <a:r>
              <a:rPr lang="en-US" altLang="ko-KR" dirty="0"/>
              <a:t>Lecture 8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4FD4C3-CDF1-92DA-EDA6-F847153546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21011290 </a:t>
            </a:r>
            <a:r>
              <a:rPr lang="ko-KR" altLang="en-US" dirty="0"/>
              <a:t>전승윤</a:t>
            </a:r>
          </a:p>
        </p:txBody>
      </p:sp>
    </p:spTree>
    <p:extLst>
      <p:ext uri="{BB962C8B-B14F-4D97-AF65-F5344CB8AC3E}">
        <p14:creationId xmlns:p14="http://schemas.microsoft.com/office/powerpoint/2010/main" val="269115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9B8B6-FB63-C9A0-A5BE-3B61AA7B1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VAE vs Normalizing Flow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28278C-218F-1D90-537B-A9FCEC5B2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487014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VAE </a:t>
            </a:r>
          </a:p>
          <a:p>
            <a:pPr marL="514350" indent="-514350">
              <a:buAutoNum type="arabicParenR"/>
            </a:pPr>
            <a:r>
              <a:rPr lang="ko-KR" altLang="en-US" sz="1800" dirty="0"/>
              <a:t>대표적인 생성모델</a:t>
            </a:r>
            <a:endParaRPr lang="en-US" altLang="ko-KR" sz="1800" dirty="0"/>
          </a:p>
          <a:p>
            <a:pPr marL="514350" indent="-514350">
              <a:buAutoNum type="arabicParenR"/>
            </a:pPr>
            <a:endParaRPr lang="en-US" altLang="ko-KR" sz="1800" dirty="0"/>
          </a:p>
          <a:p>
            <a:pPr marL="514350" indent="-514350">
              <a:buAutoNum type="arabicParenR"/>
            </a:pPr>
            <a:r>
              <a:rPr lang="ko-KR" altLang="en-US" sz="1800" dirty="0"/>
              <a:t>우도</a:t>
            </a:r>
            <a:r>
              <a:rPr lang="en-US" altLang="ko-KR" sz="1800" dirty="0"/>
              <a:t>(likelihood)</a:t>
            </a:r>
            <a:r>
              <a:rPr lang="ko-KR" altLang="en-US" sz="1800" dirty="0"/>
              <a:t>를</a:t>
            </a:r>
            <a:r>
              <a:rPr lang="en-US" altLang="ko-KR" sz="1800" dirty="0"/>
              <a:t> </a:t>
            </a:r>
            <a:r>
              <a:rPr lang="ko-KR" altLang="en-US" sz="1800" dirty="0"/>
              <a:t>직접 계산하지 못함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   ---&gt; </a:t>
            </a:r>
            <a:r>
              <a:rPr lang="ko-KR" altLang="en-US" sz="1800" dirty="0" err="1"/>
              <a:t>하한값</a:t>
            </a:r>
            <a:r>
              <a:rPr lang="en-US" altLang="ko-KR" sz="1800" dirty="0"/>
              <a:t>(ELBO)</a:t>
            </a:r>
            <a:r>
              <a:rPr lang="ko-KR" altLang="en-US" sz="1800" dirty="0"/>
              <a:t>로 근사</a:t>
            </a:r>
            <a:r>
              <a:rPr lang="en-US" altLang="ko-KR" sz="1800" dirty="0"/>
              <a:t>. (</a:t>
            </a:r>
            <a:r>
              <a:rPr lang="ko-KR" altLang="en-US" sz="1800" dirty="0"/>
              <a:t>정확 </a:t>
            </a:r>
            <a:r>
              <a:rPr lang="en-US" altLang="ko-KR" sz="1800" dirty="0"/>
              <a:t>X)</a:t>
            </a:r>
          </a:p>
          <a:p>
            <a:pPr marL="0" indent="0">
              <a:buNone/>
            </a:pPr>
            <a:r>
              <a:rPr lang="en-US" altLang="ko-KR" sz="1800" dirty="0"/>
              <a:t>   </a:t>
            </a:r>
            <a:r>
              <a:rPr lang="en-US" altLang="ko-KR" sz="1800" dirty="0">
                <a:solidFill>
                  <a:srgbClr val="FF0000"/>
                </a:solidFill>
              </a:rPr>
              <a:t>---&gt;</a:t>
            </a:r>
            <a:r>
              <a:rPr lang="ko-KR" altLang="en-US" sz="1800" dirty="0">
                <a:solidFill>
                  <a:srgbClr val="FF0000"/>
                </a:solidFill>
              </a:rPr>
              <a:t> 문제</a:t>
            </a:r>
            <a:endParaRPr lang="en-US" altLang="ko-KR" sz="18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FCC1B-92A2-0781-7DEE-89B69579FC21}"/>
              </a:ext>
            </a:extLst>
          </p:cNvPr>
          <p:cNvSpPr txBox="1"/>
          <p:nvPr/>
        </p:nvSpPr>
        <p:spPr>
          <a:xfrm>
            <a:off x="5708342" y="1162844"/>
            <a:ext cx="624100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Normalizing Flow</a:t>
            </a:r>
          </a:p>
          <a:p>
            <a:endParaRPr lang="en-US" altLang="ko-KR" dirty="0"/>
          </a:p>
          <a:p>
            <a:pPr marL="342900" indent="-342900">
              <a:buAutoNum type="arabicParenR"/>
            </a:pPr>
            <a:r>
              <a:rPr lang="en-US" altLang="ko-KR" dirty="0"/>
              <a:t>VAE</a:t>
            </a:r>
            <a:r>
              <a:rPr lang="ko-KR" altLang="en-US" dirty="0"/>
              <a:t>의 문제점을 해결</a:t>
            </a:r>
            <a:endParaRPr lang="en-US" altLang="ko-KR" dirty="0"/>
          </a:p>
          <a:p>
            <a:pPr marL="342900" indent="-342900">
              <a:buAutoNum type="arabicParenR"/>
            </a:pPr>
            <a:endParaRPr lang="en-US" altLang="ko-KR" dirty="0"/>
          </a:p>
          <a:p>
            <a:pPr marL="342900" indent="-342900">
              <a:buAutoNum type="arabicParenR"/>
            </a:pPr>
            <a:r>
              <a:rPr lang="ko-KR" altLang="en-US" dirty="0"/>
              <a:t>보고 있는 데이터가 우리 모델에서 나올 확률이 얼마인지 정확히 알 수 있다</a:t>
            </a:r>
            <a:r>
              <a:rPr lang="en-US" altLang="ko-KR" dirty="0"/>
              <a:t>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    HOW?</a:t>
            </a:r>
          </a:p>
          <a:p>
            <a:endParaRPr lang="en-US" altLang="ko-KR" dirty="0"/>
          </a:p>
          <a:p>
            <a:r>
              <a:rPr lang="ko-KR" altLang="en-US" dirty="0"/>
              <a:t>데이터 </a:t>
            </a:r>
            <a:r>
              <a:rPr lang="en-US" altLang="ko-KR" dirty="0"/>
              <a:t>x</a:t>
            </a:r>
            <a:r>
              <a:rPr lang="ko-KR" altLang="en-US" dirty="0"/>
              <a:t>의 확률 </a:t>
            </a:r>
            <a:r>
              <a:rPr lang="en-US" altLang="ko-KR" dirty="0" err="1"/>
              <a:t>P</a:t>
            </a:r>
            <a:r>
              <a:rPr lang="en-US" altLang="ko-KR" sz="1200" dirty="0" err="1"/>
              <a:t>x</a:t>
            </a:r>
            <a:r>
              <a:rPr lang="en-US" altLang="ko-KR" dirty="0"/>
              <a:t>(x)</a:t>
            </a:r>
            <a:r>
              <a:rPr lang="ko-KR" altLang="en-US" dirty="0"/>
              <a:t>를 계산하기 위해</a:t>
            </a:r>
            <a:r>
              <a:rPr lang="en-US" altLang="ko-KR" dirty="0"/>
              <a:t>, </a:t>
            </a:r>
          </a:p>
          <a:p>
            <a:r>
              <a:rPr lang="en-US" altLang="ko-KR" dirty="0"/>
              <a:t>x</a:t>
            </a:r>
            <a:r>
              <a:rPr lang="ko-KR" altLang="en-US" dirty="0"/>
              <a:t>를 </a:t>
            </a:r>
            <a:r>
              <a:rPr lang="en-US" altLang="ko-KR" dirty="0"/>
              <a:t>z</a:t>
            </a:r>
            <a:r>
              <a:rPr lang="ko-KR" altLang="en-US" dirty="0"/>
              <a:t>로 역변환한 후 사전 분포</a:t>
            </a:r>
            <a:r>
              <a:rPr lang="en-US" altLang="ko-KR" dirty="0"/>
              <a:t> P</a:t>
            </a:r>
            <a:r>
              <a:rPr lang="ko-KR" altLang="en-US" dirty="0"/>
              <a:t>​</a:t>
            </a:r>
            <a:r>
              <a:rPr lang="en-US" altLang="ko-KR" sz="1100" dirty="0"/>
              <a:t>z</a:t>
            </a:r>
            <a:r>
              <a:rPr lang="en-US" altLang="ko-KR" dirty="0"/>
              <a:t>(z)</a:t>
            </a:r>
            <a:r>
              <a:rPr lang="ko-KR" altLang="en-US" dirty="0"/>
              <a:t>에서의 확률을 평가하고</a:t>
            </a:r>
            <a:r>
              <a:rPr lang="en-US" altLang="ko-KR" dirty="0"/>
              <a:t>, </a:t>
            </a:r>
            <a:r>
              <a:rPr lang="ko-KR" altLang="en-US" dirty="0" err="1"/>
              <a:t>야코비안의</a:t>
            </a:r>
            <a:r>
              <a:rPr lang="ko-KR" altLang="en-US" dirty="0"/>
              <a:t> 행렬식을 통해 보정 </a:t>
            </a:r>
            <a:r>
              <a:rPr lang="en-US" altLang="ko-KR" dirty="0">
                <a:solidFill>
                  <a:srgbClr val="FF0000"/>
                </a:solidFill>
              </a:rPr>
              <a:t>( X &lt;-----&gt; Z)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행렬식을 구하기 편하게 삼각행렬로</a:t>
            </a:r>
            <a:r>
              <a:rPr lang="en-US" altLang="ko-KR" dirty="0">
                <a:solidFill>
                  <a:srgbClr val="FF0000"/>
                </a:solidFill>
              </a:rPr>
              <a:t>…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77D2F7-ACE9-9649-FCFE-B7E8687EE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316" y="4430897"/>
            <a:ext cx="3848637" cy="428685"/>
          </a:xfrm>
          <a:prstGeom prst="rect">
            <a:avLst/>
          </a:prstGeom>
        </p:spPr>
      </p:pic>
      <p:pic>
        <p:nvPicPr>
          <p:cNvPr id="11" name="그림 10" descr="텍스트, 폰트, 친필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5D61A9-0E69-2F7D-0D32-6C6991619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843" y="5287050"/>
            <a:ext cx="6096000" cy="15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4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8AD2B-E0FC-77D1-937B-E0EA07E9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56" y="143184"/>
            <a:ext cx="10515600" cy="1325563"/>
          </a:xfrm>
        </p:spPr>
        <p:txBody>
          <a:bodyPr/>
          <a:lstStyle/>
          <a:p>
            <a:r>
              <a:rPr lang="en-US" altLang="ko-KR" dirty="0"/>
              <a:t>Normalizing Flow</a:t>
            </a:r>
            <a:r>
              <a:rPr lang="ko-KR" altLang="en-US" dirty="0"/>
              <a:t>의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031856-38AB-BA31-009D-786D435A0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6908"/>
            <a:ext cx="6657622" cy="23243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200" dirty="0"/>
              <a:t>복잡한 분포를 모델링하기 위해 </a:t>
            </a:r>
            <a:r>
              <a:rPr lang="ko-KR" altLang="en-US" sz="2200" dirty="0" err="1"/>
              <a:t>딥러닝의</a:t>
            </a:r>
            <a:r>
              <a:rPr lang="ko-KR" altLang="en-US" sz="2200" dirty="0"/>
              <a:t> 계층적 접근 방식을 사용</a:t>
            </a:r>
            <a:r>
              <a:rPr lang="en-US" altLang="ko-KR" sz="2200" dirty="0"/>
              <a:t>. </a:t>
            </a:r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ko-KR" altLang="en-US" sz="2200" dirty="0"/>
              <a:t>즉</a:t>
            </a:r>
            <a:r>
              <a:rPr lang="en-US" altLang="ko-KR" sz="2200" dirty="0"/>
              <a:t>, </a:t>
            </a:r>
            <a:r>
              <a:rPr lang="ko-KR" altLang="en-US" sz="2200" dirty="0"/>
              <a:t>단순한 가역 함수들을 여러 번 합성하여 복잡한 변환 함수 </a:t>
            </a:r>
            <a:r>
              <a:rPr lang="en-US" altLang="ko-KR" sz="2600" dirty="0" err="1"/>
              <a:t>f</a:t>
            </a:r>
            <a:r>
              <a:rPr lang="en-US" altLang="ko-KR" sz="1700" dirty="0" err="1"/>
              <a:t>θ</a:t>
            </a:r>
            <a:r>
              <a:rPr lang="ko-KR" altLang="en-US" sz="2600" dirty="0"/>
              <a:t>​</a:t>
            </a:r>
            <a:r>
              <a:rPr lang="ko-KR" altLang="en-US" sz="2200" dirty="0"/>
              <a:t>를 구성</a:t>
            </a:r>
            <a:r>
              <a:rPr lang="en-US" altLang="ko-KR" sz="2200" dirty="0"/>
              <a:t>.</a:t>
            </a:r>
          </a:p>
          <a:p>
            <a:pPr marL="0" indent="0">
              <a:buNone/>
            </a:pPr>
            <a:r>
              <a:rPr lang="en-US" altLang="ko-KR" sz="2200" dirty="0"/>
              <a:t>----</a:t>
            </a:r>
            <a:r>
              <a:rPr lang="en-US" altLang="ko-KR" sz="2200" dirty="0">
                <a:sym typeface="Wingdings" panose="05000000000000000000" pitchFamily="2" charset="2"/>
              </a:rPr>
              <a:t>  </a:t>
            </a:r>
            <a:r>
              <a:rPr lang="pl-PL" altLang="ko-KR" sz="2200" dirty="0"/>
              <a:t>f</a:t>
            </a:r>
            <a:r>
              <a:rPr lang="pl-PL" altLang="ko-KR" sz="1600" dirty="0"/>
              <a:t>M</a:t>
            </a:r>
            <a:r>
              <a:rPr lang="pl-PL" altLang="ko-KR" sz="2200" dirty="0"/>
              <a:t>​(f</a:t>
            </a:r>
            <a:r>
              <a:rPr lang="pl-PL" altLang="ko-KR" sz="1600" dirty="0"/>
              <a:t>M</a:t>
            </a:r>
            <a:r>
              <a:rPr lang="pl-PL" altLang="ko-KR" sz="2200" dirty="0"/>
              <a:t>−1​(...f</a:t>
            </a:r>
            <a:r>
              <a:rPr lang="pl-PL" altLang="ko-KR" sz="1600" dirty="0"/>
              <a:t>1​</a:t>
            </a:r>
            <a:r>
              <a:rPr lang="pl-PL" altLang="ko-KR" sz="2200" dirty="0"/>
              <a:t>(z0​)...))</a:t>
            </a:r>
            <a:endParaRPr lang="en-US" altLang="ko-KR" sz="2200" dirty="0"/>
          </a:p>
          <a:p>
            <a:endParaRPr lang="ko-KR" altLang="en-US" dirty="0"/>
          </a:p>
        </p:txBody>
      </p:sp>
      <p:pic>
        <p:nvPicPr>
          <p:cNvPr id="5" name="그림 4" descr="스케치, 원, 디자인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2F34BF-9DE1-F757-24A2-DB1D6C1F2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070" y="820022"/>
            <a:ext cx="3086531" cy="2657846"/>
          </a:xfrm>
          <a:prstGeom prst="rect">
            <a:avLst/>
          </a:prstGeom>
        </p:spPr>
      </p:pic>
      <p:pic>
        <p:nvPicPr>
          <p:cNvPr id="7" name="그림 6" descr="텍스트, 아니메, 만화 영화, 인간의 얼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7065B5-AB85-B12B-E6DA-1241C7D2BD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82" y="3656217"/>
            <a:ext cx="8362983" cy="29378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A15D25-DE42-6EE8-DD34-489052F633C8}"/>
              </a:ext>
            </a:extLst>
          </p:cNvPr>
          <p:cNvSpPr txBox="1"/>
          <p:nvPr/>
        </p:nvSpPr>
        <p:spPr>
          <a:xfrm>
            <a:off x="7065318" y="3656217"/>
            <a:ext cx="2592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Z = </a:t>
            </a:r>
            <a:r>
              <a:rPr lang="ko-KR" altLang="en-US" dirty="0"/>
              <a:t>파란색머리</a:t>
            </a:r>
            <a:r>
              <a:rPr lang="en-US" altLang="ko-KR" dirty="0"/>
              <a:t>, </a:t>
            </a:r>
            <a:r>
              <a:rPr lang="ko-KR" altLang="en-US" dirty="0"/>
              <a:t>단발머리</a:t>
            </a:r>
            <a:r>
              <a:rPr lang="en-US" altLang="ko-KR" dirty="0"/>
              <a:t>, </a:t>
            </a:r>
            <a:r>
              <a:rPr lang="ko-KR" altLang="en-US" dirty="0"/>
              <a:t>빨간색 눈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X= </a:t>
            </a:r>
            <a:r>
              <a:rPr lang="ko-KR" altLang="en-US" dirty="0"/>
              <a:t>캐릭터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B12A5-D284-D1B0-C543-3D54A94081DD}"/>
              </a:ext>
            </a:extLst>
          </p:cNvPr>
          <p:cNvSpPr txBox="1"/>
          <p:nvPr/>
        </p:nvSpPr>
        <p:spPr>
          <a:xfrm>
            <a:off x="8894117" y="4798243"/>
            <a:ext cx="3086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VAE  </a:t>
            </a:r>
          </a:p>
          <a:p>
            <a:r>
              <a:rPr lang="en-US" altLang="ko-KR" dirty="0"/>
              <a:t>-&gt; P(X I </a:t>
            </a:r>
            <a:r>
              <a:rPr lang="ko-KR" altLang="en-US" dirty="0"/>
              <a:t>단발머리</a:t>
            </a:r>
            <a:r>
              <a:rPr lang="en-US" altLang="ko-KR" dirty="0"/>
              <a:t>) &gt;=0.7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4B1AD2-B30D-4561-3E8D-56801D9EDC41}"/>
              </a:ext>
            </a:extLst>
          </p:cNvPr>
          <p:cNvSpPr txBox="1"/>
          <p:nvPr/>
        </p:nvSpPr>
        <p:spPr>
          <a:xfrm>
            <a:off x="8894117" y="5552388"/>
            <a:ext cx="3015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Normalizing Flow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-&gt; P(X I </a:t>
            </a:r>
            <a:r>
              <a:rPr lang="ko-KR" altLang="en-US" dirty="0">
                <a:solidFill>
                  <a:srgbClr val="FF0000"/>
                </a:solidFill>
              </a:rPr>
              <a:t>단발머리</a:t>
            </a:r>
            <a:r>
              <a:rPr lang="en-US" altLang="ko-KR" dirty="0">
                <a:solidFill>
                  <a:srgbClr val="FF0000"/>
                </a:solidFill>
              </a:rPr>
              <a:t>) =0.9578</a:t>
            </a:r>
            <a:endParaRPr lang="ko-KR" altLang="en-US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063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3CDB6-F9E1-305A-CC05-3D392DDF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18"/>
            <a:ext cx="10515600" cy="1325563"/>
          </a:xfrm>
        </p:spPr>
        <p:txBody>
          <a:bodyPr/>
          <a:lstStyle/>
          <a:p>
            <a:r>
              <a:rPr lang="en-US" altLang="ko-KR" dirty="0"/>
              <a:t>Normalizing Flow</a:t>
            </a:r>
            <a:r>
              <a:rPr lang="ko-KR" altLang="en-US" dirty="0"/>
              <a:t>를 이용한 모델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6CCCE-61D3-1ED9-D6A5-0E2576C1C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480"/>
            <a:ext cx="10515600" cy="4816643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"</a:t>
            </a:r>
            <a:r>
              <a:rPr lang="ko-KR" altLang="en-US" sz="1800" dirty="0">
                <a:solidFill>
                  <a:srgbClr val="FF0000"/>
                </a:solidFill>
              </a:rPr>
              <a:t>어떻게 하면 아주 복잡한 계산을 하면서도</a:t>
            </a:r>
            <a:r>
              <a:rPr lang="en-US" altLang="ko-KR" sz="1800" dirty="0">
                <a:solidFill>
                  <a:srgbClr val="FF0000"/>
                </a:solidFill>
              </a:rPr>
              <a:t>, 100% </a:t>
            </a:r>
            <a:r>
              <a:rPr lang="ko-KR" altLang="en-US" sz="1800" dirty="0">
                <a:solidFill>
                  <a:srgbClr val="FF0000"/>
                </a:solidFill>
              </a:rPr>
              <a:t>완벽하게 되돌릴 수</a:t>
            </a:r>
            <a:r>
              <a:rPr lang="en-US" altLang="ko-KR" sz="1800" dirty="0">
                <a:solidFill>
                  <a:srgbClr val="FF0000"/>
                </a:solidFill>
              </a:rPr>
              <a:t> </a:t>
            </a:r>
            <a:r>
              <a:rPr lang="ko-KR" altLang="en-US" sz="1800" dirty="0">
                <a:solidFill>
                  <a:srgbClr val="FF0000"/>
                </a:solidFill>
              </a:rPr>
              <a:t>있을까</a:t>
            </a:r>
            <a:r>
              <a:rPr lang="en-US" altLang="ko-KR" sz="1800" dirty="0">
                <a:solidFill>
                  <a:srgbClr val="FF0000"/>
                </a:solidFill>
              </a:rPr>
              <a:t>?“</a:t>
            </a:r>
          </a:p>
          <a:p>
            <a:pPr marL="0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   </a:t>
            </a:r>
            <a:r>
              <a:rPr lang="en-US" altLang="ko-KR" sz="1800" dirty="0">
                <a:sym typeface="Wingdings" panose="05000000000000000000" pitchFamily="2" charset="2"/>
              </a:rPr>
              <a:t>NICE</a:t>
            </a:r>
          </a:p>
          <a:p>
            <a:pPr marL="0" indent="0">
              <a:buNone/>
            </a:pPr>
            <a:endParaRPr lang="en-US" altLang="ko-KR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          </a:t>
            </a:r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C11B29-3200-180B-4000-8854030EC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07" y="2248732"/>
            <a:ext cx="6986773" cy="2133600"/>
          </a:xfrm>
          <a:prstGeom prst="rect">
            <a:avLst/>
          </a:prstGeom>
        </p:spPr>
      </p:pic>
      <p:pic>
        <p:nvPicPr>
          <p:cNvPr id="7" name="그림 6" descr="폰트, 친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C97A70-9402-5EC5-37EE-AACE6F0D2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08" y="4709095"/>
            <a:ext cx="3400425" cy="1466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148CEBD8-32F4-B936-6EB7-227B8C3D4A01}"/>
                  </a:ext>
                </a:extLst>
              </p14:cNvPr>
              <p14:cNvContentPartPr/>
              <p14:nvPr/>
            </p14:nvContentPartPr>
            <p14:xfrm>
              <a:off x="3088964" y="2857725"/>
              <a:ext cx="223200" cy="2412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148CEBD8-32F4-B936-6EB7-227B8C3D4A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82844" y="2851605"/>
                <a:ext cx="2354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3ECB459C-338C-9D80-B890-252756B4181D}"/>
                  </a:ext>
                </a:extLst>
              </p14:cNvPr>
              <p14:cNvContentPartPr/>
              <p14:nvPr/>
            </p14:nvContentPartPr>
            <p14:xfrm>
              <a:off x="3086444" y="4100805"/>
              <a:ext cx="182160" cy="24804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3ECB459C-338C-9D80-B890-252756B418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80324" y="4094685"/>
                <a:ext cx="1944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9A4EB97C-12AB-A281-D511-BDA0509A2AC6}"/>
                  </a:ext>
                </a:extLst>
              </p14:cNvPr>
              <p14:cNvContentPartPr/>
              <p14:nvPr/>
            </p14:nvContentPartPr>
            <p14:xfrm>
              <a:off x="4296404" y="3105405"/>
              <a:ext cx="2068200" cy="3744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9A4EB97C-12AB-A281-D511-BDA0509A2AC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90284" y="3099285"/>
                <a:ext cx="2080440" cy="496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548A243-42AA-CE80-B688-5B088F47C0D0}"/>
              </a:ext>
            </a:extLst>
          </p:cNvPr>
          <p:cNvSpPr txBox="1"/>
          <p:nvPr/>
        </p:nvSpPr>
        <p:spPr>
          <a:xfrm>
            <a:off x="7998780" y="2130641"/>
            <a:ext cx="4012707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데이터를 두 부분으로 나눔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Z</a:t>
            </a:r>
            <a:r>
              <a:rPr lang="en-US" altLang="ko-KR" sz="1400" dirty="0"/>
              <a:t>1:d </a:t>
            </a:r>
            <a:r>
              <a:rPr lang="ko-KR" altLang="en-US" dirty="0"/>
              <a:t>와 </a:t>
            </a:r>
            <a:r>
              <a:rPr lang="en-US" altLang="ko-KR" dirty="0"/>
              <a:t>Z</a:t>
            </a:r>
            <a:r>
              <a:rPr lang="en-US" altLang="ko-KR" sz="1100" dirty="0"/>
              <a:t>d+1:n</a:t>
            </a:r>
          </a:p>
          <a:p>
            <a:endParaRPr lang="en-US" altLang="ko-KR" sz="1100" dirty="0"/>
          </a:p>
          <a:p>
            <a:r>
              <a:rPr lang="ko-KR" altLang="en-US" dirty="0"/>
              <a:t>첫 번째 부분은 그대로 통과</a:t>
            </a:r>
            <a:endParaRPr lang="en-US" altLang="ko-KR" dirty="0"/>
          </a:p>
          <a:p>
            <a:r>
              <a:rPr lang="ko-KR" altLang="en-US" dirty="0"/>
              <a:t>두 번째 부분에 신경망 결과값 더함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역은</a:t>
            </a:r>
            <a:r>
              <a:rPr lang="en-US" altLang="ko-KR" dirty="0">
                <a:solidFill>
                  <a:srgbClr val="FF0000"/>
                </a:solidFill>
              </a:rPr>
              <a:t>? --</a:t>
            </a:r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&gt;</a:t>
            </a:r>
            <a:r>
              <a:rPr lang="ko-KR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빼기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4B2B33-2AA3-65F9-0BDD-C2D885A3A548}"/>
              </a:ext>
            </a:extLst>
          </p:cNvPr>
          <p:cNvSpPr txBox="1"/>
          <p:nvPr/>
        </p:nvSpPr>
        <p:spPr>
          <a:xfrm>
            <a:off x="4715428" y="5122561"/>
            <a:ext cx="424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야코비안의</a:t>
            </a:r>
            <a:r>
              <a:rPr lang="ko-KR" altLang="en-US" dirty="0">
                <a:solidFill>
                  <a:srgbClr val="FF0000"/>
                </a:solidFill>
              </a:rPr>
              <a:t> 행렬식 </a:t>
            </a:r>
            <a:r>
              <a:rPr lang="en-US" altLang="ko-KR" dirty="0">
                <a:solidFill>
                  <a:srgbClr val="FF0000"/>
                </a:solidFill>
              </a:rPr>
              <a:t>= 1  (</a:t>
            </a:r>
            <a:r>
              <a:rPr lang="ko-KR" altLang="en-US" dirty="0">
                <a:solidFill>
                  <a:srgbClr val="FF0000"/>
                </a:solidFill>
              </a:rPr>
              <a:t>부피보존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C922138-3229-BC1A-7CF1-E8F8DEC927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7566" y="5749188"/>
            <a:ext cx="3853006" cy="4267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20DAF143-BAD5-0D68-90BE-980A89AB25B2}"/>
                  </a:ext>
                </a:extLst>
              </p14:cNvPr>
              <p14:cNvContentPartPr/>
              <p14:nvPr/>
            </p14:nvContentPartPr>
            <p14:xfrm>
              <a:off x="6875084" y="5747805"/>
              <a:ext cx="1369800" cy="44280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20DAF143-BAD5-0D68-90BE-980A89AB25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66084" y="5738805"/>
                <a:ext cx="1387440" cy="46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그룹 25">
            <a:extLst>
              <a:ext uri="{FF2B5EF4-FFF2-40B4-BE49-F238E27FC236}">
                <a16:creationId xmlns:a16="http://schemas.microsoft.com/office/drawing/2014/main" id="{4C2923E3-1796-DBE2-5A3D-CF11905D3DCB}"/>
              </a:ext>
            </a:extLst>
          </p:cNvPr>
          <p:cNvGrpSpPr/>
          <p:nvPr/>
        </p:nvGrpSpPr>
        <p:grpSpPr>
          <a:xfrm>
            <a:off x="8318324" y="5811525"/>
            <a:ext cx="364680" cy="281160"/>
            <a:chOff x="8318324" y="5811525"/>
            <a:chExt cx="36468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920423E-C32F-98FA-A59E-F07E12A8BAB9}"/>
                    </a:ext>
                  </a:extLst>
                </p14:cNvPr>
                <p14:cNvContentPartPr/>
                <p14:nvPr/>
              </p14:nvContentPartPr>
              <p14:xfrm>
                <a:off x="8326964" y="5921325"/>
                <a:ext cx="97200" cy="3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920423E-C32F-98FA-A59E-F07E12A8BAB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17964" y="5912325"/>
                  <a:ext cx="114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A02C1A5-C7C8-1414-87B1-0610EE2A6B07}"/>
                    </a:ext>
                  </a:extLst>
                </p14:cNvPr>
                <p14:cNvContentPartPr/>
                <p14:nvPr/>
              </p14:nvContentPartPr>
              <p14:xfrm>
                <a:off x="8371604" y="5983245"/>
                <a:ext cx="42120" cy="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A02C1A5-C7C8-1414-87B1-0610EE2A6B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62604" y="5974605"/>
                  <a:ext cx="59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BB14B21-6F80-B9C3-F999-E69436D835A9}"/>
                    </a:ext>
                  </a:extLst>
                </p14:cNvPr>
                <p14:cNvContentPartPr/>
                <p14:nvPr/>
              </p14:nvContentPartPr>
              <p14:xfrm>
                <a:off x="8318324" y="5983245"/>
                <a:ext cx="88200" cy="3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BB14B21-6F80-B9C3-F999-E69436D835A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09324" y="5974605"/>
                  <a:ext cx="105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8B35A39-FD52-FA4A-F6BA-D7AE7A3416FE}"/>
                    </a:ext>
                  </a:extLst>
                </p14:cNvPr>
                <p14:cNvContentPartPr/>
                <p14:nvPr/>
              </p14:nvContentPartPr>
              <p14:xfrm>
                <a:off x="8547644" y="5811525"/>
                <a:ext cx="135360" cy="2811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8B35A39-FD52-FA4A-F6BA-D7AE7A3416F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538644" y="5802525"/>
                  <a:ext cx="153000" cy="29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6873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8E5D3-93CF-91D1-5B4B-70C082DC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61"/>
            <a:ext cx="10515600" cy="1325563"/>
          </a:xfrm>
        </p:spPr>
        <p:txBody>
          <a:bodyPr/>
          <a:lstStyle/>
          <a:p>
            <a:r>
              <a:rPr lang="en-US" altLang="ko-KR" dirty="0"/>
              <a:t>Normalizing Flow</a:t>
            </a:r>
            <a:r>
              <a:rPr lang="ko-KR" altLang="en-US" dirty="0"/>
              <a:t>를 이용한 모델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63DCA-A342-60BB-C584-00B00FA29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2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Real-NVP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폰트, 스크린샷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E731BE-F3CD-D5FA-7FF7-0C39BD95B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39101"/>
            <a:ext cx="7018421" cy="2466975"/>
          </a:xfrm>
          <a:prstGeom prst="rect">
            <a:avLst/>
          </a:prstGeom>
        </p:spPr>
      </p:pic>
      <p:pic>
        <p:nvPicPr>
          <p:cNvPr id="7" name="그림 6" descr="텍스트, 친필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622C66-ED0A-DBA5-D33A-70A35E12E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404" y="4707689"/>
            <a:ext cx="6000750" cy="1905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21F1C6F-A4B6-0D20-B07C-970F956D7B45}"/>
                  </a:ext>
                </a:extLst>
              </p14:cNvPr>
              <p14:cNvContentPartPr/>
              <p14:nvPr/>
            </p14:nvContentPartPr>
            <p14:xfrm>
              <a:off x="3257480" y="2914410"/>
              <a:ext cx="2177640" cy="525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21F1C6F-A4B6-0D20-B07C-970F956D7B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8480" y="2905770"/>
                <a:ext cx="21952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EFA4A6D7-7669-F069-D318-998EE233BACA}"/>
                  </a:ext>
                </a:extLst>
              </p14:cNvPr>
              <p14:cNvContentPartPr/>
              <p14:nvPr/>
            </p14:nvContentPartPr>
            <p14:xfrm>
              <a:off x="3181160" y="4502010"/>
              <a:ext cx="755280" cy="198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EFA4A6D7-7669-F069-D318-998EE233BA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2160" y="4493010"/>
                <a:ext cx="7729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FC056CE7-92CA-B546-8D44-FF5D58B0E610}"/>
                  </a:ext>
                </a:extLst>
              </p14:cNvPr>
              <p14:cNvContentPartPr/>
              <p14:nvPr/>
            </p14:nvContentPartPr>
            <p14:xfrm>
              <a:off x="4521080" y="4489410"/>
              <a:ext cx="1333080" cy="129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FC056CE7-92CA-B546-8D44-FF5D58B0E61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12080" y="4480410"/>
                <a:ext cx="1350720" cy="306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0D01B35-3880-9C5E-FF43-30B95DE5A556}"/>
              </a:ext>
            </a:extLst>
          </p:cNvPr>
          <p:cNvSpPr txBox="1"/>
          <p:nvPr/>
        </p:nvSpPr>
        <p:spPr>
          <a:xfrm>
            <a:off x="7854400" y="1437009"/>
            <a:ext cx="426229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1)NICE</a:t>
            </a:r>
            <a:r>
              <a:rPr lang="ko-KR" altLang="en-US" dirty="0"/>
              <a:t>의 </a:t>
            </a:r>
            <a:r>
              <a:rPr lang="en-US" altLang="ko-KR" dirty="0"/>
              <a:t>‘</a:t>
            </a:r>
            <a:r>
              <a:rPr lang="ko-KR" altLang="en-US" dirty="0"/>
              <a:t>더하기</a:t>
            </a:r>
            <a:r>
              <a:rPr lang="en-US" altLang="ko-KR" dirty="0"/>
              <a:t>’ </a:t>
            </a:r>
            <a:r>
              <a:rPr lang="ko-KR" altLang="en-US" dirty="0"/>
              <a:t>방식에 </a:t>
            </a:r>
            <a:r>
              <a:rPr lang="en-US" altLang="ko-KR" dirty="0"/>
              <a:t>‘</a:t>
            </a:r>
            <a:r>
              <a:rPr lang="ko-KR" altLang="en-US" dirty="0"/>
              <a:t>곱하기</a:t>
            </a:r>
            <a:r>
              <a:rPr lang="en-US" altLang="ko-KR" dirty="0"/>
              <a:t>’ </a:t>
            </a:r>
            <a:r>
              <a:rPr lang="ko-KR" altLang="en-US" dirty="0"/>
              <a:t>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2)</a:t>
            </a:r>
            <a:r>
              <a:rPr lang="ko-KR" altLang="en-US" dirty="0"/>
              <a:t>역변환은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더했던 것을 빼고</a:t>
            </a:r>
            <a:r>
              <a:rPr lang="en-US" altLang="ko-KR" dirty="0"/>
              <a:t>, </a:t>
            </a:r>
            <a:r>
              <a:rPr lang="ko-KR" altLang="en-US" dirty="0"/>
              <a:t>곱했던 것의 역수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지수에 마이너스</a:t>
            </a:r>
            <a:r>
              <a:rPr lang="en-US" altLang="ko-KR" dirty="0"/>
              <a:t>)</a:t>
            </a:r>
            <a:r>
              <a:rPr lang="ko-KR" altLang="en-US" dirty="0"/>
              <a:t>를 곱하면 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3) </a:t>
            </a:r>
            <a:r>
              <a:rPr lang="ko-KR" altLang="en-US" dirty="0" err="1"/>
              <a:t>야코비안의</a:t>
            </a:r>
            <a:r>
              <a:rPr lang="ko-KR" altLang="en-US" dirty="0"/>
              <a:t> 행렬식은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로 고정 </a:t>
            </a:r>
            <a:r>
              <a:rPr lang="en-US" altLang="ko-KR" dirty="0">
                <a:solidFill>
                  <a:srgbClr val="FF0000"/>
                </a:solidFill>
              </a:rPr>
              <a:t>X (</a:t>
            </a:r>
            <a:r>
              <a:rPr lang="ko-KR" altLang="en-US" dirty="0">
                <a:solidFill>
                  <a:srgbClr val="FF0000"/>
                </a:solidFill>
              </a:rPr>
              <a:t>신경망이 뱉는 </a:t>
            </a:r>
            <a:r>
              <a:rPr lang="ko-KR" altLang="en-US" dirty="0" err="1">
                <a:solidFill>
                  <a:srgbClr val="FF0000"/>
                </a:solidFill>
              </a:rPr>
              <a:t>알파에따라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endParaRPr lang="en-US" altLang="ko-KR" dirty="0"/>
          </a:p>
          <a:p>
            <a:r>
              <a:rPr lang="ko-KR" altLang="en-US" dirty="0">
                <a:solidFill>
                  <a:srgbClr val="FF0000"/>
                </a:solidFill>
              </a:rPr>
              <a:t>확률 밀도가 낮은 곳은 공간을 넓히고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확장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밀도가 높은 곳은 공간을 좁히는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압축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chemeClr val="accent1"/>
                </a:solidFill>
                <a:sym typeface="Wingdings" panose="05000000000000000000" pitchFamily="2" charset="2"/>
              </a:rPr>
              <a:t></a:t>
            </a:r>
            <a:r>
              <a:rPr lang="ko-KR" altLang="en-US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모델은 훨씬 더 복잡하고 선명한 고화질 이미지를 학습</a:t>
            </a:r>
            <a:endParaRPr lang="en-US" altLang="ko-K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62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BC406-D2CD-F76A-AC74-B7102EDE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자기회귀</a:t>
            </a:r>
            <a:r>
              <a:rPr lang="en-US" altLang="ko-KR" dirty="0"/>
              <a:t>(Autoregressive) </a:t>
            </a:r>
            <a:r>
              <a:rPr lang="ko-KR" altLang="en-US" dirty="0"/>
              <a:t>모델을 </a:t>
            </a:r>
            <a:r>
              <a:rPr lang="en-US" altLang="ko-KR" dirty="0"/>
              <a:t>Normalizing Flow</a:t>
            </a:r>
            <a:r>
              <a:rPr lang="ko-KR" altLang="en-US" dirty="0"/>
              <a:t>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EEE032-1522-2925-BBB6-A694EBF6B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772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MAF</a:t>
            </a:r>
            <a:endParaRPr lang="ko-KR" altLang="en-US" dirty="0"/>
          </a:p>
        </p:txBody>
      </p:sp>
      <p:pic>
        <p:nvPicPr>
          <p:cNvPr id="5" name="그림 4" descr="도표, 텍스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4B370B-0652-7364-4CAC-9B060222F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212" y="2309735"/>
            <a:ext cx="4860758" cy="3780354"/>
          </a:xfrm>
          <a:prstGeom prst="rect">
            <a:avLst/>
          </a:prstGeom>
        </p:spPr>
      </p:pic>
      <p:pic>
        <p:nvPicPr>
          <p:cNvPr id="17" name="그림 16" descr="도표, 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370137-6C32-622A-8AB0-507347A1A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88" y="2444672"/>
            <a:ext cx="5529012" cy="35132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E40956-A15E-FD30-F93B-E3AE1D51ACAD}"/>
              </a:ext>
            </a:extLst>
          </p:cNvPr>
          <p:cNvSpPr txBox="1"/>
          <p:nvPr/>
        </p:nvSpPr>
        <p:spPr>
          <a:xfrm>
            <a:off x="6096000" y="1786515"/>
            <a:ext cx="2021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IAF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5311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5A02F2-0D07-5DBF-2719-968CE09C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자기회귀</a:t>
            </a:r>
            <a:r>
              <a:rPr lang="en-US" altLang="ko-KR" dirty="0"/>
              <a:t>(Autoregressive) </a:t>
            </a:r>
            <a:r>
              <a:rPr lang="ko-KR" altLang="en-US" dirty="0"/>
              <a:t>모델을 </a:t>
            </a:r>
            <a:r>
              <a:rPr lang="en-US" altLang="ko-KR" dirty="0"/>
              <a:t>Normalizing Flow</a:t>
            </a:r>
            <a:r>
              <a:rPr lang="ko-KR" altLang="en-US" dirty="0"/>
              <a:t>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30C2DCE-0A31-5D5A-8916-CFB96A48B9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9379347"/>
              </p:ext>
            </p:extLst>
          </p:nvPr>
        </p:nvGraphicFramePr>
        <p:xfrm>
          <a:off x="838200" y="1864895"/>
          <a:ext cx="10515597" cy="4223085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44127172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758816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3259010"/>
                    </a:ext>
                  </a:extLst>
                </a:gridCol>
              </a:tblGrid>
              <a:tr h="8132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MAF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IAF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318290"/>
                  </a:ext>
                </a:extLst>
              </a:tr>
              <a:tr h="852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수학적관계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기초모델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MAF</a:t>
                      </a:r>
                      <a:r>
                        <a:rPr lang="ko-KR" altLang="en-US" sz="3200" dirty="0"/>
                        <a:t>의 </a:t>
                      </a:r>
                      <a:r>
                        <a:rPr lang="ko-KR" altLang="en-US" sz="3200" dirty="0" err="1"/>
                        <a:t>역과정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412106"/>
                  </a:ext>
                </a:extLst>
              </a:tr>
              <a:tr h="852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학습 </a:t>
                      </a:r>
                      <a:r>
                        <a:rPr lang="en-US" altLang="ko-KR" sz="3200" dirty="0"/>
                        <a:t>(X-&gt;Z)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rgbClr val="FF0000"/>
                          </a:solidFill>
                        </a:rPr>
                        <a:t>매우 빠름 </a:t>
                      </a:r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3200" dirty="0">
                          <a:solidFill>
                            <a:srgbClr val="FF0000"/>
                          </a:solidFill>
                        </a:rPr>
                        <a:t>병렬</a:t>
                      </a:r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느림 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순차적</a:t>
                      </a:r>
                      <a:r>
                        <a:rPr lang="en-US" altLang="ko-KR" sz="3200" dirty="0"/>
                        <a:t>)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063453"/>
                  </a:ext>
                </a:extLst>
              </a:tr>
              <a:tr h="852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생성</a:t>
                      </a:r>
                      <a:r>
                        <a:rPr lang="en-US" altLang="ko-KR" sz="3200" dirty="0"/>
                        <a:t>(Z-&gt;X)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느림 </a:t>
                      </a:r>
                      <a:r>
                        <a:rPr lang="en-US" altLang="ko-KR" sz="3200" dirty="0"/>
                        <a:t>(</a:t>
                      </a:r>
                      <a:r>
                        <a:rPr lang="ko-KR" altLang="en-US" sz="3200" dirty="0"/>
                        <a:t>순차적</a:t>
                      </a:r>
                      <a:r>
                        <a:rPr lang="en-US" altLang="ko-KR" sz="3200" dirty="0"/>
                        <a:t>)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>
                          <a:solidFill>
                            <a:srgbClr val="FF0000"/>
                          </a:solidFill>
                        </a:rPr>
                        <a:t>매우 빠름 </a:t>
                      </a:r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3200" dirty="0">
                          <a:solidFill>
                            <a:srgbClr val="FF0000"/>
                          </a:solidFill>
                        </a:rPr>
                        <a:t>병렬</a:t>
                      </a:r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823191"/>
                  </a:ext>
                </a:extLst>
              </a:tr>
              <a:tr h="852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주요 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모델 학습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/>
                        <a:t>실시간 생성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404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686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D63B4-797E-A0EF-F22B-CDBBAC81D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9" y="154816"/>
            <a:ext cx="11650578" cy="1325563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Parallel </a:t>
            </a:r>
            <a:r>
              <a:rPr lang="en-US" altLang="ko-KR" sz="4000" dirty="0" err="1"/>
              <a:t>Wavenet</a:t>
            </a:r>
            <a:r>
              <a:rPr lang="en-US" altLang="ko-KR" sz="4000" dirty="0"/>
              <a:t> (</a:t>
            </a:r>
            <a:r>
              <a:rPr lang="ko-KR" altLang="en-US" sz="4000" dirty="0"/>
              <a:t>구글 </a:t>
            </a:r>
            <a:r>
              <a:rPr lang="ko-KR" altLang="en-US" sz="4000" dirty="0" err="1"/>
              <a:t>어시스턴트의</a:t>
            </a:r>
            <a:r>
              <a:rPr lang="ko-KR" altLang="en-US" sz="4000" dirty="0"/>
              <a:t> 목소리 학습</a:t>
            </a:r>
            <a:r>
              <a:rPr lang="en-US" altLang="ko-KR" sz="4000" dirty="0"/>
              <a:t>)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290ADF-0668-1FEB-8013-79141A46F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99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MAF </a:t>
            </a:r>
            <a:r>
              <a:rPr lang="ko-KR" altLang="en-US" sz="2000" dirty="0"/>
              <a:t>와 </a:t>
            </a:r>
            <a:r>
              <a:rPr lang="en-US" altLang="ko-KR" sz="2000" dirty="0"/>
              <a:t>IAF</a:t>
            </a:r>
            <a:r>
              <a:rPr lang="ko-KR" altLang="en-US" sz="2000" dirty="0"/>
              <a:t>는 일장일단이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--&gt;</a:t>
            </a:r>
            <a:r>
              <a:rPr lang="ko-KR" altLang="en-US" sz="2000" dirty="0">
                <a:solidFill>
                  <a:srgbClr val="FF0000"/>
                </a:solidFill>
              </a:rPr>
              <a:t>그렇다면 학습도 빠르고 생성도 빠른 모델은 없나</a:t>
            </a:r>
            <a:r>
              <a:rPr lang="en-US" altLang="ko-KR" sz="2000" dirty="0">
                <a:solidFill>
                  <a:srgbClr val="FF0000"/>
                </a:solidFill>
              </a:rPr>
              <a:t>?</a:t>
            </a:r>
          </a:p>
          <a:p>
            <a:pPr marL="0" indent="0">
              <a:buNone/>
            </a:pPr>
            <a:endParaRPr lang="en-US" altLang="ko-KR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학습이 빠른 </a:t>
            </a:r>
            <a:r>
              <a:rPr lang="en-US" altLang="ko-KR" sz="2000" dirty="0"/>
              <a:t>MAF</a:t>
            </a:r>
            <a:r>
              <a:rPr lang="ko-KR" altLang="en-US" sz="2000" dirty="0"/>
              <a:t>를 스승으로 삼아 음성 데이터의 원리를 가르침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         IAF</a:t>
            </a:r>
            <a:r>
              <a:rPr lang="ko-KR" altLang="en-US" sz="2000" dirty="0"/>
              <a:t>를 제자로 삼아 스승의 지식을 그대로 복제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rgbClr val="FF0000"/>
                </a:solidFill>
              </a:rPr>
              <a:t>----&gt; </a:t>
            </a:r>
            <a:r>
              <a:rPr lang="ko-KR" altLang="en-US" sz="1800" dirty="0">
                <a:solidFill>
                  <a:srgbClr val="FF0000"/>
                </a:solidFill>
              </a:rPr>
              <a:t>제자가 소리를 만들면 스승이 </a:t>
            </a:r>
            <a:r>
              <a:rPr lang="en-US" altLang="ko-KR" sz="1800" dirty="0">
                <a:solidFill>
                  <a:srgbClr val="FF0000"/>
                </a:solidFill>
              </a:rPr>
              <a:t>'</a:t>
            </a:r>
            <a:r>
              <a:rPr lang="ko-KR" altLang="en-US" sz="1800" dirty="0">
                <a:solidFill>
                  <a:srgbClr val="FF0000"/>
                </a:solidFill>
              </a:rPr>
              <a:t>내 정답과 얼마나 </a:t>
            </a:r>
            <a:r>
              <a:rPr lang="ko-KR" altLang="en-US" sz="1800" dirty="0" err="1">
                <a:solidFill>
                  <a:srgbClr val="FF0000"/>
                </a:solidFill>
              </a:rPr>
              <a:t>닮았니</a:t>
            </a:r>
            <a:r>
              <a:rPr lang="en-US" altLang="ko-KR" sz="1800" dirty="0">
                <a:solidFill>
                  <a:srgbClr val="FF0000"/>
                </a:solidFill>
              </a:rPr>
              <a:t>?’ </a:t>
            </a:r>
            <a:r>
              <a:rPr lang="ko-KR" altLang="en-US" sz="1800" dirty="0">
                <a:solidFill>
                  <a:srgbClr val="FF0000"/>
                </a:solidFill>
              </a:rPr>
              <a:t>라고 </a:t>
            </a:r>
            <a:r>
              <a:rPr lang="ko-KR" altLang="en-US" sz="1800" dirty="0" err="1">
                <a:solidFill>
                  <a:srgbClr val="FF0000"/>
                </a:solidFill>
              </a:rPr>
              <a:t>가이드하며</a:t>
            </a:r>
            <a:r>
              <a:rPr lang="ko-KR" altLang="en-US" sz="1800" dirty="0">
                <a:solidFill>
                  <a:srgbClr val="FF0000"/>
                </a:solidFill>
              </a:rPr>
              <a:t> 훈련</a:t>
            </a:r>
            <a:endParaRPr lang="en-US" altLang="ko-KR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sz="1800" dirty="0">
                <a:solidFill>
                  <a:srgbClr val="FF0000"/>
                </a:solidFill>
              </a:rPr>
              <a:t>         </a:t>
            </a:r>
            <a:r>
              <a:rPr lang="ko-KR" altLang="en-US" sz="1800" dirty="0">
                <a:solidFill>
                  <a:srgbClr val="FF0000"/>
                </a:solidFill>
              </a:rPr>
              <a:t>학습속도가 </a:t>
            </a:r>
            <a:r>
              <a:rPr lang="en-US" altLang="ko-KR" sz="1800" dirty="0">
                <a:solidFill>
                  <a:srgbClr val="FF0000"/>
                </a:solidFill>
              </a:rPr>
              <a:t>1000</a:t>
            </a:r>
            <a:r>
              <a:rPr lang="ko-KR" altLang="en-US" sz="1800" dirty="0">
                <a:solidFill>
                  <a:srgbClr val="FF0000"/>
                </a:solidFill>
              </a:rPr>
              <a:t>배 가까이 상승</a:t>
            </a:r>
            <a:r>
              <a:rPr lang="en-US" altLang="ko-KR" sz="1800" dirty="0">
                <a:solidFill>
                  <a:srgbClr val="FF0000"/>
                </a:solidFill>
              </a:rPr>
              <a:t>!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pic>
        <p:nvPicPr>
          <p:cNvPr id="5" name="그림 4" descr="폰트, 텍스트, 친필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930479-2E61-36B4-4AB4-D855E2A07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11629"/>
            <a:ext cx="4257675" cy="542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91BF76-32ED-A107-5CC8-6800C863EEF7}"/>
              </a:ext>
            </a:extLst>
          </p:cNvPr>
          <p:cNvSpPr txBox="1"/>
          <p:nvPr/>
        </p:nvSpPr>
        <p:spPr>
          <a:xfrm>
            <a:off x="-1186218" y="9769822"/>
            <a:ext cx="3327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23C31F0-2624-8A11-A8E5-B402B7450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059169"/>
            <a:ext cx="7339264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오차 수정 (KL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Divergence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제자는 자신의 확률 밀도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log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x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가 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스승의 확률 밀도(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log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x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))와 최대한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비슷해지도록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스스로를 업데이트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96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485</Words>
  <Application>Microsoft Office PowerPoint</Application>
  <PresentationFormat>와이드스크린</PresentationFormat>
  <Paragraphs>95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Deep Generative Models Lecture 8</vt:lpstr>
      <vt:lpstr>VAE vs Normalizing Flow</vt:lpstr>
      <vt:lpstr>Normalizing Flow의 구성</vt:lpstr>
      <vt:lpstr>Normalizing Flow를 이용한 모델?</vt:lpstr>
      <vt:lpstr>Normalizing Flow를 이용한 모델?</vt:lpstr>
      <vt:lpstr>자기회귀(Autoregressive) 모델을 Normalizing Flow로?</vt:lpstr>
      <vt:lpstr>자기회귀(Autoregressive) 모델을 Normalizing Flow로?</vt:lpstr>
      <vt:lpstr>Parallel Wavenet (구글 어시스턴트의 목소리 학습)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16</cp:revision>
  <dcterms:created xsi:type="dcterms:W3CDTF">2026-02-07T21:32:50Z</dcterms:created>
  <dcterms:modified xsi:type="dcterms:W3CDTF">2026-02-07T23:21:39Z</dcterms:modified>
</cp:coreProperties>
</file>