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6"/>
  </p:notesMasterIdLst>
  <p:sldIdLst>
    <p:sldId id="256" r:id="rId3"/>
    <p:sldId id="264" r:id="rId4"/>
    <p:sldId id="265" r:id="rId5"/>
    <p:sldId id="266" r:id="rId6"/>
    <p:sldId id="257" r:id="rId7"/>
    <p:sldId id="258" r:id="rId8"/>
    <p:sldId id="267" r:id="rId9"/>
    <p:sldId id="268" r:id="rId10"/>
    <p:sldId id="269" r:id="rId11"/>
    <p:sldId id="270" r:id="rId12"/>
    <p:sldId id="273" r:id="rId13"/>
    <p:sldId id="272" r:id="rId14"/>
    <p:sldId id="274" r:id="rId1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599" autoAdjust="0"/>
  </p:normalViewPr>
  <p:slideViewPr>
    <p:cSldViewPr snapToGrid="0">
      <p:cViewPr varScale="1">
        <p:scale>
          <a:sx n="150" d="100"/>
          <a:sy n="150" d="100"/>
        </p:scale>
        <p:origin x="552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14:27:47.71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22186,'1023'0'0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14:27:51.27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571 317 24575,'0'-4'0,"0"0"0,-1 0 0,0 0 0,1 0 0,-2 0 0,1 0 0,0 0 0,-1 0 0,0 1 0,0-1 0,0 1 0,0-1 0,0 1 0,-1 0 0,0-1 0,1 1 0,-1 1 0,0-1 0,-1 0 0,1 1 0,0-1 0,-5-1 0,-11-6 0,1 1 0,-1 0 0,-28-7 0,-17-8 0,-81-41 0,110 50-116,-1 1-300,2-2-1,-53-31 1,70 36-6410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14:27:52.66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517 1 24575,'-6'0'0,"1"1"0,0 0 0,0 0 0,0 1 0,0-1 0,0 1 0,1 0 0,-1 0 0,0 1 0,1 0 0,0-1 0,-5 5 0,-51 47 0,38-33 0,-32 39 0,42-45 0,-1 0 0,-25 22 0,23-24 0,1 1 0,-17 22 0,21-23 0,-1 0 0,-1-1 0,1-1 0,-16 12 0,6-9-341,2 0 0,0 2-1,-29 30 1,36-30-6485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14:29:40.732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0 24575,'3'4'0,"-1"0"0,1 0 0,0 0 0,0 0 0,0-1 0,1 0 0,-1 0 0,1 0 0,0 0 0,0 0 0,-1-1 0,9 4 0,7 7 0,9 14 0,-1 0 0,43 57 0,9 10 0,-9-22 0,-16-19 0,85 113 0,-122-143 0,0 0 0,1-2 0,2 0 0,0-1 0,1 0 0,1-2 0,37 24 0,164 105 0,-165-105 0,52 32 0,-50-35 0,65 53 0,-41-3 0,38 22 0,-107-95 0,0 1 0,-1 1 0,-1 0 0,-1 1 0,13 26 0,62 164 0,-76-181 0,-2 1 0,-2 0 0,9 55 0,-9-43 0,12 43 0,0-17 0,-11-33 0,3 0 0,14 32 0,-13-33 0,-1 0 0,-2 1 0,-1 1 0,-2-1 0,4 55 0,-9-74 0,14 70 0,-10-58 0,0 1 0,1 31 0,-8 115 0,4 81 0,14-153 0,-9-67 0,3 60 0,-9 358 0,-2-214 0,-2-201 0,0 0 0,-13 48 0,4-18 0,10-55 0,0 0 0,0 0 0,-1 0 0,-1-1 0,0 1 0,-1-1 0,0 0 0,-1 0 0,0-1 0,-1 1 0,-14 17 0,-67 67 0,-130 130 0,95-117 0,111-95 0,-1 0 0,2 2 0,0-1 0,-18 34 0,-7 11 0,17-32 0,2 1 0,0 1 0,2 1 0,2 0 0,0 0 0,-11 50 0,-4 24 0,18-70 0,1 0 0,1 0 0,-3 49 0,8-50 0,-10 43 0,7-47 0,-5 61 0,11-64 0,1-1 0,1 1 0,1 0 0,2-1 0,0 0 0,2 0 0,16 41 0,4 13 0,32 150 0,-40-181 0,-4-15 0,-68-86 0,-168-174 0,188 193 0,-23-11 0,45 37 0,0-1 0,1 0 0,0 0 0,0-1 0,-13-17 0,3 2 0,-36-35 0,11 13 0,25 26-1365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14:29:41.384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0 663 24575,'3'0'0,"-1"0"0,1-1 0,-1 0 0,0 0 0,1 1 0,-1-1 0,0-1 0,0 1 0,0 0 0,0 0 0,0-1 0,0 1 0,0-1 0,0 0 0,-1 0 0,1 1 0,1-4 0,28-41 0,-23 32 0,123-156 0,-99 132 0,3 3 0,1 0 0,2 3 0,1 1 0,75-45 0,-63 44-102,-21 15-150,-1-2-1,-1-1 0,0-1 1,31-31-1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14:29:44.618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1656 5310 24575,'-6'-2'0,"-1"0"0,1 0 0,0-1 0,-1 0 0,1 0 0,1-1 0,-1 1 0,0-1 0,1 0 0,0-1 0,-8-8 0,0-2 0,-1 1 0,0 0 0,0 2 0,-2-1 0,1 2 0,-30-17 0,-46-28 0,64 38 0,-48-25 0,-64-32 0,-21-8 0,129 67 0,1 0 0,-35-25 0,34 20 0,-57-28 0,61 34 0,1-1 0,1-2 0,0 0 0,1-2 0,1 0 0,-29-34 0,40 40 0,2 0 0,0-1 0,1 0 0,0-1 0,1 0 0,1 0 0,-7-24 0,-21-43 0,-79-188 0,87 207 0,-68-114 0,81 157 0,-33-38 0,37 49 0,1 0 0,0 0 0,1-1 0,0 0 0,1-1 0,0 0 0,1 0 0,0 0 0,1-1 0,0 0 0,-5-23 0,5-27 0,3 0 0,10-106 0,-4 147 0,0 0 0,2 0 0,1 1 0,0 0 0,2 0 0,0 1 0,1 0 0,1 0 0,19-23 0,15-36 0,-32 55 0,1 0 0,1 0 0,18-22 0,-22 33 0,-2-1 0,0-1 0,-1 1 0,0-2 0,7-19 0,-9 18 0,2 0 0,0 0 0,1 1 0,14-20 0,-4 15 0,1 0 0,1 1 0,0 0 0,2 2 0,24-15 0,-11 5 0,-1-2 0,48-55 0,-34 35 0,-43 43 0,-1-1 0,1 1 0,-1-1 0,0-1 0,-1 1 0,7-18 0,16-29 0,-15 35 0,-1 0 0,-1-1 0,-1 0 0,-1 0 0,8-32 0,15-115 0,-27 67 0,-5 78 0,1-1 0,2 0 0,5-31 0,-4 44 0,1 0 0,0 1 0,1-1 0,6-10 0,-6 12 0,0 0 0,-1 0 0,0-1 0,0 1 0,-1-1 0,2-10 0,-2-10 0,-1-49 0,-3 57 0,1-1 0,1 1 0,1-1 0,7-27 0,1-3 0,-3-1 0,-2-1 0,-2 1 0,-6-86 0,0 21 0,3-408 0,1 506 0,2 1 0,0 0 0,8-30 0,-6 35 0,-2 0 0,1-1 0,-2 1 0,0-1 0,-1 1 0,-2-33 0,1 48 0,0 0 0,0-1 0,0 1 0,0-1 0,0 1 0,0-1 0,0 1 0,0-1 0,-1 1 0,1 0 0,0-1 0,0 1 0,0-1 0,-1 1 0,1 0 0,0-1 0,0 1 0,-1 0 0,1-1 0,0 1 0,-1 0 0,1-1 0,0 1 0,-1 0 0,1 0 0,-1-1 0,1 1 0,0 0 0,-1 0 0,1 0 0,-1 0 0,0-1 0,-15 8 0,-18 25 0,29-27 0,-126 150 0,88-100 0,32-42 0,-5 9 0,-2-2 0,0 0 0,-33 27 0,37-34 0,0 0 0,-17 22 0,-23 22 0,32-36 0,1 1 0,-26 35 0,-18 19 0,50-60 6,1 2-1,-16 27 1,7-11-1388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14:29:45.44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0 24575,'8'1'0,"0"1"0,-1-1 0,1 1 0,0 1 0,0 0 0,-1 0 0,0 0 0,0 1 0,0 0 0,0 0 0,0 1 0,-1 0 0,0 0 0,0 0 0,6 7 0,9 11 0,0 1 0,25 38 0,29 35 0,-49-67 0,-2 1 0,28 48 0,-4-10 0,-38-56 0,0 0 0,0 1 0,-1 1 0,10 21 0,58 131 0,-28-64 0,-26-59-1365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3T07:06:16.7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1249 24575,'1'-7'0,"0"-1"0,0 1 0,0-1 0,1 1 0,0 0 0,0 0 0,1 0 0,0 0 0,0 0 0,5-6 0,49-66 0,-12 18 0,-24 27 0,2 2 0,1 1 0,1 1 0,51-46 0,-56 59 0,2 1 0,0 2 0,0 0 0,1 2 0,45-18 0,73-41 0,-93 50 0,68-24 0,-16 8 0,-78 27 0,0 1 0,0 1 0,1 1 0,-1 1 0,2 1 0,38-4 0,37-1 0,-39 2 0,-4 1 0,-28 2 0,46 0 0,37 8 0,149-6 0,-203-5 0,-38 4 0,1 1 0,25 0 0,113-14 0,-133 14 0,0-1 0,-1 0 0,0-2 0,0-1 0,37-16 0,-45 15 0,0 0 0,-1-1 0,0-1 0,13-11 0,10-7 0,-29 21 0,-1-2 0,0 1 0,0-1 0,-1 0 0,0-1 0,-1 1 0,0-1 0,-1-1 0,7-14 0,20-35 0,44-30 0,-75 90 0,0-1 0,0 0 0,-1 1 0,1-1 0,0 0 0,-1 0 0,1 1 0,-1-1 0,1 0 0,-1 0 0,1 0 0,-1 0 0,0 0 0,1 0 0,-1 0 0,0 0 0,0 0 0,0 1 0,0-1 0,0 0 0,0 0 0,0 0 0,0-2 0,-1 2 0,1 1 0,-1-1 0,1 0 0,-1 1 0,0-1 0,1 1 0,-1-1 0,0 1 0,0-1 0,1 1 0,-1-1 0,0 1 0,0 0 0,0-1 0,0 1 0,0 0 0,1 0 0,-1 0 0,-2-1 0,-2 1 0,-1 0 0,1 0 0,0 0 0,-1 0 0,1 1 0,0 0 0,-7 2 0,-77 41 78,46-20-1521,32-19-5383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3T07:06:19.2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24575,'0'3'0,"0"4"0,0 4 0,0 3 0,0 2 0,0 2 0,0 0 0,0 0 0,0 1 0,0-1 0,0 0 0,0 0 0,0 0 0,0-1 0,0 1 0,0-3-8191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3T07:06:22.1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3268 1060 24575,'-2'-5'0,"-1"0"0,0 0 0,0 0 0,0 0 0,-1 1 0,1-1 0,-1 1 0,0 0 0,0 0 0,-1 1 0,1-1 0,-1 1 0,-8-4 0,-58-27 0,28 13 0,-67-23 0,38 18 0,38 13 0,-42-10 0,-15-3 0,-25-6 0,11 8 0,-52-7 0,61 15 0,65 10 0,-1 0 0,-56-1 0,2-2 0,31 1 0,-5 1 0,16 1 0,-47 1 0,-120-12 0,34-1 0,132 17 0,-69-11 0,97 9 0,-41-5 0,-95-3 0,12-7 0,118 15 0,0-1 0,0-1 0,0 0 0,1-2 0,0-1 0,0-1 0,-24-13 0,-14-5 0,-75-31 0,123 53 0,0 0 0,0 0 0,1-1 0,0-1 0,0 0 0,1 0 0,-1-1 0,-10-12 0,15 14 0,1 0 0,0 0 0,0 0 0,0 0 0,1-1 0,0 0 0,0 0 0,1 0 0,0 0 0,0-1 0,1 1 0,0-1 0,0 0 0,-1-13 0,-5-54 0,-1-26 0,10 96 0,-1 1 0,0-1 0,0 1 0,-1-1 0,1 1 0,-1-1 0,0 1 0,-3-8 0,4 11 0,0 1 0,-1-1 0,1 1 0,0 0 0,-1-1 0,1 1 0,0 0 0,-1-1 0,1 1 0,-1 0 0,1 0 0,0-1 0,-1 1 0,1 0 0,-1 0 0,1 0 0,-1 0 0,1-1 0,-1 1 0,1 0 0,-1 0 0,1 0 0,-1 0 0,1 0 0,-1 0 0,1 0 0,-1 0 0,1 1 0,-1-1 0,-24 16 0,-138 149 0,160-161 17,0-1 0,1 1-1,-1 0 1,1 0-1,0 0 1,0 0 0,-2 6-1,-12 22-1514,9-24-5328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3T07:06:23.1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24575,'4'0'0,"0"1"0,-1 0 0,1-1 0,0 2 0,0-1 0,0 0 0,-1 1 0,1 0 0,-1-1 0,1 2 0,-1-1 0,0 0 0,5 5 0,42 44 0,-18-18 0,34 30-1365,-55-52-5461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3T07:06:28.3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2840 782 24575,'-10'-9'0,"0"1"0,0 0 0,-16-9 0,-29-25 0,-33-46 0,75 73 0,1-2 0,-19-34 0,23 36 0,-1 0 0,-1 0 0,0 1 0,-19-21 0,9 18 0,-1 1 0,0 0 0,-1 2 0,-42-21 0,-96-35 0,93 47 0,53 20 0,0-2 0,0 0 0,-21-10 0,12 5 0,-1 2 0,1 0 0,-2 2 0,1 0 0,-1 2 0,-30-2 0,21 2 0,0-2 0,-45-14 0,-27-2 0,79 18 0,-1-1 0,1-2 0,0 0 0,-28-13 0,44 16 0,-1 1 0,0 0 0,0 0 0,0 2 0,0-1 0,0 1 0,-23 2 0,18-1 0,1 0 0,-1-1 0,-21-4 0,-100-17 0,48 17 0,69 5 0,1 0 0,0-2 0,-26-5 0,12 2 0,-1 1 0,1 2 0,0 1 0,-39 4 0,-10-1 0,64-1 0,0 1 0,0 0 0,0 1 0,0 1 0,1 1 0,0 1 0,0 0 0,0 2 0,1 0 0,-29 17 0,46-24 0,-51 32 0,-53 44 0,-58 42 0,104-87-1365,46-24-5461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3T07:06:30.5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118 0 24575,'-3'8'0,"1"-1"0,-1 1 0,0-1 0,-1 0 0,0 0 0,0 0 0,0-1 0,-8 10 0,3-4 0,-2 4 0,1 0 0,1 0 0,1 1 0,0 0 0,1 0 0,-9 34 0,16-48 0,0-1 0,1 1 0,-1-1 0,1 1 0,0-1 0,0 0 0,-1 1 0,2-1 0,-1 0 0,0 0 0,0 0 0,1 0 0,-1 0 0,1 0 0,-1 0 0,1 0 0,0 0 0,0-1 0,0 1 0,0-1 0,0 1 0,0-1 0,0 0 0,1 0 0,-1 0 0,0 0 0,4 0 0,67 23 0,-62-21-84,13 3-236,2 0 0,-1-2-1,48 2 1,-58-7-6506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3T08:35:32.90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2192 24575,'1'-6'0,"1"1"0,-1-1 0,1 0 0,0 1 0,0-1 0,1 1 0,0 0 0,-1-1 0,2 1 0,-1 1 0,1-1 0,-1 0 0,1 1 0,1 0 0,-1 0 0,9-6 0,19-23 0,-5 0 0,2 1 0,0 1 0,2 2 0,40-30 0,70-64 0,-102 94 0,0-2 0,53-56 0,-1 12 0,187-200 0,-193 204 0,-75 63 0,1 1 0,-1 0 0,1 0 0,0 1 0,21-8 0,22-13 0,89-61 0,-106 63 0,-2 2 0,56-50 0,47-72 0,-68 75 0,-61 61 0,1 0 0,0 1 0,21-12 0,-20 13 0,0-1 0,0 0 0,15-14 0,-3-2 0,-2 0 0,0-2 0,24-39 0,13-20 0,-42 63 0,0-1 0,-1-1 0,23-49 0,-19 31 0,-12 27 0,-1 0 0,0 0 0,6-24 0,-11 35 3,1 0 0,0 0 0,-1 0 0,1 0 0,0 1 0,1-1 0,-1 1 0,1 0 0,0-1 0,-1 1-1,1 0 1,1 1 0,-1-1 0,0 0 0,1 1 0,5-3 0,70-32-284,-45 23-853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3T08:35:33.79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844 0 24575,'-13'2'0,"1"-1"0,-1 2 0,1-1 0,0 2 0,-1 0 0,2 0 0,-1 1 0,-15 9 0,-45 16 0,38-19 0,1 2 0,0 2 0,1 1 0,-38 26 0,54-33 0,0-1 0,-1-1 0,1 0 0,-1-1 0,-36 7 0,-10 4 0,14 2 0,36-13 0,0 0 0,-1-1 0,-27 6 0,3-5-682,-40 12-1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3T08:35:34.64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24575,'1'0'0,"0"0"0,0 1 0,0-1 0,0 1 0,-1-1 0,1 1 0,0-1 0,0 1 0,-1 0 0,1-1 0,0 1 0,-1 0 0,1-1 0,-1 1 0,1 0 0,-1 0 0,1-1 0,-1 1 0,0 0 0,1 0 0,-1 0 0,0 0 0,0 0 0,0 0 0,1-1 0,-1 2 0,5 34 0,-3-23 0,3 15 0,-2 1 0,0 49 0,0 2 0,1-53 0,1 0 0,13 38 0,-11-43 0,-2 0 0,0 0 0,-1 0 0,2 35 0,3 4 124,-2-22-1613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3T08:35:36.36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264 55 24575,'-5'0'0,"-1"1"0,1 0 0,0 1 0,-1-1 0,1 1 0,0 0 0,0 0 0,0 1 0,0 0 0,0-1 0,0 2 0,1-1 0,0 0 0,-1 1 0,1 0 0,-5 6 0,-1 3 0,-1-1 0,2 2 0,-1 0 0,-9 21 0,0 2 0,8-18 0,2 0 0,-14 38 0,4 1 0,10-32 0,0 1 0,-8 55 0,17-75 0,0 0 0,1 0 0,0 0 0,1 0 0,0-1 0,0 1 0,0 0 0,0-1 0,1 1 0,0-1 0,1 0 0,-1 0 0,1-1 0,1 1 0,-1-1 0,6 6 0,5 5 0,1 0 0,1-1 0,31 22 0,-18-14 0,-25-19 0,0 1 0,1-1 0,-1 0 0,1 0 0,0-1 0,0 1 0,1-2 0,-1 1 0,0 0 0,1-1 0,0-1 0,-1 1 0,1-1 0,0 0 0,8 0 0,-8-1 0,0-1 0,1 0 0,-1 0 0,0-1 0,0 0 0,0 0 0,0 0 0,0-1 0,-1 0 0,1-1 0,-1 1 0,0-1 0,0-1 0,0 1 0,0-1 0,-1 0 0,0 0 0,0-1 0,0 1 0,0-1 0,6-12 0,5-11 0,-1-1 0,-1 0 0,16-51 0,-14 36 0,-8 23 0,-1 0 0,-1-1 0,-2 0 0,4-28 0,-1 2 0,-4 32 0,0 0 0,0-35 0,-4 46 0,1 0 0,-1 1 0,0-1 0,0 0 0,-1 1 0,0-1 0,0 1 0,0-1 0,0 1 0,-1 0 0,0 0 0,0 0 0,-4-5 0,6 9 0,-12-16 0,-1 1 0,0 1 0,-22-18 0,30 28 0,0 1 0,-1 0 0,0 0 0,0 1 0,0-1 0,0 2 0,0-1 0,-1 1 0,1 0 0,-1 0 0,0 1 0,-11 0 0,-88 1-1365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3T08:44:35.99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0 430 24575,'2'-4'0,"-1"0"0,1 1 0,0-1 0,0 1 0,0 0 0,0 0 0,1-1 0,-1 1 0,1 1 0,0-1 0,0 0 0,0 1 0,0-1 0,0 1 0,1 0 0,3-2 0,13-11 0,-3-1 0,0 1 0,2 1 0,-1 0 0,2 1 0,0 2 0,0 0 0,1 0 0,0 2 0,1 1 0,0 1 0,0 0 0,25-3 0,204-39 0,34-18 0,-265 63 0,0 0 0,36-2 0,4 0 0,222-47 0,-192 48 0,-71 5 0,1-1 0,-1 0 0,31-6 0,-17 1 0,0 2 0,0 2 0,1 1 0,43 4 0,6-1 0,-58-3 0,1 2 0,-1 0 0,0 1 0,1 2 0,-1 0 0,27 10 0,-31-9 0,-1 0 0,1-1 0,33 1 0,-4 1 0,35 7 0,84 24 0,-146-32 0,0-1 0,25 0 0,14 3 0,-26 1 0,1 1 0,46 19 0,-31-10 0,159 39 0,-133-38 0,-52-14 0,-1 1 0,1 1 0,-1 1 0,-1 2 0,33 17 0,-17-10 0,-36-16 0,0 1 0,0-1 0,0 0 0,0 1 0,0 0 0,0 0 0,0 0 0,-1 1 0,1-1 0,-1 1 0,0 0 0,1 0 0,-1 0 0,0 0 0,-1 0 0,1 1 0,-1-1 0,3 6 0,6 15-1365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3T08:44:38.50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0 338 24575,'1'-3'0,"-1"1"0,1 0 0,0 0 0,0 0 0,0 0 0,0-1 0,0 1 0,0 0 0,0 1 0,1-1 0,-1 0 0,1 0 0,-1 0 0,1 1 0,0-1 0,0 1 0,2-2 0,40-25 0,-36 24 0,35-19 0,70-28 0,0 8 0,17 8 0,64-25 0,-119 36 0,-58 17 0,0 1 0,0 1 0,0 1 0,1 0 0,34-2 0,1350 5 0,-669 3 0,-625-4 0,119 5 0,-159 4 0,-28-2 0,46 0 0,-57-6 0,-4 0 0,1 1 0,-1 2 0,1 0 0,26 6 0,-24-3 0,0-1 0,0-2 0,0-1 0,32-2 0,-28 0 0,0 1 0,60 8 0,-40-2 0,0-1 0,1-3 0,55-6 0,-2 2 0,31 11 0,8-1 0,896-8 0,-865 19 0,36-2 0,16 1 0,3-1 0,-190-15 0,44 6 0,-35-2 0,130-2 0,-126-6 0,0 3 0,53 8 0,24 6 0,207-5 0,-245 1 0,-45-4 0,-37-5 0,1 1 0,-1 0 0,0 0 0,0 1 0,0 0 0,0 1 0,-1 0 0,15 11 0,5 5 0,37 35 0,-22-16 0,-40-36 0,-1 0 0,0 1 0,0-1 0,0 1 0,-1 0 0,0 0 0,0 0 0,0 1 0,0-1 0,1 8 0,16 64 0,-1-3 0,-9-45-455,-2-1 0,7 38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3T08:44:44.80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1 206 24575,'5'1'0,"1"1"0,-1 0 0,1 0 0,-1 1 0,0 0 0,0 0 0,0 0 0,0 0 0,0 1 0,-1-1 0,0 1 0,1 1 0,4 5 0,19 16 0,-2-5 0,-2 2 0,-1 0 0,25 32 0,-37-43 0,5 9 0,-9-13 0,-1 0 0,1 0 0,1 0 0,-1-1 0,18 13 0,-23-19 0,1 1 0,-1-1 0,1 0 0,-1 0 0,1 0 0,0 0 0,-1-1 0,1 1 0,0-1 0,0 0 0,-1 1 0,1-1 0,0-1 0,0 1 0,-1 0 0,1-1 0,0 1 0,0-1 0,-1 0 0,1 0 0,-1 0 0,1 0 0,-1 0 0,1 0 0,-1-1 0,0 1 0,1-1 0,1-2 0,5-4 0,0-1 0,0-1 0,-1 0 0,-1 0 0,0 0 0,0-1 0,8-18 0,8-10 0,63-134 0,0 42 0,-62 86-1365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3T08:44:46.99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89 24575,'5'0'0,"-1"-1"0,1-1 0,-1 1 0,1-1 0,-1 1 0,0-1 0,6-4 0,18-6 0,4 6 0,0 2 0,0 1 0,1 2 0,55 4 0,-2 0 0,-8-3 0,108-13 0,-155 8 0,17-2 0,84-3 0,-45 12 0,126-4 0,-156-7 0,-37 6 0,-1 0 0,26 0 0,644 3 0,-549 19 0,-30-10 0,10-1 0,-32-10 0,124 4 0,-152 6 0,-34-4 0,46 2 0,176 9 0,-127-11 0,-86-5 0,0 1 0,56 10 0,-39-4 0,0-2 0,0-2 0,57-5 0,-3 0 0,-62 5 0,70 10 0,-52-6 0,1-3 0,71-5 0,-22-1 0,1246 3 0,-1218 18 0,320-18 0,-284 19 0,-84-18 0,98-4 0,-176 1-1365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3T08:44:48.78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24575,'513'0'0,"-502"1"0,0 0 0,1 1 0,-1 0 0,0 1 0,15 6 0,-14-5 0,0 0 0,1-1 0,-1 0 0,15 1 0,-14-3 0,1 0 0,0 1 0,-1 1 0,0 0 0,0 1 0,0 1 0,0 0 0,0 0 0,-1 1 0,0 1 0,0 0 0,-1 0 0,0 2 0,0-1 0,-1 1 0,17 19 0,19 22 0,-2 2 0,46 71 0,-24-9 0,84 103 0,-138-199 0,0 1 0,-2 0 0,0 0 0,-1 1 0,-1 1 0,-1-1 0,9 41 0,-11-36 0,1 0 0,14 32 0,-5-14 0,-10-24 0,-2-1 0,0 1 0,-1 0 0,-1 0 0,-1 0 0,-3 26 0,2-23 0,0 1 0,1-1 0,2 0 0,4 31 0,-2-33-124,-2 0 0,0 0 0,-2 35 0,0-37-745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3T08:44:50.23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24575,'2'28'0,"0"1"0,2 0 0,1-1 0,9 29 0,41 107 0,-51-153 0,0-1 0,0 0 0,1 0 0,0 0 0,0-1 0,1 0 0,8 10 0,-12-17 0,1 0 0,-1-1 0,0 1 0,1 0 0,0-1 0,-1 1 0,1-1 0,0 0 0,0 0 0,-1 0 0,1 0 0,0 0 0,0-1 0,0 1 0,0-1 0,0 0 0,0 0 0,0 0 0,0 0 0,0-1 0,0 1 0,0-1 0,0 1 0,0-1 0,0 0 0,0 0 0,0-1 0,-1 1 0,1-1 0,2-1 0,116-49 0,-76 35 0,45-25 0,40-34 0,-91 54-103,-23 14-54,0-1-1,-1-1 0,0 0 0,-1 0 0,0-2 1,0 1-1,22-28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3T08:46:49.14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0 477 24341,'3986'-476'0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3T08:46:52.10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422 69 24575,'-16'-1'0,"0"0"0,0-2 0,0 0 0,-18-6 0,18 4 0,-1 0 0,1 2 0,-32-3 0,10 4 18,-71-15-1,45 5-1417,49 10-5426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3T08:46:54.44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281 0 24575,'-9'3'0,"-1"1"0,1-1 0,0 2 0,1-1 0,-1 1 0,1 0 0,-12 11 0,-50 33 0,-43 35 0,104-75-1365,3 0-5461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3T12:31:00.21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0 108 24575,'48'1'0,"-18"0"0,0-1 0,-1-2 0,54-8 0,-47 4 0,0 2 0,0 2 0,0 1 0,42 4 0,11 0 0,32-1 0,128-5 0,-181-4 0,-27 2 0,44 0 0,-7 6 0,91 12 0,-102-7 0,0-3 0,70-6 0,-20 1 0,-82 3 0,1 1 0,38 8 0,-25-4 0,1-3 0,83-5 0,-34-1 0,501 3 0,-576-1 0,1-2 0,47-11 0,-48 9 0,0 0 0,0 2 0,29-1 0,106-14 0,-128 18 0,27 1 0,0-3 0,64-10 0,-73 7 0,1 1 0,83 6 0,-34 1 0,-60-3 0,-1-3 0,48-8 0,35-3 0,0 4 0,180 10 0,-125 3 0,1606-3 0,-1642 18 0,390-19 0,-354 20 0,283-20 0,-283 19 0,1358-19-1365,-1518 1-5461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E914E8-3F79-4CEC-9372-12F163301418}" type="datetimeFigureOut">
              <a:rPr lang="ko-KR" altLang="en-US" smtClean="0"/>
              <a:t>2026-05-03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738027-D261-437A-9DFE-7720ABEB60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65485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677F88-E6B2-B11C-6A49-26FE38CECF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903BBAD-DFAD-29E2-E13A-C5E690DEB0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F05F1D7-3406-0F7C-84B4-27A5BFA10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1F299-F30B-4012-817D-820C2C974525}" type="datetimeFigureOut">
              <a:rPr lang="ko-KR" altLang="en-US" smtClean="0"/>
              <a:t>2026-05-03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0FBDCED-BF7B-CB06-3D28-AC75FA3A9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8046375-B8B7-CE99-AA40-12A480043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FF256-EA71-4234-812B-FFE8F7B253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70794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5C7943-B0FF-BDAD-3C70-EDBED4B5B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F8BBD95-599A-FE64-4F0B-72B3FDBB3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0E6BECF-2B8C-E5A9-F0CF-66A7FB43E0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1F299-F30B-4012-817D-820C2C974525}" type="datetimeFigureOut">
              <a:rPr lang="ko-KR" altLang="en-US" smtClean="0"/>
              <a:t>2026-05-03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85ADE7E-58B3-38CF-16DF-EE0242BAA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6AC389F-435B-A5E3-C33D-D6E45683D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FF256-EA71-4234-812B-FFE8F7B253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74796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000496-C98B-DF94-3E6A-3636013C7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7289BFF-15A9-6A3D-2ABC-3A30C91ED6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5167693-B03C-998C-3FF9-D0C519DCEF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1F299-F30B-4012-817D-820C2C974525}" type="datetimeFigureOut">
              <a:rPr lang="ko-KR" altLang="en-US" smtClean="0"/>
              <a:t>2026-05-03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A2A00A9-46D8-1D1B-E23F-49BAEF670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9D784B-94FF-77BE-7C3F-9D4858399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FF256-EA71-4234-812B-FFE8F7B253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56123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160F2D-5F5E-5A48-F193-CC63414999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DF031AB-C698-FCFC-6B79-2664F5D5B4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788FD66-F292-ADAF-8F73-5BEA02433C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FDE3FCF-FF1B-AC42-BCF5-359E914FF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1F299-F30B-4012-817D-820C2C974525}" type="datetimeFigureOut">
              <a:rPr lang="ko-KR" altLang="en-US" smtClean="0"/>
              <a:t>2026-05-03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3DCFD76-3D7E-AAC4-D89A-46320EB177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ABD80B6-5C22-5CA4-73DA-7BAF8F259C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FF256-EA71-4234-812B-FFE8F7B253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94464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713339-03B5-947A-B87B-2B1642DA6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0BE8D89-0097-9645-24C4-F30E3CD5E2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1D12B99-A8C6-039C-5694-5B10D2CEB0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B3CF6FF-D32D-A1F8-B61B-7927CC50F3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FA3020D-4539-26AF-D65B-E0443DD23C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CE08403-4BF0-210D-ADF9-B5256E817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1F299-F30B-4012-817D-820C2C974525}" type="datetimeFigureOut">
              <a:rPr lang="ko-KR" altLang="en-US" smtClean="0"/>
              <a:t>2026-05-03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4449593-1A2D-6E85-C8B6-F6D8E59968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63B72E8-C939-A56D-5E8B-2C27D2312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FF256-EA71-4234-812B-FFE8F7B253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7897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F1984B-4700-55B9-7757-9DC823843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D685CB2-C7AE-46B7-D9AC-340E1837C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1F299-F30B-4012-817D-820C2C974525}" type="datetimeFigureOut">
              <a:rPr lang="ko-KR" altLang="en-US" smtClean="0"/>
              <a:t>2026-05-03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805256A-078E-5AD3-7616-879D2F19D9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595A2EE-8055-D8CC-A3F9-7A2930810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FF256-EA71-4234-812B-FFE8F7B253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69534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71E9FE3-919A-6327-75F3-811C2387B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1F299-F30B-4012-817D-820C2C974525}" type="datetimeFigureOut">
              <a:rPr lang="ko-KR" altLang="en-US" smtClean="0"/>
              <a:t>2026-05-03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87D45AB-9283-A883-C0A1-A126486484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8E50380-DBBD-7DBD-6ED3-109F74DBD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FF256-EA71-4234-812B-FFE8F7B253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6686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F7862E-0367-27EF-118F-086021509A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AE5D0C1-07E9-5399-15D2-AB4E7EE549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3EA540C-4704-BEB4-EB38-C256ED82A4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5F988A0-7EEA-391A-259A-F6663508D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1F299-F30B-4012-817D-820C2C974525}" type="datetimeFigureOut">
              <a:rPr lang="ko-KR" altLang="en-US" smtClean="0"/>
              <a:t>2026-05-03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E1637BE-FB64-106B-C7B3-2C52E412A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6AE4623-6E3B-7F2E-698B-A9F2978A9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FF256-EA71-4234-812B-FFE8F7B253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87787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4B5B18-EE7E-B31B-E3EE-D8048C881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DBA8CDF-C761-68BD-2635-4317D1A5F6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A2E4901-F684-A472-39C5-38887CD582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F70B082-A70E-AD4A-FDAC-BF9774D10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1F299-F30B-4012-817D-820C2C974525}" type="datetimeFigureOut">
              <a:rPr lang="ko-KR" altLang="en-US" smtClean="0"/>
              <a:t>2026-05-03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9770C88-38FE-DDC9-C548-E58514A3E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5C92B7B-2A69-B79E-7A75-9C042ABB9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FF256-EA71-4234-812B-FFE8F7B253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15309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60F929-46D7-61D9-7F4C-3BA5ABE74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EE464DA-548A-EDBE-D7F7-303F3C8FA0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5439C39-9044-D623-D6CB-09B50828C4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1F299-F30B-4012-817D-820C2C974525}" type="datetimeFigureOut">
              <a:rPr lang="ko-KR" altLang="en-US" smtClean="0"/>
              <a:t>2026-05-03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888938E-449A-23BF-4597-7480B3B00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2C09581-1E94-B7AA-6BDC-BB76B955A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FF256-EA71-4234-812B-FFE8F7B253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63128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47FDA97-969A-8234-2762-690FCF6E92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7E96F58-69E7-48E3-0262-87BBA2EF8E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8712983-F7A2-52F6-76FB-824D9F2F5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1F299-F30B-4012-817D-820C2C974525}" type="datetimeFigureOut">
              <a:rPr lang="ko-KR" altLang="en-US" smtClean="0"/>
              <a:t>2026-05-03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87F50B2-4EFF-143D-931E-511D60ECD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A81B945-56F7-91D4-ACF4-B1A89FEC8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FF256-EA71-4234-812B-FFE8F7B253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31372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67F0A8-DA7E-A677-59DF-7814295411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B06A72D-2215-E69D-265F-315A97D5E6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1C797E-DF41-1915-2166-144EB4169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004B4-5707-42DE-A501-94D4867F45C7}" type="datetimeFigureOut">
              <a:rPr lang="ko-KR" altLang="en-US" smtClean="0"/>
              <a:t>2026-05-03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570ACFD-F783-8F45-7006-FEA5B9A79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289BD19-EDB2-8FD5-7E08-B8AD400B7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49E57-736D-4822-94DB-B3AFF6E9E3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97051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D5D903-6114-42FD-F396-2B6F69959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B62A0CA-FDC0-CC74-EE80-9011DBF63B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C27B0BC-7419-75CF-13D5-FCC837EFA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004B4-5707-42DE-A501-94D4867F45C7}" type="datetimeFigureOut">
              <a:rPr lang="ko-KR" altLang="en-US" smtClean="0"/>
              <a:t>2026-05-03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C550D1B-D8EC-12E1-7DCE-867C93A79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5AD8D5E-5C29-B820-7C1A-AC64AF806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49E57-736D-4822-94DB-B3AFF6E9E3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87487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2404B2-921B-BC1C-B309-FD5027E561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1D78DE0-2F29-6F6C-BF15-ED2DB7BBB8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852165D-6644-9643-1934-505D26C4AF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004B4-5707-42DE-A501-94D4867F45C7}" type="datetimeFigureOut">
              <a:rPr lang="ko-KR" altLang="en-US" smtClean="0"/>
              <a:t>2026-05-03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609C880-72C6-91DB-B2DC-EF6A9909D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D236740-9233-6D1B-CED3-F289FFECC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49E57-736D-4822-94DB-B3AFF6E9E3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04540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1CCE01-CD97-D229-EB6C-72F4DA7A5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722AFA0-D94B-9A44-F1BA-BB90CF1F6D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AD12E3B-D6C8-A156-71AC-AB25A8B892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58C328A-7E8A-DFD2-B697-51335E3591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004B4-5707-42DE-A501-94D4867F45C7}" type="datetimeFigureOut">
              <a:rPr lang="ko-KR" altLang="en-US" smtClean="0"/>
              <a:t>2026-05-03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6F3C189-0461-4B58-6D01-E52122CAD0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8363A03-BAC6-8AC0-2AEC-F1050496A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49E57-736D-4822-94DB-B3AFF6E9E3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17325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42FCA7-D1A1-8D47-4867-D168DA9B54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F586222-997A-87FD-0EFB-F0328763AC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03F0557-68E5-B2FC-47A0-25F8A53FD1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37BED33-92B3-9433-1FDA-9E5A4AA88E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82DBADF-8F04-2317-D141-93436A0226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E2AD2E2-0A62-9B59-3409-722ED38751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004B4-5707-42DE-A501-94D4867F45C7}" type="datetimeFigureOut">
              <a:rPr lang="ko-KR" altLang="en-US" smtClean="0"/>
              <a:t>2026-05-03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7C87817-482C-C155-47A1-EBC7B682DB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23931DD-AEB6-9C18-E273-2577EFD10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49E57-736D-4822-94DB-B3AFF6E9E3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953769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F70953-9424-6B90-E6B5-C536782AC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503A4FB-137C-1582-AEDA-7745208F8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004B4-5707-42DE-A501-94D4867F45C7}" type="datetimeFigureOut">
              <a:rPr lang="ko-KR" altLang="en-US" smtClean="0"/>
              <a:t>2026-05-03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D26D349-1D9E-966C-B2EA-8F891172C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EB2E9D7-6738-7050-41C6-E9220BAA5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49E57-736D-4822-94DB-B3AFF6E9E3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090210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9A2C3F6-08C8-6E03-C89A-89044DECC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004B4-5707-42DE-A501-94D4867F45C7}" type="datetimeFigureOut">
              <a:rPr lang="ko-KR" altLang="en-US" smtClean="0"/>
              <a:t>2026-05-03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4C99DE1-2557-0092-BA11-6E6EE0B37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807D585-5CB0-B783-E901-82C226FC6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49E57-736D-4822-94DB-B3AFF6E9E3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872611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D96CBE-ED83-CBDA-077C-1C80E4FEC1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D9A65F5-E29F-25C1-861F-80848DFBDC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A7418E5-FD22-D5CF-A29D-FAFAA549F0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903124A-DD9B-01E1-CA8A-0FE62FC52E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004B4-5707-42DE-A501-94D4867F45C7}" type="datetimeFigureOut">
              <a:rPr lang="ko-KR" altLang="en-US" smtClean="0"/>
              <a:t>2026-05-03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78CADAB-B686-F3F6-86BE-7F8CE1162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CDA5636-C87F-64DC-AB46-4B22F5DA4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49E57-736D-4822-94DB-B3AFF6E9E3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771117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9AD40C-BD84-4B2E-1066-F025D33D5C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646235E-8976-5C93-ECE1-B2FC9FB288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F6B7698-1FA6-EFCC-BAC3-F15B638581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3C0A651-980C-5CBA-A816-AED4B4F17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004B4-5707-42DE-A501-94D4867F45C7}" type="datetimeFigureOut">
              <a:rPr lang="ko-KR" altLang="en-US" smtClean="0"/>
              <a:t>2026-05-03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7E4E506-888F-C34E-D2FD-BA276CEC3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6A97B13-0DFB-9E26-A6CB-23B9BAFA8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49E57-736D-4822-94DB-B3AFF6E9E3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576939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B31A6E-1843-59B4-314F-1E8EAC26B3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2D3CD1F-18C8-39E2-4955-D2536CE9C4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73A5076-BDB6-AC73-3597-7AB548EB5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004B4-5707-42DE-A501-94D4867F45C7}" type="datetimeFigureOut">
              <a:rPr lang="ko-KR" altLang="en-US" smtClean="0"/>
              <a:t>2026-05-03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D883D0F-26DB-C7CF-D270-2F7E9932F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7A3AA89-5761-A8CE-407F-83498DEE9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49E57-736D-4822-94DB-B3AFF6E9E3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754067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8EE5899-D1BD-E6AA-76ED-A5165EB4D0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BF5E598-8FC2-0F59-41D2-339A4480F0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ECAB8F3-F4B1-D89D-BAB0-38AF16BAF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004B4-5707-42DE-A501-94D4867F45C7}" type="datetimeFigureOut">
              <a:rPr lang="ko-KR" altLang="en-US" smtClean="0"/>
              <a:t>2026-05-03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2701355-AE6B-3EA5-191A-C3BE9B43D5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9BC27AC-5783-FBD3-5CAA-AC13D4614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49E57-736D-4822-94DB-B3AFF6E9E3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33203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9FEE1DF-3710-1304-D332-DEFCE6CFEC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37FB6BE-4905-92B6-79F6-CC3E119CBC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F537F3F-DB91-0384-8950-5DB58C469B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91F299-F30B-4012-817D-820C2C974525}" type="datetimeFigureOut">
              <a:rPr lang="ko-KR" altLang="en-US" smtClean="0"/>
              <a:t>2026-05-03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E7F3FEB-6351-39E5-9855-E17AC4D832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79F20B1-E63D-29A2-649B-5DF62F67FC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DFF256-EA71-4234-812B-FFE8F7B253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296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252064C-09AB-17E8-0D40-B0DC69013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15A950F-65E3-D023-0C8D-EE73170B7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31A9C25-9EFF-CE3D-3312-DF95F1B90B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C004B4-5707-42DE-A501-94D4867F45C7}" type="datetimeFigureOut">
              <a:rPr lang="ko-KR" altLang="en-US" smtClean="0"/>
              <a:t>2026-05-03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AF84928-AA34-C198-D181-2B8E789239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DBC225C-B86A-8AE7-24E7-729DF650CD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449E57-736D-4822-94DB-B3AFF6E9E3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86708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4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12" Type="http://schemas.openxmlformats.org/officeDocument/2006/relationships/customXml" Target="../ink/ink5.xml"/><Relationship Id="rId17" Type="http://schemas.openxmlformats.org/officeDocument/2006/relationships/image" Target="../media/image16.png"/><Relationship Id="rId2" Type="http://schemas.openxmlformats.org/officeDocument/2006/relationships/image" Target="../media/image4.jpeg"/><Relationship Id="rId16" Type="http://schemas.openxmlformats.org/officeDocument/2006/relationships/customXml" Target="../ink/ink7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0.png"/><Relationship Id="rId11" Type="http://schemas.openxmlformats.org/officeDocument/2006/relationships/image" Target="../media/image13.png"/><Relationship Id="rId5" Type="http://schemas.openxmlformats.org/officeDocument/2006/relationships/customXml" Target="../ink/ink2.xml"/><Relationship Id="rId15" Type="http://schemas.openxmlformats.org/officeDocument/2006/relationships/image" Target="../media/image15.png"/><Relationship Id="rId10" Type="http://schemas.openxmlformats.org/officeDocument/2006/relationships/customXml" Target="../ink/ink4.xml"/><Relationship Id="rId4" Type="http://schemas.openxmlformats.org/officeDocument/2006/relationships/image" Target="../media/image9.png"/><Relationship Id="rId9" Type="http://schemas.openxmlformats.org/officeDocument/2006/relationships/image" Target="../media/image5.jpeg"/><Relationship Id="rId14" Type="http://schemas.openxmlformats.org/officeDocument/2006/relationships/customXml" Target="../ink/ink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customXml" Target="../ink/ink13.xml"/><Relationship Id="rId3" Type="http://schemas.openxmlformats.org/officeDocument/2006/relationships/customXml" Target="../ink/ink8.xml"/><Relationship Id="rId7" Type="http://schemas.openxmlformats.org/officeDocument/2006/relationships/customXml" Target="../ink/ink10.xml"/><Relationship Id="rId12" Type="http://schemas.openxmlformats.org/officeDocument/2006/relationships/image" Target="../media/image2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11" Type="http://schemas.openxmlformats.org/officeDocument/2006/relationships/customXml" Target="../ink/ink12.xml"/><Relationship Id="rId5" Type="http://schemas.openxmlformats.org/officeDocument/2006/relationships/customXml" Target="../ink/ink9.xml"/><Relationship Id="rId10" Type="http://schemas.openxmlformats.org/officeDocument/2006/relationships/image" Target="../media/image20.png"/><Relationship Id="rId4" Type="http://schemas.openxmlformats.org/officeDocument/2006/relationships/image" Target="../media/image17.png"/><Relationship Id="rId9" Type="http://schemas.openxmlformats.org/officeDocument/2006/relationships/customXml" Target="../ink/ink11.xml"/><Relationship Id="rId1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customXml" Target="../ink/ink17.xml"/><Relationship Id="rId3" Type="http://schemas.openxmlformats.org/officeDocument/2006/relationships/image" Target="../media/image26.png"/><Relationship Id="rId7" Type="http://schemas.openxmlformats.org/officeDocument/2006/relationships/customXml" Target="../ink/ink14.xml"/><Relationship Id="rId12" Type="http://schemas.openxmlformats.org/officeDocument/2006/relationships/image" Target="../media/image32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11" Type="http://schemas.openxmlformats.org/officeDocument/2006/relationships/customXml" Target="../ink/ink16.xml"/><Relationship Id="rId5" Type="http://schemas.openxmlformats.org/officeDocument/2006/relationships/image" Target="../media/image28.png"/><Relationship Id="rId10" Type="http://schemas.openxmlformats.org/officeDocument/2006/relationships/image" Target="../media/image31.png"/><Relationship Id="rId4" Type="http://schemas.openxmlformats.org/officeDocument/2006/relationships/image" Target="../media/image27.png"/><Relationship Id="rId9" Type="http://schemas.openxmlformats.org/officeDocument/2006/relationships/customXml" Target="../ink/ink15.xml"/><Relationship Id="rId14" Type="http://schemas.openxmlformats.org/officeDocument/2006/relationships/image" Target="../media/image3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13" Type="http://schemas.openxmlformats.org/officeDocument/2006/relationships/customXml" Target="../ink/ink22.xml"/><Relationship Id="rId18" Type="http://schemas.openxmlformats.org/officeDocument/2006/relationships/image" Target="../media/image42.png"/><Relationship Id="rId3" Type="http://schemas.openxmlformats.org/officeDocument/2006/relationships/image" Target="../media/image35.png"/><Relationship Id="rId21" Type="http://schemas.openxmlformats.org/officeDocument/2006/relationships/customXml" Target="../ink/ink26.xml"/><Relationship Id="rId7" Type="http://schemas.openxmlformats.org/officeDocument/2006/relationships/customXml" Target="../ink/ink19.xml"/><Relationship Id="rId12" Type="http://schemas.openxmlformats.org/officeDocument/2006/relationships/image" Target="../media/image39.png"/><Relationship Id="rId17" Type="http://schemas.openxmlformats.org/officeDocument/2006/relationships/customXml" Target="../ink/ink24.xml"/><Relationship Id="rId2" Type="http://schemas.openxmlformats.org/officeDocument/2006/relationships/image" Target="../media/image34.png"/><Relationship Id="rId16" Type="http://schemas.openxmlformats.org/officeDocument/2006/relationships/image" Target="../media/image41.png"/><Relationship Id="rId20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11" Type="http://schemas.openxmlformats.org/officeDocument/2006/relationships/customXml" Target="../ink/ink21.xml"/><Relationship Id="rId24" Type="http://schemas.openxmlformats.org/officeDocument/2006/relationships/image" Target="../media/image45.png"/><Relationship Id="rId5" Type="http://schemas.openxmlformats.org/officeDocument/2006/relationships/customXml" Target="../ink/ink18.xml"/><Relationship Id="rId15" Type="http://schemas.openxmlformats.org/officeDocument/2006/relationships/customXml" Target="../ink/ink23.xml"/><Relationship Id="rId23" Type="http://schemas.openxmlformats.org/officeDocument/2006/relationships/customXml" Target="../ink/ink27.xml"/><Relationship Id="rId10" Type="http://schemas.openxmlformats.org/officeDocument/2006/relationships/image" Target="../media/image38.png"/><Relationship Id="rId19" Type="http://schemas.openxmlformats.org/officeDocument/2006/relationships/customXml" Target="../ink/ink25.xml"/><Relationship Id="rId4" Type="http://schemas.openxmlformats.org/officeDocument/2006/relationships/image" Target="../media/image25.png"/><Relationship Id="rId9" Type="http://schemas.openxmlformats.org/officeDocument/2006/relationships/customXml" Target="../ink/ink20.xml"/><Relationship Id="rId14" Type="http://schemas.openxmlformats.org/officeDocument/2006/relationships/image" Target="../media/image40.png"/><Relationship Id="rId22" Type="http://schemas.openxmlformats.org/officeDocument/2006/relationships/image" Target="../media/image4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08875E-440F-64F8-049E-7D77A30BA5B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Deep Generative Models</a:t>
            </a:r>
            <a:br>
              <a:rPr lang="en-US" altLang="ko-KR" dirty="0"/>
            </a:br>
            <a:r>
              <a:rPr lang="en-US" altLang="ko-KR" dirty="0"/>
              <a:t>Lecture 16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6DE6844-12A9-74C1-82CA-9F6976EC5C6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21011290 </a:t>
            </a:r>
            <a:r>
              <a:rPr lang="ko-KR" altLang="en-US" dirty="0"/>
              <a:t>전승윤</a:t>
            </a:r>
            <a:endParaRPr lang="en-US" altLang="ko-KR" dirty="0"/>
          </a:p>
          <a:p>
            <a:endParaRPr lang="en-US" altLang="ko-KR" dirty="0"/>
          </a:p>
          <a:p>
            <a:r>
              <a:rPr lang="it-IT" altLang="ko-KR" dirty="0"/>
              <a:t>Score-Based Diffusion Models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270186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4A817E-EE6D-51A2-B260-DB9CC562B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850" y="103868"/>
            <a:ext cx="10515600" cy="1325563"/>
          </a:xfrm>
        </p:spPr>
        <p:txBody>
          <a:bodyPr/>
          <a:lstStyle/>
          <a:p>
            <a:r>
              <a:rPr lang="ko-KR" altLang="en-US" dirty="0"/>
              <a:t>확률 밀도 모델의 문제점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1AC8A92-1E1D-D241-1F49-76F30B13C29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39831" y="1601003"/>
            <a:ext cx="11112337" cy="33701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ko-K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1) </a:t>
            </a:r>
            <a:r>
              <a:rPr kumimoji="0" lang="ko-KR" altLang="ko-K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자기회귀 모델 (</a:t>
            </a:r>
            <a:r>
              <a:rPr kumimoji="0" lang="ko-KR" altLang="ko-KR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Autoregressive</a:t>
            </a:r>
            <a:r>
              <a:rPr kumimoji="0" lang="ko-KR" altLang="ko-K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): 데이터를 순차적으로 생성.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ko-K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2) </a:t>
            </a:r>
            <a:r>
              <a:rPr kumimoji="0" lang="ko-KR" altLang="ko-K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흐름 모델 (</a:t>
            </a:r>
            <a:r>
              <a:rPr kumimoji="0" lang="ko-KR" altLang="ko-KR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Flow</a:t>
            </a:r>
            <a:r>
              <a:rPr kumimoji="0" lang="ko-KR" altLang="ko-K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 </a:t>
            </a:r>
            <a:r>
              <a:rPr kumimoji="0" lang="ko-KR" altLang="ko-KR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models</a:t>
            </a:r>
            <a:r>
              <a:rPr kumimoji="0" lang="ko-KR" altLang="ko-K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): 가역적인 함수를 통해 데이터를 변환.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ko-K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3) </a:t>
            </a:r>
            <a:r>
              <a:rPr kumimoji="0" lang="ko-KR" altLang="ko-K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VAE (</a:t>
            </a:r>
            <a:r>
              <a:rPr kumimoji="0" lang="ko-KR" altLang="ko-KR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Variational</a:t>
            </a:r>
            <a:r>
              <a:rPr kumimoji="0" lang="ko-KR" altLang="ko-K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 </a:t>
            </a:r>
            <a:r>
              <a:rPr kumimoji="0" lang="ko-KR" altLang="ko-KR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Autoencoders</a:t>
            </a:r>
            <a:r>
              <a:rPr kumimoji="0" lang="ko-KR" altLang="ko-K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): 잠재 공간(</a:t>
            </a:r>
            <a:r>
              <a:rPr kumimoji="0" lang="ko-KR" altLang="ko-KR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Z</a:t>
            </a:r>
            <a:r>
              <a:rPr kumimoji="0" lang="ko-KR" altLang="ko-K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)을 통해 확률을 근사. </a:t>
            </a:r>
          </a:p>
          <a:p>
            <a:pPr marL="0" lvl="0" indent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ko-K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4) </a:t>
            </a:r>
            <a:r>
              <a:rPr kumimoji="0" lang="ko-KR" altLang="ko-K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에너지 기반 모델 (</a:t>
            </a:r>
            <a:r>
              <a:rPr kumimoji="0" lang="ko-KR" altLang="ko-KR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EBMs</a:t>
            </a:r>
            <a:r>
              <a:rPr kumimoji="0" lang="ko-KR" altLang="ko-K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): 에너지를 정의하고 </a:t>
            </a:r>
            <a:r>
              <a:rPr kumimoji="0" lang="ko-KR" altLang="ko-KR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소프트맥스와</a:t>
            </a:r>
            <a:r>
              <a:rPr kumimoji="0" lang="ko-KR" altLang="ko-K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 유사한 정규화 상수(</a:t>
            </a:r>
            <a:r>
              <a:rPr kumimoji="0" lang="ko-KR" altLang="ko-KR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Z</a:t>
            </a:r>
            <a:r>
              <a:rPr kumimoji="0" lang="ko-KR" altLang="ko-K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(</a:t>
            </a:r>
            <a:r>
              <a:rPr lang="el-GR" altLang="ko-KR" sz="2000" dirty="0"/>
              <a:t>θ</a:t>
            </a:r>
            <a:r>
              <a:rPr kumimoji="0" lang="ko-KR" altLang="ko-K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))를 사용. </a:t>
            </a:r>
            <a:endParaRPr kumimoji="0" lang="en-US" altLang="ko-KR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Google Sans Text"/>
            </a:endParaRPr>
          </a:p>
          <a:p>
            <a:pPr marL="0" lvl="0" indent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ko-KR" sz="2000" dirty="0">
              <a:latin typeface="Arial" panose="020B0604020202020204" pitchFamily="34" charset="0"/>
            </a:endParaRPr>
          </a:p>
          <a:p>
            <a:pPr marL="0" lvl="0" indent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ko-KR" altLang="en-US" sz="200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모두 확률 밀도 함수 </a:t>
            </a:r>
            <a:r>
              <a:rPr lang="en-US" altLang="ko-KR" sz="2000" dirty="0">
                <a:solidFill>
                  <a:srgbClr val="FF0000"/>
                </a:solidFill>
                <a:latin typeface="Arial" panose="020B0604020202020204" pitchFamily="34" charset="0"/>
              </a:rPr>
              <a:t>P(x)</a:t>
            </a:r>
            <a:r>
              <a:rPr lang="ko-KR" altLang="en-US" sz="2000" dirty="0">
                <a:solidFill>
                  <a:srgbClr val="FF0000"/>
                </a:solidFill>
                <a:latin typeface="Arial" panose="020B0604020202020204" pitchFamily="34" charset="0"/>
              </a:rPr>
              <a:t>를</a:t>
            </a:r>
            <a:r>
              <a:rPr lang="en-US" altLang="ko-KR" sz="2000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lang="ko-KR" altLang="en-US" sz="2000" dirty="0">
                <a:solidFill>
                  <a:srgbClr val="FF0000"/>
                </a:solidFill>
                <a:latin typeface="Arial" panose="020B0604020202020204" pitchFamily="34" charset="0"/>
              </a:rPr>
              <a:t>직접 구하려고 함</a:t>
            </a:r>
            <a:r>
              <a:rPr lang="en-US" altLang="ko-KR" sz="2000" dirty="0">
                <a:solidFill>
                  <a:srgbClr val="FF0000"/>
                </a:solidFill>
                <a:latin typeface="Arial" panose="020B0604020202020204" pitchFamily="34" charset="0"/>
              </a:rPr>
              <a:t>.</a:t>
            </a:r>
          </a:p>
          <a:p>
            <a:pPr marL="0" lvl="0" indent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ko-KR" sz="200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ko-KR" altLang="en-US" sz="1800" dirty="0">
                <a:solidFill>
                  <a:srgbClr val="FF0000"/>
                </a:solidFill>
                <a:latin typeface="Arial" panose="020B0604020202020204" pitchFamily="34" charset="0"/>
              </a:rPr>
              <a:t>확률은 다 더해서 </a:t>
            </a:r>
            <a:r>
              <a:rPr lang="en-US" altLang="ko-KR" sz="1800" dirty="0">
                <a:solidFill>
                  <a:srgbClr val="FF0000"/>
                </a:solidFill>
                <a:latin typeface="Arial" panose="020B0604020202020204" pitchFamily="34" charset="0"/>
              </a:rPr>
              <a:t>1</a:t>
            </a:r>
            <a:r>
              <a:rPr lang="ko-KR" altLang="en-US" sz="1800" dirty="0">
                <a:solidFill>
                  <a:srgbClr val="FF0000"/>
                </a:solidFill>
                <a:latin typeface="Arial" panose="020B0604020202020204" pitchFamily="34" charset="0"/>
              </a:rPr>
              <a:t>이 되어야 한다는 규칙 때문에</a:t>
            </a:r>
            <a:r>
              <a:rPr lang="en-US" altLang="ko-KR" sz="1800" dirty="0">
                <a:solidFill>
                  <a:srgbClr val="FF0000"/>
                </a:solidFill>
                <a:latin typeface="Arial" panose="020B0604020202020204" pitchFamily="34" charset="0"/>
              </a:rPr>
              <a:t>, </a:t>
            </a:r>
            <a:r>
              <a:rPr lang="ko-KR" altLang="en-US" sz="1800" dirty="0">
                <a:solidFill>
                  <a:srgbClr val="FF0000"/>
                </a:solidFill>
                <a:latin typeface="Arial" panose="020B0604020202020204" pitchFamily="34" charset="0"/>
              </a:rPr>
              <a:t>분모인 정규화 상수 </a:t>
            </a:r>
            <a:r>
              <a:rPr lang="en-US" altLang="ko-KR" sz="1800" dirty="0">
                <a:solidFill>
                  <a:srgbClr val="FF0000"/>
                </a:solidFill>
                <a:latin typeface="Arial" panose="020B0604020202020204" pitchFamily="34" charset="0"/>
              </a:rPr>
              <a:t>Z(</a:t>
            </a:r>
            <a:r>
              <a:rPr lang="el-GR" altLang="ko-KR" sz="1800" dirty="0">
                <a:solidFill>
                  <a:srgbClr val="FF0000"/>
                </a:solidFill>
              </a:rPr>
              <a:t>θ</a:t>
            </a:r>
            <a:r>
              <a:rPr lang="en-US" altLang="ko-KR" sz="1800" dirty="0">
                <a:solidFill>
                  <a:srgbClr val="FF0000"/>
                </a:solidFill>
              </a:rPr>
              <a:t>)</a:t>
            </a:r>
            <a:r>
              <a:rPr lang="ko-KR" altLang="en-US" sz="1800" dirty="0">
                <a:solidFill>
                  <a:srgbClr val="FF0000"/>
                </a:solidFill>
              </a:rPr>
              <a:t>를 </a:t>
            </a:r>
            <a:r>
              <a:rPr lang="ko-KR" altLang="en-US" sz="1800" dirty="0" err="1">
                <a:solidFill>
                  <a:srgbClr val="FF0000"/>
                </a:solidFill>
              </a:rPr>
              <a:t>계산해야함</a:t>
            </a:r>
            <a:r>
              <a:rPr lang="en-US" altLang="ko-KR" sz="1800" dirty="0">
                <a:solidFill>
                  <a:srgbClr val="FF0000"/>
                </a:solidFill>
              </a:rPr>
              <a:t>. </a:t>
            </a:r>
            <a:r>
              <a:rPr lang="en-US" altLang="ko-KR" sz="1800" dirty="0">
                <a:solidFill>
                  <a:srgbClr val="002060"/>
                </a:solidFill>
              </a:rPr>
              <a:t>(</a:t>
            </a:r>
            <a:r>
              <a:rPr lang="ko-KR" altLang="en-US" sz="1800" dirty="0">
                <a:solidFill>
                  <a:srgbClr val="002060"/>
                </a:solidFill>
              </a:rPr>
              <a:t>불가능</a:t>
            </a:r>
            <a:r>
              <a:rPr lang="en-US" altLang="ko-KR" sz="1800" dirty="0">
                <a:solidFill>
                  <a:srgbClr val="002060"/>
                </a:solidFill>
              </a:rPr>
              <a:t>, </a:t>
            </a:r>
            <a:r>
              <a:rPr lang="ko-KR" altLang="en-US" sz="1800" dirty="0">
                <a:solidFill>
                  <a:srgbClr val="002060"/>
                </a:solidFill>
              </a:rPr>
              <a:t>문제점</a:t>
            </a:r>
            <a:r>
              <a:rPr lang="en-US" altLang="ko-KR" sz="1800" dirty="0">
                <a:solidFill>
                  <a:srgbClr val="002060"/>
                </a:solidFill>
              </a:rPr>
              <a:t>)</a:t>
            </a:r>
            <a:endParaRPr lang="en-US" altLang="ko-KR" sz="1800" dirty="0">
              <a:solidFill>
                <a:srgbClr val="002060"/>
              </a:solidFill>
              <a:latin typeface="Arial" panose="020B0604020202020204" pitchFamily="34" charset="0"/>
            </a:endParaRPr>
          </a:p>
          <a:p>
            <a:pPr marL="0" lvl="0" indent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ko-KR" sz="180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ko-KR" sz="2000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marL="0" lvl="0" indent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ko-KR" altLang="ko-KR" sz="200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844D49D-9E7F-CFD6-B0BC-DECF0F9964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850" y="4272742"/>
            <a:ext cx="10648950" cy="2324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4127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BEB66D-EC69-AEB5-57FE-A6D2CC3FD8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197" y="18255"/>
            <a:ext cx="10515600" cy="1325563"/>
          </a:xfrm>
        </p:spPr>
        <p:txBody>
          <a:bodyPr/>
          <a:lstStyle/>
          <a:p>
            <a:r>
              <a:rPr lang="ko-KR" altLang="en-US" dirty="0"/>
              <a:t>샘플링 기반 방식</a:t>
            </a:r>
            <a:r>
              <a:rPr lang="en-US" altLang="ko-KR" dirty="0"/>
              <a:t>(GAN)</a:t>
            </a:r>
            <a:r>
              <a:rPr lang="ko-KR" altLang="en-US" dirty="0"/>
              <a:t>의 문제점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4CEC5D2-4ED0-AE3C-60EA-275C04C719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3197" y="1343818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800" dirty="0"/>
              <a:t>1)</a:t>
            </a:r>
            <a:r>
              <a:rPr lang="ko-KR" altLang="en-US" sz="1800" dirty="0"/>
              <a:t>장점 </a:t>
            </a:r>
            <a:r>
              <a:rPr lang="en-US" altLang="ko-KR" sz="1800" dirty="0">
                <a:solidFill>
                  <a:srgbClr val="FF0000"/>
                </a:solidFill>
              </a:rPr>
              <a:t>(</a:t>
            </a:r>
            <a:r>
              <a:rPr lang="ko-KR" altLang="en-US" sz="1800" dirty="0">
                <a:solidFill>
                  <a:srgbClr val="FF0000"/>
                </a:solidFill>
              </a:rPr>
              <a:t>문제해결</a:t>
            </a:r>
            <a:r>
              <a:rPr lang="en-US" altLang="ko-KR" sz="1800" dirty="0">
                <a:solidFill>
                  <a:srgbClr val="FF0000"/>
                </a:solidFill>
              </a:rPr>
              <a:t>)</a:t>
            </a:r>
          </a:p>
          <a:p>
            <a:pPr marL="0" indent="0">
              <a:buNone/>
            </a:pPr>
            <a:r>
              <a:rPr lang="en-US" altLang="ko-KR" sz="1800" dirty="0"/>
              <a:t>-</a:t>
            </a:r>
            <a:r>
              <a:rPr lang="ko-KR" altLang="en-US" sz="1800" dirty="0">
                <a:solidFill>
                  <a:srgbClr val="FF0000"/>
                </a:solidFill>
              </a:rPr>
              <a:t>확률 계산을 포기</a:t>
            </a:r>
            <a:r>
              <a:rPr lang="ko-KR" altLang="en-US" sz="1800" dirty="0"/>
              <a:t>하고 </a:t>
            </a:r>
            <a:r>
              <a:rPr lang="en-US" altLang="ko-KR" sz="1800" dirty="0"/>
              <a:t>'</a:t>
            </a:r>
            <a:r>
              <a:rPr lang="ko-KR" altLang="en-US" sz="1800" dirty="0"/>
              <a:t>그리기 샘플링</a:t>
            </a:r>
            <a:r>
              <a:rPr lang="en-US" altLang="ko-KR" sz="1800" dirty="0"/>
              <a:t>' </a:t>
            </a:r>
            <a:r>
              <a:rPr lang="ko-KR" altLang="en-US" sz="1800" dirty="0"/>
              <a:t>과정에만 집중</a:t>
            </a:r>
            <a:r>
              <a:rPr lang="en-US" altLang="ko-KR" sz="1800" dirty="0"/>
              <a:t>, </a:t>
            </a:r>
            <a:r>
              <a:rPr lang="ko-KR" altLang="en-US" sz="1800" dirty="0"/>
              <a:t>샘플의 품질 매우 뛰어남</a:t>
            </a:r>
            <a:r>
              <a:rPr lang="en-US" altLang="ko-KR" sz="1800" dirty="0"/>
              <a:t>.</a:t>
            </a:r>
          </a:p>
          <a:p>
            <a:pPr marL="0" indent="0">
              <a:buNone/>
            </a:pPr>
            <a:r>
              <a:rPr lang="en-US" altLang="ko-KR" sz="1800" dirty="0"/>
              <a:t>2)</a:t>
            </a:r>
            <a:r>
              <a:rPr lang="ko-KR" altLang="en-US" sz="1800" dirty="0"/>
              <a:t>단점 </a:t>
            </a:r>
            <a:r>
              <a:rPr lang="en-US" altLang="ko-KR" sz="1800" dirty="0">
                <a:solidFill>
                  <a:srgbClr val="FF0000"/>
                </a:solidFill>
              </a:rPr>
              <a:t>(</a:t>
            </a:r>
            <a:r>
              <a:rPr lang="ko-KR" altLang="en-US" sz="1800" dirty="0">
                <a:solidFill>
                  <a:srgbClr val="FF0000"/>
                </a:solidFill>
              </a:rPr>
              <a:t>문제점</a:t>
            </a:r>
            <a:r>
              <a:rPr lang="en-US" altLang="ko-KR" sz="1800" dirty="0">
                <a:solidFill>
                  <a:srgbClr val="FF0000"/>
                </a:solidFill>
              </a:rPr>
              <a:t>)</a:t>
            </a:r>
          </a:p>
          <a:p>
            <a:pPr marL="0" indent="0">
              <a:buNone/>
            </a:pPr>
            <a:r>
              <a:rPr lang="en-US" altLang="ko-KR" sz="1800" dirty="0"/>
              <a:t>-</a:t>
            </a:r>
            <a:r>
              <a:rPr lang="ko-KR" altLang="en-US" sz="1800" dirty="0"/>
              <a:t>적대적 학습이 불안정</a:t>
            </a:r>
            <a:endParaRPr lang="en-US" altLang="ko-KR" sz="1800" dirty="0"/>
          </a:p>
          <a:p>
            <a:pPr marL="0" indent="0">
              <a:buNone/>
            </a:pPr>
            <a:r>
              <a:rPr lang="en-US" altLang="ko-KR" sz="1800" dirty="0"/>
              <a:t>-</a:t>
            </a:r>
            <a:r>
              <a:rPr lang="ko-KR" altLang="en-US" sz="1800" dirty="0"/>
              <a:t>한 가지 이미지만 계속 그리는 모드 붕괴</a:t>
            </a:r>
            <a:r>
              <a:rPr lang="en-US" altLang="ko-KR" sz="1800" dirty="0"/>
              <a:t>(Mode collapse)</a:t>
            </a:r>
            <a:r>
              <a:rPr lang="ko-KR" altLang="en-US" sz="1800" dirty="0"/>
              <a:t>가 발생하기 쉬움</a:t>
            </a:r>
            <a:r>
              <a:rPr lang="en-US" altLang="ko-KR" sz="1800" dirty="0"/>
              <a:t>. </a:t>
            </a:r>
          </a:p>
          <a:p>
            <a:pPr marL="0" indent="0">
              <a:buNone/>
            </a:pPr>
            <a:r>
              <a:rPr lang="en-US" altLang="ko-KR" sz="1800" dirty="0"/>
              <a:t>-</a:t>
            </a:r>
            <a:r>
              <a:rPr lang="ko-KR" altLang="en-US" sz="1800" dirty="0"/>
              <a:t>모델 비교나 학습 종료 시점이 불분명</a:t>
            </a:r>
            <a:r>
              <a:rPr lang="en-US" altLang="ko-KR" sz="1800" dirty="0"/>
              <a:t>.</a:t>
            </a:r>
            <a:endParaRPr lang="ko-KR" altLang="en-US" sz="18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1979619-8F1E-6225-C959-D4315AEA17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9297" y="4067061"/>
            <a:ext cx="3619500" cy="19812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EE62770-21EF-1CD0-D4E4-E169ED4971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197" y="4067061"/>
            <a:ext cx="5895975" cy="2181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9545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636574-C519-5EA8-1DF2-7E02766D3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821" y="0"/>
            <a:ext cx="10515600" cy="1325563"/>
          </a:xfrm>
        </p:spPr>
        <p:txBody>
          <a:bodyPr/>
          <a:lstStyle/>
          <a:p>
            <a:r>
              <a:rPr lang="ko-KR" altLang="en-US" dirty="0"/>
              <a:t>스코어 함수</a:t>
            </a:r>
            <a:r>
              <a:rPr lang="en-US" altLang="ko-KR" dirty="0"/>
              <a:t>? </a:t>
            </a:r>
            <a:r>
              <a:rPr lang="ko-KR" altLang="en-US" dirty="0"/>
              <a:t>스코어 기반 모델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864783F-F626-DF5D-9368-863812C7503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6476" y="1325563"/>
            <a:ext cx="12026113" cy="30931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산의 높이(</a:t>
            </a:r>
            <a:r>
              <a:rPr kumimoji="0" lang="ko-KR" altLang="ko-KR" sz="1800" b="1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ea typeface="Google Sans Text"/>
              </a:rPr>
              <a:t>p</a:t>
            </a: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ea typeface="Google Sans Text"/>
              </a:rPr>
              <a:t>(</a:t>
            </a:r>
            <a:r>
              <a:rPr kumimoji="0" lang="ko-KR" altLang="ko-KR" sz="1800" b="1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ea typeface="Google Sans Text"/>
              </a:rPr>
              <a:t>x</a:t>
            </a: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ea typeface="Google Sans Text"/>
              </a:rPr>
              <a:t>)</a:t>
            </a: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)</a:t>
            </a:r>
            <a:r>
              <a:rPr kumimoji="0" lang="ko-KR" altLang="ko-KR" sz="1800" b="1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를</a:t>
            </a: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 직접 재는 게 너무 힘들다면, </a:t>
            </a:r>
            <a:endParaRPr kumimoji="0" lang="en-US" altLang="ko-KR" sz="18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산의 모든 지점에 </a:t>
            </a: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ea typeface="Google Sans Text"/>
              </a:rPr>
              <a:t>'정상(확률이 높은 곳)</a:t>
            </a:r>
            <a:r>
              <a:rPr kumimoji="0" lang="ko-KR" altLang="ko-KR" sz="1800" b="1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ea typeface="Google Sans Text"/>
              </a:rPr>
              <a:t>으로</a:t>
            </a: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ea typeface="Google Sans Text"/>
              </a:rPr>
              <a:t> 가려면 어디로 가야 하는지'</a:t>
            </a: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 알려주는 화살표만 꽂아두면 어떨까?</a:t>
            </a:r>
            <a:endParaRPr kumimoji="0" lang="en-US" altLang="ko-KR" sz="18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ko-KR" sz="1800" b="1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ko-KR" sz="18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ko-KR" sz="1800" b="1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ko-KR" sz="1800" b="1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ko-KR" sz="1800" b="1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marL="0" lvl="0" indent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ko-KR" sz="1800" dirty="0"/>
          </a:p>
          <a:p>
            <a:pPr marL="0" lvl="0" indent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ko-KR" sz="1800" dirty="0"/>
          </a:p>
          <a:p>
            <a:pPr marL="0" lvl="0" indent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ko-KR" altLang="en-US" sz="1800" dirty="0"/>
              <a:t>스코어는 데이터 공간의 각 지점에서 어느 방향으로 가야 </a:t>
            </a:r>
            <a:endParaRPr lang="en-US" altLang="ko-KR" sz="1800" dirty="0"/>
          </a:p>
          <a:p>
            <a:pPr marL="0" lvl="0" indent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ko-KR" altLang="en-US" sz="1800" dirty="0"/>
              <a:t>데이터가 더 진짜 같아지는지를 알려주는 </a:t>
            </a:r>
            <a:r>
              <a:rPr lang="en-US" altLang="ko-KR" sz="1800" dirty="0">
                <a:solidFill>
                  <a:srgbClr val="FF0000"/>
                </a:solidFill>
              </a:rPr>
              <a:t>Vector Field</a:t>
            </a:r>
            <a:r>
              <a:rPr lang="ko-KR" altLang="en-US" sz="1800" dirty="0"/>
              <a:t>와 같다</a:t>
            </a:r>
            <a:r>
              <a:rPr lang="en-US" altLang="ko-KR" sz="1800" dirty="0"/>
              <a:t>.</a:t>
            </a:r>
            <a:r>
              <a:rPr kumimoji="0" lang="en-US" altLang="ko-KR" sz="1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                                                                                     </a:t>
            </a:r>
            <a:endParaRPr kumimoji="0" lang="ko-KR" altLang="ko-KR" sz="18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C40DECB-B67B-0B83-64BA-C61D2C65EA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476" y="1998439"/>
            <a:ext cx="5543550" cy="7905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C11A407-8CE2-4A2B-81C7-812A8ADF5791}"/>
              </a:ext>
            </a:extLst>
          </p:cNvPr>
          <p:cNvSpPr txBox="1"/>
          <p:nvPr/>
        </p:nvSpPr>
        <p:spPr>
          <a:xfrm>
            <a:off x="6191976" y="2209060"/>
            <a:ext cx="47612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로그 확률 밀도의 </a:t>
            </a:r>
            <a:r>
              <a:rPr kumimoji="0" lang="ko-KR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그래디언트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=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스코어 함수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9" name="잉크 8">
                <a:extLst>
                  <a:ext uri="{FF2B5EF4-FFF2-40B4-BE49-F238E27FC236}">
                    <a16:creationId xmlns:a16="http://schemas.microsoft.com/office/drawing/2014/main" id="{BD890707-8906-9690-7492-6DA3856A9B56}"/>
                  </a:ext>
                </a:extLst>
              </p14:cNvPr>
              <p14:cNvContentPartPr/>
              <p14:nvPr/>
            </p14:nvContentPartPr>
            <p14:xfrm>
              <a:off x="5925689" y="2386987"/>
              <a:ext cx="368640" cy="720"/>
            </p14:xfrm>
          </p:contentPart>
        </mc:Choice>
        <mc:Fallback xmlns="">
          <p:pic>
            <p:nvPicPr>
              <p:cNvPr id="9" name="잉크 8">
                <a:extLst>
                  <a:ext uri="{FF2B5EF4-FFF2-40B4-BE49-F238E27FC236}">
                    <a16:creationId xmlns:a16="http://schemas.microsoft.com/office/drawing/2014/main" id="{BD890707-8906-9690-7492-6DA3856A9B5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916689" y="2368987"/>
                <a:ext cx="38628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2" name="그룹 11">
            <a:extLst>
              <a:ext uri="{FF2B5EF4-FFF2-40B4-BE49-F238E27FC236}">
                <a16:creationId xmlns:a16="http://schemas.microsoft.com/office/drawing/2014/main" id="{1AEFD901-29F6-BDD2-C65D-A4C193E14D7C}"/>
              </a:ext>
            </a:extLst>
          </p:cNvPr>
          <p:cNvGrpSpPr/>
          <p:nvPr/>
        </p:nvGrpSpPr>
        <p:grpSpPr>
          <a:xfrm>
            <a:off x="6064289" y="2272867"/>
            <a:ext cx="229680" cy="295200"/>
            <a:chOff x="6064289" y="2272867"/>
            <a:chExt cx="229680" cy="295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0" name="잉크 9">
                  <a:extLst>
                    <a:ext uri="{FF2B5EF4-FFF2-40B4-BE49-F238E27FC236}">
                      <a16:creationId xmlns:a16="http://schemas.microsoft.com/office/drawing/2014/main" id="{8880912F-B8C3-0C0B-1E4C-7436946D0173}"/>
                    </a:ext>
                  </a:extLst>
                </p14:cNvPr>
                <p14:cNvContentPartPr/>
                <p14:nvPr/>
              </p14:nvContentPartPr>
              <p14:xfrm>
                <a:off x="6064289" y="2272867"/>
                <a:ext cx="205920" cy="114480"/>
              </p14:xfrm>
            </p:contentPart>
          </mc:Choice>
          <mc:Fallback xmlns="">
            <p:pic>
              <p:nvPicPr>
                <p:cNvPr id="10" name="잉크 9">
                  <a:extLst>
                    <a:ext uri="{FF2B5EF4-FFF2-40B4-BE49-F238E27FC236}">
                      <a16:creationId xmlns:a16="http://schemas.microsoft.com/office/drawing/2014/main" id="{8880912F-B8C3-0C0B-1E4C-7436946D0173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055289" y="2264227"/>
                  <a:ext cx="22356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E588B578-536D-BC07-0F52-8E05279B6C37}"/>
                    </a:ext>
                  </a:extLst>
                </p14:cNvPr>
                <p14:cNvContentPartPr/>
                <p14:nvPr/>
              </p14:nvContentPartPr>
              <p14:xfrm>
                <a:off x="6107849" y="2398507"/>
                <a:ext cx="186120" cy="169560"/>
              </p14:xfrm>
            </p:contentPart>
          </mc:Choice>
          <mc:Fallback xmlns=""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E588B578-536D-BC07-0F52-8E05279B6C37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099209" y="2389867"/>
                  <a:ext cx="203760" cy="18720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14" name="그림 13">
            <a:extLst>
              <a:ext uri="{FF2B5EF4-FFF2-40B4-BE49-F238E27FC236}">
                <a16:creationId xmlns:a16="http://schemas.microsoft.com/office/drawing/2014/main" id="{80859160-BB13-5FD1-4B9E-3AA37C846FF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2296" y="2789014"/>
            <a:ext cx="3667125" cy="4019550"/>
          </a:xfrm>
          <a:prstGeom prst="rect">
            <a:avLst/>
          </a:prstGeom>
        </p:spPr>
      </p:pic>
      <p:grpSp>
        <p:nvGrpSpPr>
          <p:cNvPr id="18" name="그룹 17">
            <a:extLst>
              <a:ext uri="{FF2B5EF4-FFF2-40B4-BE49-F238E27FC236}">
                <a16:creationId xmlns:a16="http://schemas.microsoft.com/office/drawing/2014/main" id="{F35D0A04-948E-3663-6C65-5DF39BF6269E}"/>
              </a:ext>
            </a:extLst>
          </p:cNvPr>
          <p:cNvGrpSpPr/>
          <p:nvPr/>
        </p:nvGrpSpPr>
        <p:grpSpPr>
          <a:xfrm>
            <a:off x="7790087" y="3336667"/>
            <a:ext cx="713160" cy="2323440"/>
            <a:chOff x="7790087" y="3336667"/>
            <a:chExt cx="713160" cy="2323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4DF35AB7-89FC-39F5-9A42-453B4703EDCD}"/>
                    </a:ext>
                  </a:extLst>
                </p14:cNvPr>
                <p14:cNvContentPartPr/>
                <p14:nvPr/>
              </p14:nvContentPartPr>
              <p14:xfrm>
                <a:off x="7790087" y="3336667"/>
                <a:ext cx="701640" cy="2323440"/>
              </p14:xfrm>
            </p:contentPart>
          </mc:Choice>
          <mc:Fallback xmlns="">
            <p:pic>
              <p:nvPicPr>
                <p:cNvPr id="16" name="잉크 15">
                  <a:extLst>
                    <a:ext uri="{FF2B5EF4-FFF2-40B4-BE49-F238E27FC236}">
                      <a16:creationId xmlns:a16="http://schemas.microsoft.com/office/drawing/2014/main" id="{4DF35AB7-89FC-39F5-9A42-453B4703EDCD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754087" y="3300667"/>
                  <a:ext cx="773280" cy="239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7" name="잉크 16">
                  <a:extLst>
                    <a:ext uri="{FF2B5EF4-FFF2-40B4-BE49-F238E27FC236}">
                      <a16:creationId xmlns:a16="http://schemas.microsoft.com/office/drawing/2014/main" id="{5F1F3B0D-F95D-61A8-C54E-3CF72329FD62}"/>
                    </a:ext>
                  </a:extLst>
                </p14:cNvPr>
                <p14:cNvContentPartPr/>
                <p14:nvPr/>
              </p14:nvContentPartPr>
              <p14:xfrm>
                <a:off x="8241167" y="5342587"/>
                <a:ext cx="262080" cy="239040"/>
              </p14:xfrm>
            </p:contentPart>
          </mc:Choice>
          <mc:Fallback xmlns="">
            <p:pic>
              <p:nvPicPr>
                <p:cNvPr id="17" name="잉크 16">
                  <a:extLst>
                    <a:ext uri="{FF2B5EF4-FFF2-40B4-BE49-F238E27FC236}">
                      <a16:creationId xmlns:a16="http://schemas.microsoft.com/office/drawing/2014/main" id="{5F1F3B0D-F95D-61A8-C54E-3CF72329FD62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205167" y="5306947"/>
                  <a:ext cx="333720" cy="310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5EE62755-41FB-B5E8-5BF6-635D0AD47E51}"/>
              </a:ext>
            </a:extLst>
          </p:cNvPr>
          <p:cNvGrpSpPr/>
          <p:nvPr/>
        </p:nvGrpSpPr>
        <p:grpSpPr>
          <a:xfrm>
            <a:off x="9996527" y="3598387"/>
            <a:ext cx="596520" cy="1911960"/>
            <a:chOff x="9996527" y="3598387"/>
            <a:chExt cx="596520" cy="1911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9" name="잉크 18">
                  <a:extLst>
                    <a:ext uri="{FF2B5EF4-FFF2-40B4-BE49-F238E27FC236}">
                      <a16:creationId xmlns:a16="http://schemas.microsoft.com/office/drawing/2014/main" id="{33F6E514-1C14-E20B-D08F-149495F9CA75}"/>
                    </a:ext>
                  </a:extLst>
                </p14:cNvPr>
                <p14:cNvContentPartPr/>
                <p14:nvPr/>
              </p14:nvContentPartPr>
              <p14:xfrm>
                <a:off x="9996527" y="3598387"/>
                <a:ext cx="596520" cy="1911960"/>
              </p14:xfrm>
            </p:contentPart>
          </mc:Choice>
          <mc:Fallback xmlns="">
            <p:pic>
              <p:nvPicPr>
                <p:cNvPr id="19" name="잉크 18">
                  <a:extLst>
                    <a:ext uri="{FF2B5EF4-FFF2-40B4-BE49-F238E27FC236}">
                      <a16:creationId xmlns:a16="http://schemas.microsoft.com/office/drawing/2014/main" id="{33F6E514-1C14-E20B-D08F-149495F9CA75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9960527" y="3562387"/>
                  <a:ext cx="668160" cy="19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0" name="잉크 19">
                  <a:extLst>
                    <a:ext uri="{FF2B5EF4-FFF2-40B4-BE49-F238E27FC236}">
                      <a16:creationId xmlns:a16="http://schemas.microsoft.com/office/drawing/2014/main" id="{E956E5C9-F5BD-7E8E-B34B-4D559620418F}"/>
                    </a:ext>
                  </a:extLst>
                </p14:cNvPr>
                <p14:cNvContentPartPr/>
                <p14:nvPr/>
              </p14:nvContentPartPr>
              <p14:xfrm>
                <a:off x="10307567" y="3645547"/>
                <a:ext cx="230760" cy="317880"/>
              </p14:xfrm>
            </p:contentPart>
          </mc:Choice>
          <mc:Fallback xmlns="">
            <p:pic>
              <p:nvPicPr>
                <p:cNvPr id="20" name="잉크 19">
                  <a:extLst>
                    <a:ext uri="{FF2B5EF4-FFF2-40B4-BE49-F238E27FC236}">
                      <a16:creationId xmlns:a16="http://schemas.microsoft.com/office/drawing/2014/main" id="{E956E5C9-F5BD-7E8E-B34B-4D559620418F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0271927" y="3609547"/>
                  <a:ext cx="302400" cy="38952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15183571-0D9B-9A06-DD2D-BD4A5BFFCEB6}"/>
              </a:ext>
            </a:extLst>
          </p:cNvPr>
          <p:cNvSpPr txBox="1"/>
          <p:nvPr/>
        </p:nvSpPr>
        <p:spPr>
          <a:xfrm>
            <a:off x="10023997" y="3229055"/>
            <a:ext cx="831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50000"/>
                    <a:lumOff val="50000"/>
                  </a:srgbClr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진짜</a:t>
            </a:r>
          </a:p>
        </p:txBody>
      </p:sp>
    </p:spTree>
    <p:extLst>
      <p:ext uri="{BB962C8B-B14F-4D97-AF65-F5344CB8AC3E}">
        <p14:creationId xmlns:p14="http://schemas.microsoft.com/office/powerpoint/2010/main" val="8337381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45A55C5-A9F5-CE69-BBA6-E67CC5DA84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altLang="ko-KR" sz="4800" dirty="0">
                <a:solidFill>
                  <a:srgbClr val="FF0000"/>
                </a:solidFill>
              </a:rPr>
              <a:t>‘</a:t>
            </a:r>
            <a:r>
              <a:rPr lang="ko-KR" altLang="en-US" sz="4800" dirty="0">
                <a:solidFill>
                  <a:srgbClr val="FF0000"/>
                </a:solidFill>
              </a:rPr>
              <a:t>스코어 기반 모델</a:t>
            </a:r>
            <a:r>
              <a:rPr lang="en-US" altLang="ko-KR" sz="4800" dirty="0">
                <a:solidFill>
                  <a:srgbClr val="FF0000"/>
                </a:solidFill>
              </a:rPr>
              <a:t>‘ </a:t>
            </a:r>
            <a:r>
              <a:rPr lang="ko-KR" altLang="en-US" sz="4800" dirty="0"/>
              <a:t>에서</a:t>
            </a:r>
            <a:endParaRPr lang="en-US" altLang="ko-KR" sz="4800" dirty="0"/>
          </a:p>
          <a:p>
            <a:pPr marL="0" indent="0" algn="ctr">
              <a:buNone/>
            </a:pPr>
            <a:endParaRPr lang="en-US" altLang="ko-KR" sz="4800" dirty="0"/>
          </a:p>
          <a:p>
            <a:pPr marL="0" indent="0" algn="ctr">
              <a:buNone/>
            </a:pPr>
            <a:r>
              <a:rPr lang="ko-KR" altLang="en-US" sz="4800" dirty="0"/>
              <a:t>어떻게 </a:t>
            </a:r>
            <a:r>
              <a:rPr lang="en-US" altLang="ko-KR" sz="4800" dirty="0">
                <a:solidFill>
                  <a:srgbClr val="FF0000"/>
                </a:solidFill>
              </a:rPr>
              <a:t>‘</a:t>
            </a:r>
            <a:r>
              <a:rPr lang="ko-KR" altLang="en-US" sz="4800" dirty="0">
                <a:solidFill>
                  <a:srgbClr val="FF0000"/>
                </a:solidFill>
              </a:rPr>
              <a:t>확산 모델</a:t>
            </a:r>
            <a:r>
              <a:rPr lang="en-US" altLang="ko-KR" sz="4800" dirty="0">
                <a:solidFill>
                  <a:srgbClr val="FF0000"/>
                </a:solidFill>
              </a:rPr>
              <a:t>’</a:t>
            </a:r>
            <a:r>
              <a:rPr lang="ko-KR" altLang="en-US" sz="4800" dirty="0"/>
              <a:t>로 이어지는가</a:t>
            </a:r>
            <a:r>
              <a:rPr lang="en-US" altLang="ko-KR" sz="4800" dirty="0"/>
              <a:t>?</a:t>
            </a:r>
            <a:endParaRPr lang="ko-KR" altLang="en-US" sz="4800" dirty="0"/>
          </a:p>
        </p:txBody>
      </p:sp>
    </p:spTree>
    <p:extLst>
      <p:ext uri="{BB962C8B-B14F-4D97-AF65-F5344CB8AC3E}">
        <p14:creationId xmlns:p14="http://schemas.microsoft.com/office/powerpoint/2010/main" val="34557198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36F671-73E8-2571-BDA3-EA19CEA31B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ko-KR" altLang="en-US" dirty="0"/>
              <a:t>일반 </a:t>
            </a:r>
            <a:r>
              <a:rPr lang="en-US" altLang="ko-KR" dirty="0"/>
              <a:t>VAE vs </a:t>
            </a:r>
            <a:r>
              <a:rPr lang="ko-KR" altLang="en-US" dirty="0"/>
              <a:t>계층적 </a:t>
            </a:r>
            <a:r>
              <a:rPr lang="en-US" altLang="ko-KR" dirty="0"/>
              <a:t>VAE (</a:t>
            </a:r>
            <a:r>
              <a:rPr lang="ko-KR" altLang="en-US" dirty="0"/>
              <a:t>확산모델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F4C8A07-192A-81B5-E84F-E548AB4FBE2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47737" y="1790165"/>
            <a:ext cx="11353800" cy="39395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ko-KR" altLang="ko-KR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일반 VAE (직항 비행기)</a:t>
            </a:r>
            <a:endParaRPr kumimoji="0" lang="en-US" altLang="ko-KR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ko-KR" altLang="ko-K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ko-K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1)</a:t>
            </a:r>
            <a:r>
              <a:rPr kumimoji="0" lang="ko-KR" altLang="ko-K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원본 사진을 </a:t>
            </a:r>
            <a:r>
              <a:rPr kumimoji="0" lang="ko-KR" altLang="ko-KR" sz="200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단번에</a:t>
            </a:r>
            <a:r>
              <a:rPr kumimoji="0" lang="ko-KR" altLang="ko-K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찌그러뜨려 아주 작은 압축 파일(잠재 공간)로 </a:t>
            </a:r>
            <a:r>
              <a:rPr kumimoji="0" lang="ko-KR" altLang="ko-KR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만</a:t>
            </a:r>
            <a:r>
              <a:rPr kumimoji="0" lang="ko-KR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듬</a:t>
            </a:r>
            <a:r>
              <a:rPr kumimoji="0" lang="ko-KR" altLang="ko-KR" sz="200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(인코더</a:t>
            </a:r>
            <a:r>
              <a:rPr kumimoji="0" lang="ko-KR" altLang="en-US" sz="200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의 역할</a:t>
            </a:r>
            <a:r>
              <a:rPr kumimoji="0" lang="ko-KR" altLang="ko-KR" sz="200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)</a:t>
            </a:r>
            <a:r>
              <a:rPr kumimoji="0" lang="ko-KR" altLang="ko-K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  <a:endParaRPr kumimoji="0" lang="en-US" altLang="ko-KR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ko-KR" sz="2000" dirty="0">
                <a:latin typeface="Arial" panose="020B0604020202020204" pitchFamily="34" charset="0"/>
              </a:rPr>
              <a:t> 2)</a:t>
            </a:r>
            <a:r>
              <a:rPr kumimoji="0" lang="ko-KR" altLang="ko-K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이 압축 파일을 </a:t>
            </a:r>
            <a:r>
              <a:rPr kumimoji="0" lang="ko-KR" altLang="ko-KR" sz="200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단번에</a:t>
            </a:r>
            <a:r>
              <a:rPr kumimoji="0" lang="ko-KR" altLang="ko-K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다시 원래 사진으로 복원</a:t>
            </a:r>
            <a:r>
              <a:rPr kumimoji="0" lang="ko-KR" altLang="ko-KR" sz="200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(</a:t>
            </a:r>
            <a:r>
              <a:rPr kumimoji="0" lang="ko-KR" altLang="ko-KR" sz="2000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디코더</a:t>
            </a:r>
            <a:r>
              <a:rPr kumimoji="0" lang="ko-KR" altLang="en-US" sz="2000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의</a:t>
            </a:r>
            <a:r>
              <a:rPr kumimoji="0" lang="ko-KR" altLang="en-US" sz="200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 역할</a:t>
            </a:r>
            <a:r>
              <a:rPr kumimoji="0" lang="ko-KR" altLang="ko-KR" sz="200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)</a:t>
            </a:r>
            <a:r>
              <a:rPr kumimoji="0" lang="ko-KR" altLang="ko-K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  <a:endParaRPr kumimoji="0" lang="en-US" altLang="ko-KR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ko-KR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ko-KR" sz="24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ko-KR" sz="240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ko-KR" sz="24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ko-KR" altLang="en-US" sz="2400" dirty="0">
                <a:solidFill>
                  <a:srgbClr val="FF0000"/>
                </a:solidFill>
                <a:latin typeface="Arial" panose="020B0604020202020204" pitchFamily="34" charset="0"/>
              </a:rPr>
              <a:t>확산모델 </a:t>
            </a:r>
            <a:r>
              <a:rPr lang="en-US" altLang="ko-KR" sz="2400" dirty="0">
                <a:solidFill>
                  <a:srgbClr val="FF0000"/>
                </a:solidFill>
                <a:latin typeface="Arial" panose="020B0604020202020204" pitchFamily="34" charset="0"/>
              </a:rPr>
              <a:t>= </a:t>
            </a:r>
            <a:r>
              <a:rPr lang="ko-KR" altLang="en-US" sz="2400" dirty="0">
                <a:solidFill>
                  <a:srgbClr val="FF0000"/>
                </a:solidFill>
                <a:latin typeface="Arial" panose="020B0604020202020204" pitchFamily="34" charset="0"/>
              </a:rPr>
              <a:t>계층적 </a:t>
            </a:r>
            <a:r>
              <a:rPr lang="en-US" altLang="ko-KR" sz="2400" dirty="0">
                <a:solidFill>
                  <a:srgbClr val="FF0000"/>
                </a:solidFill>
                <a:latin typeface="Arial" panose="020B0604020202020204" pitchFamily="34" charset="0"/>
              </a:rPr>
              <a:t>VAE = </a:t>
            </a:r>
            <a:r>
              <a:rPr lang="ko-KR" altLang="en-US" sz="2400" dirty="0">
                <a:solidFill>
                  <a:srgbClr val="FF0000"/>
                </a:solidFill>
                <a:latin typeface="Arial" panose="020B0604020202020204" pitchFamily="34" charset="0"/>
              </a:rPr>
              <a:t>스코어 기반 모델</a:t>
            </a:r>
            <a:endParaRPr lang="en-US" altLang="ko-KR" sz="2400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ko-KR" altLang="ko-KR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ko-KR" altLang="ko-KR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확산 모델 / 계층적 VAE (수천 개의 징검다리)</a:t>
            </a:r>
            <a:endParaRPr kumimoji="0" lang="en-US" altLang="ko-KR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ko-KR" altLang="ko-K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확산 모델은 단번에 점프하지 않</a:t>
            </a:r>
            <a:r>
              <a:rPr kumimoji="0" lang="ko-KR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음</a:t>
            </a:r>
            <a:r>
              <a:rPr kumimoji="0" lang="ko-KR" altLang="ko-K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원본 사진과 압축 파일 사이에 </a:t>
            </a:r>
            <a:r>
              <a:rPr kumimoji="0" lang="ko-KR" altLang="ko-KR" sz="180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수천 개의 징검다리를 </a:t>
            </a:r>
            <a:r>
              <a:rPr lang="ko-KR" altLang="en-US" sz="1800" dirty="0">
                <a:solidFill>
                  <a:srgbClr val="FF0000"/>
                </a:solidFill>
                <a:latin typeface="Arial" panose="020B0604020202020204" pitchFamily="34" charset="0"/>
              </a:rPr>
              <a:t>설치함</a:t>
            </a:r>
            <a:r>
              <a:rPr kumimoji="0" lang="ko-KR" altLang="ko-KR" sz="180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D62CDA06-A65A-912D-A3F5-40A26888FF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4641" y="1128295"/>
            <a:ext cx="895475" cy="2296895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83DB18E0-18D9-7839-2FEF-B408F34270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6675" y="3871537"/>
            <a:ext cx="1086002" cy="2537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09519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468E5E-DD6B-DEDC-70F4-FCF5D8A4DD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231C76-EC76-211A-A713-083D882352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ko-KR" altLang="en-US" dirty="0"/>
              <a:t>징검다리를 건너는 과정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729434-400D-D0DE-BC82-61D917B009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4050" y="1259682"/>
            <a:ext cx="10515600" cy="124972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ko-KR" altLang="en-US" sz="2600" dirty="0" err="1">
                <a:solidFill>
                  <a:srgbClr val="7030A0"/>
                </a:solidFill>
              </a:rPr>
              <a:t>정방향</a:t>
            </a:r>
            <a:r>
              <a:rPr lang="ko-KR" altLang="en-US" sz="2600" dirty="0">
                <a:solidFill>
                  <a:srgbClr val="7030A0"/>
                </a:solidFill>
              </a:rPr>
              <a:t> </a:t>
            </a:r>
            <a:r>
              <a:rPr lang="en-US" altLang="ko-KR" sz="2600" dirty="0">
                <a:solidFill>
                  <a:srgbClr val="7030A0"/>
                </a:solidFill>
              </a:rPr>
              <a:t>/ </a:t>
            </a:r>
            <a:r>
              <a:rPr lang="ko-KR" altLang="en-US" sz="2600" dirty="0">
                <a:solidFill>
                  <a:srgbClr val="7030A0"/>
                </a:solidFill>
              </a:rPr>
              <a:t>인코더 </a:t>
            </a:r>
            <a:r>
              <a:rPr lang="en-US" altLang="ko-KR" sz="2600" dirty="0">
                <a:solidFill>
                  <a:srgbClr val="7030A0"/>
                </a:solidFill>
              </a:rPr>
              <a:t>(</a:t>
            </a:r>
            <a:r>
              <a:rPr lang="ko-KR" altLang="en-US" sz="2600" dirty="0">
                <a:solidFill>
                  <a:srgbClr val="7030A0"/>
                </a:solidFill>
              </a:rPr>
              <a:t>노이즈 추가</a:t>
            </a:r>
            <a:r>
              <a:rPr lang="en-US" altLang="ko-KR" sz="2600" dirty="0">
                <a:solidFill>
                  <a:srgbClr val="7030A0"/>
                </a:solidFill>
              </a:rPr>
              <a:t>)</a:t>
            </a:r>
          </a:p>
          <a:p>
            <a:pPr marL="0" indent="0">
              <a:buNone/>
            </a:pPr>
            <a:r>
              <a:rPr lang="en-US" altLang="ko-KR" sz="1500" dirty="0"/>
              <a:t>1)</a:t>
            </a:r>
            <a:r>
              <a:rPr lang="ko-KR" altLang="en-US" sz="1500" dirty="0"/>
              <a:t>깨끗한 사진</a:t>
            </a:r>
            <a:r>
              <a:rPr lang="en-US" altLang="ko-KR" sz="1500" dirty="0"/>
              <a:t>(x0) </a:t>
            </a:r>
            <a:r>
              <a:rPr lang="ko-KR" altLang="en-US" sz="1500" dirty="0"/>
              <a:t>위에</a:t>
            </a:r>
            <a:r>
              <a:rPr lang="en-US" altLang="ko-KR" sz="1500" dirty="0"/>
              <a:t> </a:t>
            </a:r>
            <a:r>
              <a:rPr lang="ko-KR" altLang="en-US" sz="1500" dirty="0">
                <a:solidFill>
                  <a:srgbClr val="FF0000"/>
                </a:solidFill>
              </a:rPr>
              <a:t>한 개의 점</a:t>
            </a:r>
            <a:r>
              <a:rPr lang="en-US" altLang="ko-KR" sz="1500" dirty="0">
                <a:solidFill>
                  <a:srgbClr val="FF0000"/>
                </a:solidFill>
              </a:rPr>
              <a:t>(</a:t>
            </a:r>
            <a:r>
              <a:rPr lang="ko-KR" altLang="en-US" sz="1500" dirty="0" err="1">
                <a:solidFill>
                  <a:srgbClr val="FF0000"/>
                </a:solidFill>
              </a:rPr>
              <a:t>가우시안</a:t>
            </a:r>
            <a:r>
              <a:rPr lang="ko-KR" altLang="en-US" sz="1500" dirty="0">
                <a:solidFill>
                  <a:srgbClr val="FF0000"/>
                </a:solidFill>
              </a:rPr>
              <a:t> 노이즈</a:t>
            </a:r>
            <a:r>
              <a:rPr lang="en-US" altLang="ko-KR" sz="1500" dirty="0">
                <a:solidFill>
                  <a:srgbClr val="FF0000"/>
                </a:solidFill>
              </a:rPr>
              <a:t>)</a:t>
            </a:r>
            <a:r>
              <a:rPr lang="ko-KR" altLang="en-US" sz="1500" dirty="0"/>
              <a:t>를 찍음</a:t>
            </a:r>
            <a:r>
              <a:rPr lang="en-US" altLang="ko-KR" sz="1500" dirty="0"/>
              <a:t>.(x1)</a:t>
            </a:r>
          </a:p>
          <a:p>
            <a:pPr marL="0" indent="0">
              <a:buNone/>
            </a:pPr>
            <a:r>
              <a:rPr lang="en-US" altLang="ko-KR" sz="1500" dirty="0"/>
              <a:t>2)</a:t>
            </a:r>
            <a:r>
              <a:rPr lang="ko-KR" altLang="en-US" sz="1500" dirty="0"/>
              <a:t>이 작업을 </a:t>
            </a:r>
            <a:r>
              <a:rPr lang="en-US" altLang="ko-KR" sz="1500" dirty="0">
                <a:solidFill>
                  <a:srgbClr val="FF0000"/>
                </a:solidFill>
              </a:rPr>
              <a:t>1000</a:t>
            </a:r>
            <a:r>
              <a:rPr lang="ko-KR" altLang="en-US" sz="1500" dirty="0">
                <a:solidFill>
                  <a:srgbClr val="FF0000"/>
                </a:solidFill>
              </a:rPr>
              <a:t>번 반복</a:t>
            </a:r>
            <a:r>
              <a:rPr lang="en-US" altLang="ko-KR" sz="1500" dirty="0"/>
              <a:t>. </a:t>
            </a:r>
            <a:r>
              <a:rPr lang="ko-KR" altLang="en-US" sz="1500" dirty="0"/>
              <a:t>그러면 </a:t>
            </a:r>
            <a:r>
              <a:rPr lang="ko-KR" altLang="en-US" sz="1500" dirty="0" err="1">
                <a:solidFill>
                  <a:srgbClr val="FF0000"/>
                </a:solidFill>
              </a:rPr>
              <a:t>지지직거리는</a:t>
            </a:r>
            <a:r>
              <a:rPr lang="ko-KR" altLang="en-US" sz="1500" dirty="0">
                <a:solidFill>
                  <a:srgbClr val="FF0000"/>
                </a:solidFill>
              </a:rPr>
              <a:t> 노이즈</a:t>
            </a:r>
            <a:r>
              <a:rPr lang="ko-KR" altLang="en-US" sz="1500" dirty="0"/>
              <a:t>가 됨</a:t>
            </a:r>
            <a:r>
              <a:rPr lang="en-US" altLang="ko-KR" sz="1500" dirty="0"/>
              <a:t>.(</a:t>
            </a:r>
            <a:r>
              <a:rPr lang="en-US" altLang="ko-KR" sz="1500" dirty="0" err="1"/>
              <a:t>Xt</a:t>
            </a:r>
            <a:r>
              <a:rPr lang="en-US" altLang="ko-KR" sz="1500" dirty="0"/>
              <a:t>)</a:t>
            </a:r>
          </a:p>
          <a:p>
            <a:pPr marL="0" indent="0">
              <a:buNone/>
            </a:pPr>
            <a:r>
              <a:rPr lang="en-US" altLang="ko-KR" sz="1500" dirty="0"/>
              <a:t>-&gt; </a:t>
            </a:r>
            <a:r>
              <a:rPr lang="ko-KR" altLang="en-US" sz="1500" dirty="0"/>
              <a:t>이 과정은 신경망이 무언가를 배울 필요 </a:t>
            </a:r>
            <a:r>
              <a:rPr lang="en-US" altLang="ko-KR" sz="1500" dirty="0"/>
              <a:t>X. </a:t>
            </a:r>
            <a:r>
              <a:rPr lang="ko-KR" altLang="en-US" sz="1500" dirty="0"/>
              <a:t>사람이 정한 공식에 따라 반복적으로 노이즈를 추가함</a:t>
            </a:r>
            <a:r>
              <a:rPr lang="en-US" altLang="ko-KR" sz="1500" dirty="0"/>
              <a:t>.</a:t>
            </a:r>
            <a:r>
              <a:rPr lang="en-US" altLang="ko-KR" sz="1500" dirty="0">
                <a:solidFill>
                  <a:srgbClr val="FF0000"/>
                </a:solidFill>
              </a:rPr>
              <a:t>(</a:t>
            </a:r>
            <a:r>
              <a:rPr lang="ko-KR" altLang="en-US" sz="1500" dirty="0" err="1">
                <a:solidFill>
                  <a:srgbClr val="FF0000"/>
                </a:solidFill>
              </a:rPr>
              <a:t>학습파라미터</a:t>
            </a:r>
            <a:r>
              <a:rPr lang="ko-KR" altLang="en-US" sz="1500" dirty="0">
                <a:solidFill>
                  <a:srgbClr val="FF0000"/>
                </a:solidFill>
              </a:rPr>
              <a:t> </a:t>
            </a:r>
            <a:r>
              <a:rPr lang="en-US" altLang="ko-KR" sz="1500" dirty="0">
                <a:solidFill>
                  <a:srgbClr val="FF0000"/>
                </a:solidFill>
              </a:rPr>
              <a:t>X)</a:t>
            </a:r>
          </a:p>
          <a:p>
            <a:pPr marL="0" indent="0">
              <a:buNone/>
            </a:pPr>
            <a:endParaRPr lang="en-US" altLang="ko-KR" sz="1800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7D98A6A-43A2-A3FF-192F-03D30D7566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050" y="2509405"/>
            <a:ext cx="10764752" cy="204354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8D5A614-D9C0-755D-133D-9E68310EDDD6}"/>
              </a:ext>
            </a:extLst>
          </p:cNvPr>
          <p:cNvSpPr txBox="1"/>
          <p:nvPr/>
        </p:nvSpPr>
        <p:spPr>
          <a:xfrm>
            <a:off x="550026" y="4703990"/>
            <a:ext cx="11248274" cy="18928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rgbClr val="7030A0"/>
                </a:solidFill>
              </a:rPr>
              <a:t>역방향 </a:t>
            </a:r>
            <a:r>
              <a:rPr lang="en-US" altLang="ko-KR" sz="2400" dirty="0">
                <a:solidFill>
                  <a:srgbClr val="7030A0"/>
                </a:solidFill>
              </a:rPr>
              <a:t>/ </a:t>
            </a:r>
            <a:r>
              <a:rPr lang="ko-KR" altLang="en-US" sz="2400" dirty="0" err="1">
                <a:solidFill>
                  <a:srgbClr val="7030A0"/>
                </a:solidFill>
              </a:rPr>
              <a:t>디코더</a:t>
            </a:r>
            <a:r>
              <a:rPr lang="ko-KR" altLang="en-US" sz="2400" dirty="0">
                <a:solidFill>
                  <a:srgbClr val="7030A0"/>
                </a:solidFill>
              </a:rPr>
              <a:t> </a:t>
            </a:r>
            <a:r>
              <a:rPr lang="en-US" altLang="ko-KR" sz="2400" dirty="0">
                <a:solidFill>
                  <a:srgbClr val="7030A0"/>
                </a:solidFill>
              </a:rPr>
              <a:t>(</a:t>
            </a:r>
            <a:r>
              <a:rPr lang="ko-KR" altLang="en-US" sz="2400" dirty="0">
                <a:solidFill>
                  <a:srgbClr val="7030A0"/>
                </a:solidFill>
              </a:rPr>
              <a:t>노이즈 닦아내기</a:t>
            </a:r>
            <a:r>
              <a:rPr lang="en-US" altLang="ko-KR" sz="2400" dirty="0">
                <a:solidFill>
                  <a:srgbClr val="7030A0"/>
                </a:solidFill>
              </a:rPr>
              <a:t>)</a:t>
            </a:r>
          </a:p>
          <a:p>
            <a:r>
              <a:rPr lang="en-US" altLang="ko-KR" sz="1500" dirty="0"/>
              <a:t>1) </a:t>
            </a:r>
            <a:r>
              <a:rPr lang="ko-KR" altLang="en-US" sz="1500" dirty="0"/>
              <a:t>완전한 노이즈</a:t>
            </a:r>
            <a:r>
              <a:rPr lang="en-US" altLang="ko-KR" sz="1500" dirty="0"/>
              <a:t>(</a:t>
            </a:r>
            <a:r>
              <a:rPr lang="en-US" altLang="ko-KR" sz="1500" dirty="0" err="1"/>
              <a:t>Xt</a:t>
            </a:r>
            <a:r>
              <a:rPr lang="en-US" altLang="ko-KR" sz="1500" dirty="0"/>
              <a:t>)</a:t>
            </a:r>
            <a:r>
              <a:rPr lang="ko-KR" altLang="en-US" sz="1500" dirty="0"/>
              <a:t>를 신경망에게 제공하며 </a:t>
            </a:r>
            <a:r>
              <a:rPr lang="en-US" altLang="ko-KR" sz="1500" dirty="0">
                <a:solidFill>
                  <a:srgbClr val="FF0000"/>
                </a:solidFill>
              </a:rPr>
              <a:t>“</a:t>
            </a:r>
            <a:r>
              <a:rPr lang="ko-KR" altLang="en-US" sz="1500" dirty="0">
                <a:solidFill>
                  <a:srgbClr val="FF0000"/>
                </a:solidFill>
              </a:rPr>
              <a:t>이 사진 바로 전 단계</a:t>
            </a:r>
            <a:r>
              <a:rPr lang="en-US" altLang="ko-KR" sz="1500" dirty="0">
                <a:solidFill>
                  <a:srgbClr val="FF0000"/>
                </a:solidFill>
              </a:rPr>
              <a:t>(Xt-1)</a:t>
            </a:r>
            <a:r>
              <a:rPr lang="ko-KR" altLang="en-US" sz="1500" dirty="0">
                <a:solidFill>
                  <a:srgbClr val="FF0000"/>
                </a:solidFill>
              </a:rPr>
              <a:t>로</a:t>
            </a:r>
            <a:r>
              <a:rPr lang="en-US" altLang="ko-KR" sz="1500" dirty="0">
                <a:solidFill>
                  <a:srgbClr val="FF0000"/>
                </a:solidFill>
              </a:rPr>
              <a:t> </a:t>
            </a:r>
            <a:r>
              <a:rPr lang="ko-KR" altLang="en-US" sz="1500" dirty="0">
                <a:solidFill>
                  <a:srgbClr val="FF0000"/>
                </a:solidFill>
              </a:rPr>
              <a:t>가려면 어떤 노이즈를 닦아내야 하니</a:t>
            </a:r>
            <a:r>
              <a:rPr lang="en-US" altLang="ko-KR" sz="1500" dirty="0">
                <a:solidFill>
                  <a:srgbClr val="FF0000"/>
                </a:solidFill>
              </a:rPr>
              <a:t>?” </a:t>
            </a:r>
            <a:r>
              <a:rPr lang="ko-KR" altLang="en-US" sz="1500" dirty="0"/>
              <a:t>라고 질문함</a:t>
            </a:r>
            <a:r>
              <a:rPr lang="en-US" altLang="ko-KR" sz="1500" dirty="0"/>
              <a:t>.</a:t>
            </a:r>
          </a:p>
          <a:p>
            <a:r>
              <a:rPr lang="en-US" altLang="ko-KR" sz="1500" dirty="0"/>
              <a:t>2) </a:t>
            </a:r>
            <a:r>
              <a:rPr lang="ko-KR" altLang="en-US" sz="1500" dirty="0"/>
              <a:t>신경망은 </a:t>
            </a:r>
            <a:r>
              <a:rPr lang="en-US" altLang="ko-KR" sz="1500" dirty="0">
                <a:solidFill>
                  <a:srgbClr val="FF0000"/>
                </a:solidFill>
              </a:rPr>
              <a:t>1000</a:t>
            </a:r>
            <a:r>
              <a:rPr lang="ko-KR" altLang="en-US" sz="1500" dirty="0">
                <a:solidFill>
                  <a:srgbClr val="FF0000"/>
                </a:solidFill>
              </a:rPr>
              <a:t>번의 단계</a:t>
            </a:r>
            <a:r>
              <a:rPr lang="ko-KR" altLang="en-US" sz="1500" dirty="0"/>
              <a:t>를 거슬러 올라가며</a:t>
            </a:r>
            <a:r>
              <a:rPr lang="en-US" altLang="ko-KR" sz="1500" dirty="0"/>
              <a:t>, </a:t>
            </a:r>
            <a:r>
              <a:rPr lang="ko-KR" altLang="en-US" sz="1500" dirty="0">
                <a:solidFill>
                  <a:srgbClr val="FF0000"/>
                </a:solidFill>
              </a:rPr>
              <a:t>매 단계마다 노이즈를 한 겹씩 </a:t>
            </a:r>
            <a:r>
              <a:rPr lang="ko-KR" altLang="en-US" sz="1500" dirty="0" err="1">
                <a:solidFill>
                  <a:srgbClr val="FF0000"/>
                </a:solidFill>
              </a:rPr>
              <a:t>닦아냄</a:t>
            </a:r>
            <a:r>
              <a:rPr lang="en-US" altLang="ko-KR" sz="1500" dirty="0">
                <a:solidFill>
                  <a:srgbClr val="FF0000"/>
                </a:solidFill>
              </a:rPr>
              <a:t>.</a:t>
            </a:r>
          </a:p>
          <a:p>
            <a:r>
              <a:rPr lang="en-US" altLang="ko-KR" sz="1500" dirty="0"/>
              <a:t>3) </a:t>
            </a:r>
            <a:r>
              <a:rPr lang="ko-KR" altLang="en-US" sz="1500" dirty="0"/>
              <a:t>결국 </a:t>
            </a:r>
            <a:r>
              <a:rPr lang="ko-KR" altLang="en-US" sz="1500" dirty="0">
                <a:solidFill>
                  <a:srgbClr val="FF0000"/>
                </a:solidFill>
              </a:rPr>
              <a:t>깨끗한 사진</a:t>
            </a:r>
            <a:r>
              <a:rPr lang="en-US" altLang="ko-KR" sz="1500" dirty="0">
                <a:solidFill>
                  <a:srgbClr val="FF0000"/>
                </a:solidFill>
              </a:rPr>
              <a:t>(X0)</a:t>
            </a:r>
            <a:r>
              <a:rPr lang="ko-KR" altLang="en-US" sz="1500" dirty="0">
                <a:solidFill>
                  <a:srgbClr val="FF0000"/>
                </a:solidFill>
              </a:rPr>
              <a:t>가 탄생</a:t>
            </a:r>
            <a:r>
              <a:rPr lang="en-US" altLang="ko-KR" sz="1500" dirty="0">
                <a:solidFill>
                  <a:srgbClr val="FF0000"/>
                </a:solidFill>
              </a:rPr>
              <a:t>.</a:t>
            </a:r>
            <a:br>
              <a:rPr lang="en-US" altLang="ko-KR" sz="1500" dirty="0">
                <a:solidFill>
                  <a:srgbClr val="FF0000"/>
                </a:solidFill>
              </a:rPr>
            </a:br>
            <a:endParaRPr lang="en-US" altLang="ko-KR" sz="1500" dirty="0">
              <a:solidFill>
                <a:srgbClr val="FF0000"/>
              </a:solidFill>
            </a:endParaRPr>
          </a:p>
          <a:p>
            <a:r>
              <a:rPr lang="en-US" altLang="ko-KR" sz="1500" dirty="0"/>
              <a:t>-&gt; </a:t>
            </a:r>
            <a:r>
              <a:rPr lang="ko-KR" altLang="en-US" sz="1500" dirty="0"/>
              <a:t>이 과정을 </a:t>
            </a:r>
            <a:r>
              <a:rPr lang="ko-KR" altLang="en-US" sz="1500" dirty="0" err="1"/>
              <a:t>진행하는게</a:t>
            </a:r>
            <a:r>
              <a:rPr lang="ko-KR" altLang="en-US" sz="1500" dirty="0"/>
              <a:t> </a:t>
            </a:r>
            <a:r>
              <a:rPr lang="ko-KR" altLang="en-US" sz="1500" dirty="0">
                <a:solidFill>
                  <a:srgbClr val="FF0000"/>
                </a:solidFill>
              </a:rPr>
              <a:t>우리가 훈련시켜야 할 </a:t>
            </a:r>
            <a:r>
              <a:rPr lang="en-US" altLang="ko-KR" sz="1500" dirty="0">
                <a:solidFill>
                  <a:srgbClr val="FF0000"/>
                </a:solidFill>
              </a:rPr>
              <a:t>‘</a:t>
            </a:r>
            <a:r>
              <a:rPr lang="ko-KR" altLang="en-US" sz="1500" dirty="0" err="1">
                <a:solidFill>
                  <a:srgbClr val="FF0000"/>
                </a:solidFill>
              </a:rPr>
              <a:t>디코더</a:t>
            </a:r>
            <a:r>
              <a:rPr lang="en-US" altLang="ko-KR" sz="1500" dirty="0">
                <a:solidFill>
                  <a:srgbClr val="FF0000"/>
                </a:solidFill>
              </a:rPr>
              <a:t>’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646998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7C0169-0CD0-EB64-698B-140D44096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848D54-F205-BF03-A856-81A6BCA41E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it-IT" altLang="ko-KR" dirty="0"/>
              <a:t>ELBO = Score Matching? (</a:t>
            </a:r>
            <a:r>
              <a:rPr lang="ko-KR" altLang="en-US" dirty="0" err="1"/>
              <a:t>디코더의</a:t>
            </a:r>
            <a:r>
              <a:rPr lang="ko-KR" altLang="en-US" dirty="0"/>
              <a:t> 훈련</a:t>
            </a:r>
            <a:r>
              <a:rPr lang="en-US" altLang="ko-KR" dirty="0"/>
              <a:t>)</a:t>
            </a:r>
            <a:endParaRPr lang="ko-KR" altLang="en-US" b="1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863CC97-3080-E633-F3E7-94438E26C8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0"/>
            <a:ext cx="10515600" cy="537911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500" dirty="0"/>
              <a:t>모델을 </a:t>
            </a:r>
            <a:r>
              <a:rPr lang="ko-KR" altLang="en-US" sz="1500" dirty="0" err="1"/>
              <a:t>훈련시켜야함</a:t>
            </a:r>
            <a:r>
              <a:rPr lang="en-US" altLang="ko-KR" sz="1500" dirty="0"/>
              <a:t>. </a:t>
            </a:r>
            <a:r>
              <a:rPr lang="ko-KR" altLang="en-US" sz="1500" dirty="0"/>
              <a:t>신경망을 훈련시키려면 채점표</a:t>
            </a:r>
            <a:r>
              <a:rPr lang="en-US" altLang="ko-KR" sz="1500" dirty="0"/>
              <a:t>(</a:t>
            </a:r>
            <a:r>
              <a:rPr lang="ko-KR" altLang="en-US" sz="1500" dirty="0"/>
              <a:t>손실함수</a:t>
            </a:r>
            <a:r>
              <a:rPr lang="en-US" altLang="ko-KR" sz="1500" dirty="0"/>
              <a:t>) </a:t>
            </a:r>
            <a:r>
              <a:rPr lang="ko-KR" altLang="en-US" sz="1500" dirty="0"/>
              <a:t>필요</a:t>
            </a:r>
            <a:r>
              <a:rPr lang="en-US" altLang="ko-KR" sz="1500" dirty="0"/>
              <a:t>.</a:t>
            </a:r>
          </a:p>
          <a:p>
            <a:pPr marL="0" indent="0">
              <a:buNone/>
            </a:pPr>
            <a:endParaRPr lang="en-US" altLang="ko-KR" sz="1500" dirty="0"/>
          </a:p>
          <a:p>
            <a:pPr marL="0" indent="0">
              <a:buNone/>
            </a:pPr>
            <a:r>
              <a:rPr lang="en-US" altLang="ko-KR" sz="1500" dirty="0"/>
              <a:t>1)VAE = </a:t>
            </a:r>
            <a:r>
              <a:rPr lang="en-US" altLang="ko-KR" sz="1500" dirty="0">
                <a:solidFill>
                  <a:srgbClr val="FF0000"/>
                </a:solidFill>
              </a:rPr>
              <a:t>‘</a:t>
            </a:r>
            <a:r>
              <a:rPr lang="ko-KR" altLang="en-US" sz="1500" dirty="0">
                <a:solidFill>
                  <a:srgbClr val="FF0000"/>
                </a:solidFill>
              </a:rPr>
              <a:t>이 사진이 나올 확률</a:t>
            </a:r>
            <a:r>
              <a:rPr lang="en-US" altLang="ko-KR" sz="1500" dirty="0">
                <a:solidFill>
                  <a:srgbClr val="FF0000"/>
                </a:solidFill>
              </a:rPr>
              <a:t>’</a:t>
            </a:r>
            <a:r>
              <a:rPr lang="ko-KR" altLang="en-US" sz="1500" dirty="0">
                <a:solidFill>
                  <a:srgbClr val="FF0000"/>
                </a:solidFill>
              </a:rPr>
              <a:t>을 최대한으로 높이는 것</a:t>
            </a:r>
            <a:r>
              <a:rPr lang="ko-KR" altLang="en-US" sz="1500" dirty="0"/>
              <a:t>을 목표로 함</a:t>
            </a:r>
            <a:r>
              <a:rPr lang="en-US" altLang="ko-KR" sz="1500" dirty="0"/>
              <a:t>.</a:t>
            </a:r>
          </a:p>
          <a:p>
            <a:pPr marL="0" indent="0">
              <a:buNone/>
            </a:pPr>
            <a:r>
              <a:rPr lang="en-US" altLang="ko-KR" sz="1500" dirty="0"/>
              <a:t>  -&gt; ‘ELBO’ </a:t>
            </a:r>
            <a:r>
              <a:rPr lang="ko-KR" altLang="en-US" sz="1500" dirty="0"/>
              <a:t>라는 복잡한 수식을 사용</a:t>
            </a:r>
            <a:r>
              <a:rPr lang="en-US" altLang="ko-KR" sz="1500" dirty="0"/>
              <a:t>.</a:t>
            </a:r>
          </a:p>
          <a:p>
            <a:pPr marL="0" indent="0">
              <a:buNone/>
            </a:pPr>
            <a:r>
              <a:rPr lang="en-US" altLang="ko-KR" sz="1500" dirty="0"/>
              <a:t>2)</a:t>
            </a:r>
            <a:r>
              <a:rPr lang="ko-KR" altLang="en-US" sz="1500" dirty="0"/>
              <a:t>스코어 모델 </a:t>
            </a:r>
            <a:r>
              <a:rPr lang="en-US" altLang="ko-KR" sz="1500" dirty="0"/>
              <a:t>= </a:t>
            </a:r>
            <a:r>
              <a:rPr lang="ko-KR" altLang="en-US" sz="1500" dirty="0"/>
              <a:t>데이터가 </a:t>
            </a:r>
            <a:r>
              <a:rPr lang="ko-KR" altLang="en-US" sz="1500" dirty="0" err="1"/>
              <a:t>모여있는</a:t>
            </a:r>
            <a:r>
              <a:rPr lang="ko-KR" altLang="en-US" sz="1500" dirty="0"/>
              <a:t> 산 정상을 향해 </a:t>
            </a:r>
            <a:r>
              <a:rPr lang="en-US" altLang="ko-KR" sz="1500" dirty="0">
                <a:solidFill>
                  <a:srgbClr val="FF0000"/>
                </a:solidFill>
              </a:rPr>
              <a:t>‘</a:t>
            </a:r>
            <a:r>
              <a:rPr lang="ko-KR" altLang="en-US" sz="1500" dirty="0">
                <a:solidFill>
                  <a:srgbClr val="FF0000"/>
                </a:solidFill>
              </a:rPr>
              <a:t>화살표</a:t>
            </a:r>
            <a:r>
              <a:rPr lang="en-US" altLang="ko-KR" sz="1500" dirty="0">
                <a:solidFill>
                  <a:srgbClr val="FF0000"/>
                </a:solidFill>
              </a:rPr>
              <a:t>’</a:t>
            </a:r>
            <a:r>
              <a:rPr lang="ko-KR" altLang="en-US" sz="1500" dirty="0">
                <a:solidFill>
                  <a:srgbClr val="FF0000"/>
                </a:solidFill>
              </a:rPr>
              <a:t>를 정확히 가리키는 걸 </a:t>
            </a:r>
            <a:r>
              <a:rPr lang="ko-KR" altLang="en-US" sz="1500" dirty="0"/>
              <a:t>목표로 함</a:t>
            </a:r>
            <a:r>
              <a:rPr lang="en-US" altLang="ko-KR" sz="1500" dirty="0"/>
              <a:t>.</a:t>
            </a:r>
          </a:p>
          <a:p>
            <a:pPr marL="0" indent="0">
              <a:buNone/>
            </a:pPr>
            <a:r>
              <a:rPr lang="en-US" altLang="ko-KR" sz="1500" dirty="0"/>
              <a:t>3) 1000</a:t>
            </a:r>
            <a:r>
              <a:rPr lang="ko-KR" altLang="en-US" sz="1500" dirty="0"/>
              <a:t>단계로 쪼개진 </a:t>
            </a:r>
            <a:r>
              <a:rPr lang="ko-KR" altLang="en-US" sz="1500" dirty="0">
                <a:solidFill>
                  <a:srgbClr val="FF0000"/>
                </a:solidFill>
              </a:rPr>
              <a:t>계층적 </a:t>
            </a:r>
            <a:r>
              <a:rPr lang="en-US" altLang="ko-KR" sz="1500" dirty="0">
                <a:solidFill>
                  <a:srgbClr val="FF0000"/>
                </a:solidFill>
              </a:rPr>
              <a:t>VAE</a:t>
            </a:r>
            <a:r>
              <a:rPr lang="ko-KR" altLang="en-US" sz="1500" dirty="0">
                <a:solidFill>
                  <a:srgbClr val="FF0000"/>
                </a:solidFill>
              </a:rPr>
              <a:t>의 복잡한 </a:t>
            </a:r>
            <a:r>
              <a:rPr lang="en-US" altLang="ko-KR" sz="1500" dirty="0">
                <a:solidFill>
                  <a:srgbClr val="FF0000"/>
                </a:solidFill>
              </a:rPr>
              <a:t>ELBO </a:t>
            </a:r>
            <a:r>
              <a:rPr lang="ko-KR" altLang="en-US" sz="1500" dirty="0">
                <a:solidFill>
                  <a:srgbClr val="FF0000"/>
                </a:solidFill>
              </a:rPr>
              <a:t>수식을 정리</a:t>
            </a:r>
            <a:r>
              <a:rPr lang="ko-KR" altLang="en-US" sz="1500" dirty="0"/>
              <a:t>하니</a:t>
            </a:r>
            <a:r>
              <a:rPr lang="en-US" altLang="ko-KR" sz="1500" dirty="0"/>
              <a:t>, </a:t>
            </a:r>
            <a:r>
              <a:rPr lang="ko-KR" altLang="en-US" sz="1500" dirty="0"/>
              <a:t>하나의 짧은 수식만 남게 됨</a:t>
            </a:r>
            <a:r>
              <a:rPr lang="en-US" altLang="ko-KR" sz="1500" dirty="0"/>
              <a:t>.</a:t>
            </a:r>
          </a:p>
          <a:p>
            <a:pPr marL="0" indent="0">
              <a:buNone/>
            </a:pPr>
            <a:endParaRPr lang="ko-KR" altLang="en-US" sz="2000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AD96C67-8F43-BFD2-DA4A-88A74C9B2B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0926" y="3328015"/>
            <a:ext cx="4584456" cy="78943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C7B57BC-C490-2946-B5C9-D975B7A23AFC}"/>
              </a:ext>
            </a:extLst>
          </p:cNvPr>
          <p:cNvSpPr txBox="1"/>
          <p:nvPr/>
        </p:nvSpPr>
        <p:spPr>
          <a:xfrm>
            <a:off x="3776218" y="4213898"/>
            <a:ext cx="39169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노이즈 낀 사진을 보고 </a:t>
            </a:r>
            <a:r>
              <a:rPr lang="ko-KR" altLang="en-US" sz="1200" dirty="0">
                <a:solidFill>
                  <a:srgbClr val="FF0000"/>
                </a:solidFill>
              </a:rPr>
              <a:t>인공지능이 예측한 노이즈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6B3E116-A376-3EC5-3919-D4BB5383C1AD}"/>
              </a:ext>
            </a:extLst>
          </p:cNvPr>
          <p:cNvSpPr txBox="1"/>
          <p:nvPr/>
        </p:nvSpPr>
        <p:spPr>
          <a:xfrm>
            <a:off x="1531620" y="4256424"/>
            <a:ext cx="229209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우리가 넣은 </a:t>
            </a:r>
            <a:r>
              <a:rPr lang="ko-KR" altLang="en-US" sz="1200" dirty="0">
                <a:solidFill>
                  <a:srgbClr val="FF0000"/>
                </a:solidFill>
              </a:rPr>
              <a:t>진짜 노이즈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CED08E4-9D02-5255-02C7-EC08A7A06E39}"/>
              </a:ext>
            </a:extLst>
          </p:cNvPr>
          <p:cNvSpPr txBox="1"/>
          <p:nvPr/>
        </p:nvSpPr>
        <p:spPr>
          <a:xfrm>
            <a:off x="6661404" y="3572634"/>
            <a:ext cx="229209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두 값의 차이</a:t>
            </a:r>
            <a:r>
              <a:rPr lang="en-US" altLang="ko-KR" sz="1200" dirty="0"/>
              <a:t>(</a:t>
            </a:r>
            <a:r>
              <a:rPr lang="ko-KR" altLang="en-US" sz="1200" dirty="0"/>
              <a:t>오차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43489843-8C40-93C3-F8F7-DDC26D27DF6E}"/>
              </a:ext>
            </a:extLst>
          </p:cNvPr>
          <p:cNvGrpSpPr/>
          <p:nvPr/>
        </p:nvGrpSpPr>
        <p:grpSpPr>
          <a:xfrm>
            <a:off x="2819240" y="3842850"/>
            <a:ext cx="939960" cy="449640"/>
            <a:chOff x="2819240" y="3842850"/>
            <a:chExt cx="939960" cy="449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14" name="잉크 13">
                  <a:extLst>
                    <a:ext uri="{FF2B5EF4-FFF2-40B4-BE49-F238E27FC236}">
                      <a16:creationId xmlns:a16="http://schemas.microsoft.com/office/drawing/2014/main" id="{5A3DD6D6-FD4D-FD80-3E1E-9912B8D17BAA}"/>
                    </a:ext>
                  </a:extLst>
                </p14:cNvPr>
                <p14:cNvContentPartPr/>
                <p14:nvPr/>
              </p14:nvContentPartPr>
              <p14:xfrm>
                <a:off x="2819240" y="3842850"/>
                <a:ext cx="924840" cy="449640"/>
              </p14:xfrm>
            </p:contentPart>
          </mc:Choice>
          <mc:Fallback xmlns="">
            <p:pic>
              <p:nvPicPr>
                <p:cNvPr id="14" name="잉크 13">
                  <a:extLst>
                    <a:ext uri="{FF2B5EF4-FFF2-40B4-BE49-F238E27FC236}">
                      <a16:creationId xmlns:a16="http://schemas.microsoft.com/office/drawing/2014/main" id="{5A3DD6D6-FD4D-FD80-3E1E-9912B8D17BAA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2810240" y="3834210"/>
                  <a:ext cx="942480" cy="46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8DA82DAF-B3A9-E44A-8139-AF45A01D212B}"/>
                    </a:ext>
                  </a:extLst>
                </p14:cNvPr>
                <p14:cNvContentPartPr/>
                <p14:nvPr/>
              </p14:nvContentPartPr>
              <p14:xfrm>
                <a:off x="3758840" y="3847890"/>
                <a:ext cx="360" cy="88560"/>
              </p14:xfrm>
            </p:contentPart>
          </mc:Choice>
          <mc:Fallback xmlns="">
            <p:pic>
              <p:nvPicPr>
                <p:cNvPr id="16" name="잉크 15">
                  <a:extLst>
                    <a:ext uri="{FF2B5EF4-FFF2-40B4-BE49-F238E27FC236}">
                      <a16:creationId xmlns:a16="http://schemas.microsoft.com/office/drawing/2014/main" id="{8DA82DAF-B3A9-E44A-8139-AF45A01D212B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750200" y="3838890"/>
                  <a:ext cx="18000" cy="106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93B3003A-F7FA-0085-D7A2-95B144067DC4}"/>
              </a:ext>
            </a:extLst>
          </p:cNvPr>
          <p:cNvGrpSpPr/>
          <p:nvPr/>
        </p:nvGrpSpPr>
        <p:grpSpPr>
          <a:xfrm>
            <a:off x="4513040" y="3898650"/>
            <a:ext cx="1176840" cy="388080"/>
            <a:chOff x="4513040" y="3898650"/>
            <a:chExt cx="1176840" cy="388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7" name="잉크 16">
                  <a:extLst>
                    <a:ext uri="{FF2B5EF4-FFF2-40B4-BE49-F238E27FC236}">
                      <a16:creationId xmlns:a16="http://schemas.microsoft.com/office/drawing/2014/main" id="{CD451A48-9A27-8E27-0574-C0B3504C606E}"/>
                    </a:ext>
                  </a:extLst>
                </p14:cNvPr>
                <p14:cNvContentPartPr/>
                <p14:nvPr/>
              </p14:nvContentPartPr>
              <p14:xfrm>
                <a:off x="4513040" y="3904770"/>
                <a:ext cx="1176840" cy="381960"/>
              </p14:xfrm>
            </p:contentPart>
          </mc:Choice>
          <mc:Fallback xmlns="">
            <p:pic>
              <p:nvPicPr>
                <p:cNvPr id="17" name="잉크 16">
                  <a:extLst>
                    <a:ext uri="{FF2B5EF4-FFF2-40B4-BE49-F238E27FC236}">
                      <a16:creationId xmlns:a16="http://schemas.microsoft.com/office/drawing/2014/main" id="{CD451A48-9A27-8E27-0574-C0B3504C606E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4504040" y="3895770"/>
                  <a:ext cx="1194480" cy="39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9" name="잉크 18">
                  <a:extLst>
                    <a:ext uri="{FF2B5EF4-FFF2-40B4-BE49-F238E27FC236}">
                      <a16:creationId xmlns:a16="http://schemas.microsoft.com/office/drawing/2014/main" id="{EF450176-CE74-B03E-1D11-C0C5232A65B3}"/>
                    </a:ext>
                  </a:extLst>
                </p14:cNvPr>
                <p14:cNvContentPartPr/>
                <p14:nvPr/>
              </p14:nvContentPartPr>
              <p14:xfrm>
                <a:off x="4597280" y="3898650"/>
                <a:ext cx="77760" cy="66240"/>
              </p14:xfrm>
            </p:contentPart>
          </mc:Choice>
          <mc:Fallback xmlns="">
            <p:pic>
              <p:nvPicPr>
                <p:cNvPr id="19" name="잉크 18">
                  <a:extLst>
                    <a:ext uri="{FF2B5EF4-FFF2-40B4-BE49-F238E27FC236}">
                      <a16:creationId xmlns:a16="http://schemas.microsoft.com/office/drawing/2014/main" id="{EF450176-CE74-B03E-1D11-C0C5232A65B3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4588640" y="3890010"/>
                  <a:ext cx="95400" cy="83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C22A829F-1FE6-4078-7AFC-5CFBBEAEC33A}"/>
              </a:ext>
            </a:extLst>
          </p:cNvPr>
          <p:cNvGrpSpPr/>
          <p:nvPr/>
        </p:nvGrpSpPr>
        <p:grpSpPr>
          <a:xfrm>
            <a:off x="6161480" y="3325170"/>
            <a:ext cx="1039680" cy="281880"/>
            <a:chOff x="6161480" y="3325170"/>
            <a:chExt cx="1039680" cy="281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21" name="잉크 20">
                  <a:extLst>
                    <a:ext uri="{FF2B5EF4-FFF2-40B4-BE49-F238E27FC236}">
                      <a16:creationId xmlns:a16="http://schemas.microsoft.com/office/drawing/2014/main" id="{D4429428-FE7F-45CE-36FC-FD3045AAE0B8}"/>
                    </a:ext>
                  </a:extLst>
                </p14:cNvPr>
                <p14:cNvContentPartPr/>
                <p14:nvPr/>
              </p14:nvContentPartPr>
              <p14:xfrm>
                <a:off x="6178400" y="3325170"/>
                <a:ext cx="1022760" cy="281880"/>
              </p14:xfrm>
            </p:contentPart>
          </mc:Choice>
          <mc:Fallback xmlns="">
            <p:pic>
              <p:nvPicPr>
                <p:cNvPr id="21" name="잉크 20">
                  <a:extLst>
                    <a:ext uri="{FF2B5EF4-FFF2-40B4-BE49-F238E27FC236}">
                      <a16:creationId xmlns:a16="http://schemas.microsoft.com/office/drawing/2014/main" id="{D4429428-FE7F-45CE-36FC-FD3045AAE0B8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6169400" y="3316530"/>
                  <a:ext cx="1040400" cy="29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22" name="잉크 21">
                  <a:extLst>
                    <a:ext uri="{FF2B5EF4-FFF2-40B4-BE49-F238E27FC236}">
                      <a16:creationId xmlns:a16="http://schemas.microsoft.com/office/drawing/2014/main" id="{BF9D7821-A703-F03A-C001-B6E340C84B00}"/>
                    </a:ext>
                  </a:extLst>
                </p14:cNvPr>
                <p14:cNvContentPartPr/>
                <p14:nvPr/>
              </p14:nvContentPartPr>
              <p14:xfrm>
                <a:off x="6161480" y="3352890"/>
                <a:ext cx="105120" cy="121320"/>
              </p14:xfrm>
            </p:contentPart>
          </mc:Choice>
          <mc:Fallback xmlns="">
            <p:pic>
              <p:nvPicPr>
                <p:cNvPr id="22" name="잉크 21">
                  <a:extLst>
                    <a:ext uri="{FF2B5EF4-FFF2-40B4-BE49-F238E27FC236}">
                      <a16:creationId xmlns:a16="http://schemas.microsoft.com/office/drawing/2014/main" id="{BF9D7821-A703-F03A-C001-B6E340C84B00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6152840" y="3343890"/>
                  <a:ext cx="122760" cy="13896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9ADB0E93-8236-05B7-BEC3-2AB79E7E888F}"/>
              </a:ext>
            </a:extLst>
          </p:cNvPr>
          <p:cNvSpPr txBox="1"/>
          <p:nvPr/>
        </p:nvSpPr>
        <p:spPr>
          <a:xfrm>
            <a:off x="-90932" y="4898374"/>
            <a:ext cx="118384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rgbClr val="FF0000"/>
                </a:solidFill>
              </a:rPr>
              <a:t>"</a:t>
            </a:r>
            <a:r>
              <a:rPr lang="ko-KR" altLang="en-US" sz="2400" dirty="0">
                <a:solidFill>
                  <a:srgbClr val="FF0000"/>
                </a:solidFill>
              </a:rPr>
              <a:t>노이즈를 정확히 예측하는 것</a:t>
            </a:r>
            <a:r>
              <a:rPr lang="en-US" altLang="ko-KR" sz="2400" dirty="0">
                <a:solidFill>
                  <a:srgbClr val="FF0000"/>
                </a:solidFill>
              </a:rPr>
              <a:t>“</a:t>
            </a:r>
          </a:p>
          <a:p>
            <a:pPr algn="ctr"/>
            <a:r>
              <a:rPr lang="en-US" altLang="ko-KR" sz="2400" dirty="0">
                <a:solidFill>
                  <a:srgbClr val="FF0000"/>
                </a:solidFill>
              </a:rPr>
              <a:t>=</a:t>
            </a:r>
          </a:p>
          <a:p>
            <a:pPr algn="ctr"/>
            <a:r>
              <a:rPr lang="en-US" altLang="ko-KR" sz="2400" dirty="0">
                <a:solidFill>
                  <a:srgbClr val="FF0000"/>
                </a:solidFill>
              </a:rPr>
              <a:t>"</a:t>
            </a:r>
            <a:r>
              <a:rPr lang="ko-KR" altLang="en-US" sz="2400" dirty="0">
                <a:solidFill>
                  <a:srgbClr val="FF0000"/>
                </a:solidFill>
              </a:rPr>
              <a:t>깨끗한 진짜 데이터 쪽으로 향하는 화살표</a:t>
            </a:r>
            <a:r>
              <a:rPr lang="en-US" altLang="ko-KR" sz="2400" dirty="0">
                <a:solidFill>
                  <a:srgbClr val="FF0000"/>
                </a:solidFill>
              </a:rPr>
              <a:t>(</a:t>
            </a:r>
            <a:r>
              <a:rPr lang="ko-KR" altLang="en-US" sz="2400" dirty="0">
                <a:solidFill>
                  <a:srgbClr val="FF0000"/>
                </a:solidFill>
              </a:rPr>
              <a:t>스코어</a:t>
            </a:r>
            <a:r>
              <a:rPr lang="en-US" altLang="ko-KR" sz="2400" dirty="0">
                <a:solidFill>
                  <a:srgbClr val="FF0000"/>
                </a:solidFill>
              </a:rPr>
              <a:t>)</a:t>
            </a:r>
            <a:r>
              <a:rPr lang="ko-KR" altLang="en-US" sz="2400" dirty="0">
                <a:solidFill>
                  <a:srgbClr val="FF0000"/>
                </a:solidFill>
              </a:rPr>
              <a:t>를 정확히 아는 것</a:t>
            </a:r>
            <a:r>
              <a:rPr lang="en-US" altLang="ko-KR" sz="2400" dirty="0">
                <a:solidFill>
                  <a:srgbClr val="FF0000"/>
                </a:solidFill>
              </a:rPr>
              <a:t>"</a:t>
            </a:r>
            <a:endParaRPr lang="ko-KR" altLang="en-US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15112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01258D-9CE0-728B-8B7E-8CE74695F6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4FCBFC-9CE1-ECA7-0E80-08207ADB32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ko-KR" altLang="en-US" dirty="0"/>
              <a:t>노이즈를 연속적인 시간으로 주입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9C02C75-11C3-1FEB-4FE7-9FA23963E7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4028" y="1216754"/>
            <a:ext cx="11743944" cy="537911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200" dirty="0"/>
              <a:t>1)</a:t>
            </a:r>
            <a:r>
              <a:rPr lang="ko-KR" altLang="en-US" sz="2200" dirty="0"/>
              <a:t>기존 방식 </a:t>
            </a:r>
            <a:r>
              <a:rPr lang="en-US" altLang="ko-KR" sz="2200" dirty="0"/>
              <a:t>(1,000</a:t>
            </a:r>
            <a:r>
              <a:rPr lang="ko-KR" altLang="en-US" sz="2200" dirty="0"/>
              <a:t>단계</a:t>
            </a:r>
            <a:r>
              <a:rPr lang="en-US" altLang="ko-KR" sz="2200" dirty="0"/>
              <a:t>)</a:t>
            </a:r>
          </a:p>
          <a:p>
            <a:pPr marL="0" indent="0">
              <a:buNone/>
            </a:pPr>
            <a:r>
              <a:rPr lang="ko-KR" altLang="en-US" sz="1800" dirty="0"/>
              <a:t>지금까지는 이미지를 망가뜨릴 때 </a:t>
            </a:r>
            <a:r>
              <a:rPr lang="en-US" altLang="ko-KR" sz="1800" dirty="0"/>
              <a:t>"1</a:t>
            </a:r>
            <a:r>
              <a:rPr lang="ko-KR" altLang="en-US" sz="1800" dirty="0"/>
              <a:t>단계</a:t>
            </a:r>
            <a:r>
              <a:rPr lang="en-US" altLang="ko-KR" sz="1800" dirty="0"/>
              <a:t>: </a:t>
            </a:r>
            <a:r>
              <a:rPr lang="ko-KR" altLang="en-US" sz="1800" dirty="0"/>
              <a:t>노이즈 </a:t>
            </a:r>
            <a:r>
              <a:rPr lang="en-US" altLang="ko-KR" sz="1800" dirty="0"/>
              <a:t>10% </a:t>
            </a:r>
            <a:r>
              <a:rPr lang="ko-KR" altLang="en-US" sz="1800" dirty="0"/>
              <a:t>추가 </a:t>
            </a:r>
            <a:r>
              <a:rPr lang="en-US" altLang="ko-KR" sz="1800" dirty="0"/>
              <a:t>-&gt;</a:t>
            </a:r>
            <a:r>
              <a:rPr lang="ko-KR" altLang="en-US" sz="1800" dirty="0"/>
              <a:t> </a:t>
            </a:r>
            <a:r>
              <a:rPr lang="en-US" altLang="ko-KR" sz="1800" dirty="0"/>
              <a:t>2</a:t>
            </a:r>
            <a:r>
              <a:rPr lang="ko-KR" altLang="en-US" sz="1800" dirty="0"/>
              <a:t>단계</a:t>
            </a:r>
            <a:r>
              <a:rPr lang="en-US" altLang="ko-KR" sz="1800" dirty="0"/>
              <a:t>: </a:t>
            </a:r>
            <a:r>
              <a:rPr lang="ko-KR" altLang="en-US" sz="1800" dirty="0"/>
              <a:t>노이즈 </a:t>
            </a:r>
            <a:r>
              <a:rPr lang="en-US" altLang="ko-KR" sz="1800" dirty="0"/>
              <a:t>20% </a:t>
            </a:r>
            <a:r>
              <a:rPr lang="ko-KR" altLang="en-US" sz="1800" dirty="0"/>
              <a:t>추가</a:t>
            </a:r>
            <a:r>
              <a:rPr lang="en-US" altLang="ko-KR" sz="1800" dirty="0"/>
              <a:t>..." </a:t>
            </a:r>
            <a:r>
              <a:rPr lang="ko-KR" altLang="en-US" sz="1800" dirty="0"/>
              <a:t>식으로 </a:t>
            </a:r>
            <a:r>
              <a:rPr lang="ko-KR" altLang="en-US" sz="1800" dirty="0">
                <a:solidFill>
                  <a:srgbClr val="FF0000"/>
                </a:solidFill>
              </a:rPr>
              <a:t>계단을 오르듯 뚝뚝 끊어서 진행함</a:t>
            </a:r>
            <a:r>
              <a:rPr lang="en-US" altLang="ko-KR" sz="1800" dirty="0">
                <a:solidFill>
                  <a:srgbClr val="FF0000"/>
                </a:solidFill>
              </a:rPr>
              <a:t>.</a:t>
            </a:r>
          </a:p>
          <a:p>
            <a:pPr marL="0" indent="0">
              <a:buNone/>
            </a:pPr>
            <a:r>
              <a:rPr lang="en-US" altLang="ko-KR" sz="2200" dirty="0"/>
              <a:t>2)</a:t>
            </a:r>
            <a:r>
              <a:rPr lang="ko-KR" altLang="en-US" sz="2200" dirty="0"/>
              <a:t>연속적인 시간</a:t>
            </a:r>
            <a:endParaRPr lang="en-US" altLang="ko-KR" sz="2200" dirty="0"/>
          </a:p>
          <a:p>
            <a:pPr marL="0" indent="0">
              <a:buNone/>
            </a:pPr>
            <a:r>
              <a:rPr lang="ko-KR" altLang="en-US" sz="1800" dirty="0"/>
              <a:t>이 계단을 </a:t>
            </a:r>
            <a:r>
              <a:rPr lang="ko-KR" altLang="en-US" sz="1800" dirty="0">
                <a:solidFill>
                  <a:srgbClr val="FF0000"/>
                </a:solidFill>
              </a:rPr>
              <a:t>무한히 잘게 쪼개 매끄러운 미끄럼틀</a:t>
            </a:r>
            <a:r>
              <a:rPr lang="ko-KR" altLang="en-US" sz="1800" dirty="0"/>
              <a:t>로 만들어 노이즈가 </a:t>
            </a:r>
            <a:r>
              <a:rPr lang="en-US" altLang="ko-KR" sz="1800" dirty="0"/>
              <a:t>1</a:t>
            </a:r>
            <a:r>
              <a:rPr lang="ko-KR" altLang="en-US" sz="1800" dirty="0"/>
              <a:t>단계</a:t>
            </a:r>
            <a:r>
              <a:rPr lang="en-US" altLang="ko-KR" sz="1800" dirty="0"/>
              <a:t>, 2</a:t>
            </a:r>
            <a:r>
              <a:rPr lang="ko-KR" altLang="en-US" sz="1800" dirty="0"/>
              <a:t>단계가 아닌</a:t>
            </a:r>
            <a:r>
              <a:rPr lang="en-US" altLang="ko-KR" sz="1800" dirty="0"/>
              <a:t>, </a:t>
            </a:r>
            <a:r>
              <a:rPr lang="en-US" altLang="ko-KR" sz="1800" dirty="0">
                <a:solidFill>
                  <a:srgbClr val="FF0000"/>
                </a:solidFill>
              </a:rPr>
              <a:t>0</a:t>
            </a:r>
            <a:r>
              <a:rPr lang="ko-KR" altLang="en-US" sz="1800" dirty="0">
                <a:solidFill>
                  <a:srgbClr val="FF0000"/>
                </a:solidFill>
              </a:rPr>
              <a:t>초부터 </a:t>
            </a:r>
            <a:r>
              <a:rPr lang="en-US" altLang="ko-KR" sz="1800" dirty="0">
                <a:solidFill>
                  <a:srgbClr val="FF0000"/>
                </a:solidFill>
              </a:rPr>
              <a:t>T</a:t>
            </a:r>
            <a:r>
              <a:rPr lang="ko-KR" altLang="en-US" sz="1800" dirty="0">
                <a:solidFill>
                  <a:srgbClr val="FF0000"/>
                </a:solidFill>
              </a:rPr>
              <a:t>초까지 물 흐르듯 스며들게 된다</a:t>
            </a:r>
            <a:r>
              <a:rPr lang="en-US" altLang="ko-KR" sz="1800" dirty="0">
                <a:solidFill>
                  <a:srgbClr val="FF0000"/>
                </a:solidFill>
              </a:rPr>
              <a:t>.</a:t>
            </a:r>
          </a:p>
          <a:p>
            <a:pPr marL="0" indent="0">
              <a:buNone/>
            </a:pPr>
            <a:endParaRPr lang="ko-KR" altLang="en-US" sz="15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CEB7E3-44E4-928D-C9C9-672D960A1DF2}"/>
              </a:ext>
            </a:extLst>
          </p:cNvPr>
          <p:cNvSpPr txBox="1"/>
          <p:nvPr/>
        </p:nvSpPr>
        <p:spPr>
          <a:xfrm>
            <a:off x="455676" y="3666821"/>
            <a:ext cx="541477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200" dirty="0"/>
              <a:t>SDE (</a:t>
            </a:r>
            <a:r>
              <a:rPr lang="ko-KR" altLang="en-US" sz="2200" dirty="0"/>
              <a:t>확률 미분 방정식</a:t>
            </a:r>
            <a:r>
              <a:rPr lang="en-US" altLang="ko-KR" sz="2200" dirty="0"/>
              <a:t>)</a:t>
            </a:r>
          </a:p>
          <a:p>
            <a:r>
              <a:rPr lang="en-US" altLang="ko-KR" sz="1500" dirty="0"/>
              <a:t>-</a:t>
            </a:r>
            <a:r>
              <a:rPr lang="ko-KR" altLang="en-US" sz="1500" dirty="0"/>
              <a:t>확률</a:t>
            </a:r>
            <a:r>
              <a:rPr lang="en-US" altLang="ko-KR" sz="1500" dirty="0"/>
              <a:t>(Stochastic)</a:t>
            </a:r>
            <a:r>
              <a:rPr lang="ko-KR" altLang="en-US" sz="1500" dirty="0"/>
              <a:t>이라는 말은 </a:t>
            </a:r>
            <a:r>
              <a:rPr lang="en-US" altLang="ko-KR" sz="1500" dirty="0"/>
              <a:t>‘</a:t>
            </a:r>
            <a:r>
              <a:rPr lang="ko-KR" altLang="en-US" sz="1500" dirty="0">
                <a:solidFill>
                  <a:srgbClr val="FF0000"/>
                </a:solidFill>
              </a:rPr>
              <a:t>무작위로</a:t>
            </a:r>
            <a:r>
              <a:rPr lang="en-US" altLang="ko-KR" sz="1500" dirty="0">
                <a:solidFill>
                  <a:srgbClr val="FF0000"/>
                </a:solidFill>
              </a:rPr>
              <a:t>‘ </a:t>
            </a:r>
            <a:r>
              <a:rPr lang="ko-KR" altLang="en-US" sz="1500" dirty="0">
                <a:solidFill>
                  <a:srgbClr val="FF0000"/>
                </a:solidFill>
              </a:rPr>
              <a:t>움직인다</a:t>
            </a:r>
            <a:r>
              <a:rPr lang="ko-KR" altLang="en-US" sz="1500" dirty="0"/>
              <a:t>는 뜻임</a:t>
            </a:r>
            <a:r>
              <a:rPr lang="en-US" altLang="ko-KR" sz="1500" dirty="0"/>
              <a:t>. </a:t>
            </a:r>
            <a:r>
              <a:rPr lang="ko-KR" altLang="en-US" sz="1500" dirty="0"/>
              <a:t>사진에 노이즈가 스며들어 망가지는</a:t>
            </a:r>
            <a:r>
              <a:rPr lang="en-US" altLang="ko-KR" sz="1500" dirty="0"/>
              <a:t>(</a:t>
            </a:r>
            <a:r>
              <a:rPr lang="en-US" altLang="ko-KR" sz="1500" dirty="0" err="1"/>
              <a:t>Xt</a:t>
            </a:r>
            <a:r>
              <a:rPr lang="en-US" altLang="ko-KR" sz="1500" dirty="0"/>
              <a:t>) </a:t>
            </a:r>
            <a:r>
              <a:rPr lang="ko-KR" altLang="en-US" sz="1500" dirty="0"/>
              <a:t>과정을</a:t>
            </a:r>
            <a:r>
              <a:rPr lang="en-US" altLang="ko-KR" sz="1500" dirty="0"/>
              <a:t> </a:t>
            </a:r>
            <a:r>
              <a:rPr lang="ko-KR" altLang="en-US" sz="1500" dirty="0">
                <a:solidFill>
                  <a:srgbClr val="FF0000"/>
                </a:solidFill>
              </a:rPr>
              <a:t>물에 잉크 입자들이 무작위로 </a:t>
            </a:r>
            <a:r>
              <a:rPr lang="ko-KR" altLang="en-US" sz="1500" dirty="0" err="1">
                <a:solidFill>
                  <a:srgbClr val="FF0000"/>
                </a:solidFill>
              </a:rPr>
              <a:t>퍼져나가는</a:t>
            </a:r>
            <a:r>
              <a:rPr lang="ko-KR" altLang="en-US" sz="1500" dirty="0">
                <a:solidFill>
                  <a:srgbClr val="FF0000"/>
                </a:solidFill>
              </a:rPr>
              <a:t> 현상</a:t>
            </a:r>
            <a:r>
              <a:rPr lang="ko-KR" altLang="en-US" sz="1500" dirty="0"/>
              <a:t>처럼 </a:t>
            </a:r>
            <a:r>
              <a:rPr lang="ko-KR" altLang="en-US" sz="1500" dirty="0">
                <a:solidFill>
                  <a:srgbClr val="FF0000"/>
                </a:solidFill>
              </a:rPr>
              <a:t>수식</a:t>
            </a:r>
            <a:r>
              <a:rPr lang="en-US" altLang="ko-KR" sz="1500" dirty="0">
                <a:solidFill>
                  <a:srgbClr val="FF0000"/>
                </a:solidFill>
              </a:rPr>
              <a:t>(SDE)</a:t>
            </a:r>
            <a:r>
              <a:rPr lang="ko-KR" altLang="en-US" sz="1500" dirty="0">
                <a:solidFill>
                  <a:srgbClr val="FF0000"/>
                </a:solidFill>
              </a:rPr>
              <a:t>으로 묘사</a:t>
            </a:r>
            <a:r>
              <a:rPr lang="ko-KR" altLang="en-US" sz="1500" dirty="0"/>
              <a:t>함</a:t>
            </a:r>
            <a:r>
              <a:rPr lang="en-US" altLang="ko-KR" sz="1500" dirty="0"/>
              <a:t>.</a:t>
            </a:r>
          </a:p>
          <a:p>
            <a:endParaRPr lang="en-US" altLang="ko-KR" sz="1500" dirty="0"/>
          </a:p>
          <a:p>
            <a:endParaRPr lang="en-US" altLang="ko-KR" sz="1500" dirty="0"/>
          </a:p>
          <a:p>
            <a:r>
              <a:rPr lang="en-US" altLang="ko-KR" sz="1500" dirty="0"/>
              <a:t>-</a:t>
            </a:r>
            <a:r>
              <a:rPr lang="ko-KR" altLang="en-US" sz="1500" dirty="0"/>
              <a:t>예측이 불가능함 </a:t>
            </a:r>
            <a:r>
              <a:rPr lang="en-US" altLang="ko-KR" sz="1500" dirty="0">
                <a:solidFill>
                  <a:srgbClr val="FF0000"/>
                </a:solidFill>
              </a:rPr>
              <a:t>(</a:t>
            </a:r>
            <a:r>
              <a:rPr lang="ko-KR" altLang="en-US" sz="1500" dirty="0">
                <a:solidFill>
                  <a:srgbClr val="FF0000"/>
                </a:solidFill>
              </a:rPr>
              <a:t>문제점</a:t>
            </a:r>
            <a:r>
              <a:rPr lang="en-US" altLang="ko-KR" sz="1500" dirty="0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5864486-3737-48F1-F737-A9CDEC3F8390}"/>
              </a:ext>
            </a:extLst>
          </p:cNvPr>
          <p:cNvSpPr txBox="1"/>
          <p:nvPr/>
        </p:nvSpPr>
        <p:spPr>
          <a:xfrm>
            <a:off x="6547867" y="3666821"/>
            <a:ext cx="542544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ODE (</a:t>
            </a:r>
            <a:r>
              <a:rPr lang="ko-KR" altLang="en-US" dirty="0" err="1"/>
              <a:t>상미분</a:t>
            </a:r>
            <a:r>
              <a:rPr lang="ko-KR" altLang="en-US" dirty="0"/>
              <a:t> 방정식</a:t>
            </a:r>
            <a:r>
              <a:rPr lang="en-US" altLang="ko-KR" dirty="0"/>
              <a:t>)</a:t>
            </a:r>
          </a:p>
          <a:p>
            <a:r>
              <a:rPr lang="en-US" altLang="ko-KR" sz="1500" dirty="0"/>
              <a:t>-</a:t>
            </a:r>
            <a:r>
              <a:rPr lang="ko-KR" altLang="en-US" sz="1500" dirty="0" err="1"/>
              <a:t>상미분</a:t>
            </a:r>
            <a:r>
              <a:rPr lang="ko-KR" altLang="en-US" sz="1500" dirty="0"/>
              <a:t> 방정식은 </a:t>
            </a:r>
            <a:r>
              <a:rPr lang="ko-KR" altLang="en-US" sz="1500" dirty="0">
                <a:solidFill>
                  <a:srgbClr val="FF0000"/>
                </a:solidFill>
              </a:rPr>
              <a:t>확률</a:t>
            </a:r>
            <a:r>
              <a:rPr lang="en-US" altLang="ko-KR" sz="1500" dirty="0">
                <a:solidFill>
                  <a:srgbClr val="FF0000"/>
                </a:solidFill>
              </a:rPr>
              <a:t>(</a:t>
            </a:r>
            <a:r>
              <a:rPr lang="ko-KR" altLang="en-US" sz="1500" dirty="0">
                <a:solidFill>
                  <a:srgbClr val="FF0000"/>
                </a:solidFill>
              </a:rPr>
              <a:t>무작위성</a:t>
            </a:r>
            <a:r>
              <a:rPr lang="en-US" altLang="ko-KR" sz="1500" dirty="0">
                <a:solidFill>
                  <a:srgbClr val="FF0000"/>
                </a:solidFill>
              </a:rPr>
              <a:t>)</a:t>
            </a:r>
            <a:r>
              <a:rPr lang="ko-KR" altLang="en-US" sz="1500" dirty="0">
                <a:solidFill>
                  <a:srgbClr val="FF0000"/>
                </a:solidFill>
              </a:rPr>
              <a:t>이 완전히 빠진</a:t>
            </a:r>
            <a:r>
              <a:rPr lang="en-US" altLang="ko-KR" sz="1500" dirty="0">
                <a:solidFill>
                  <a:srgbClr val="FF0000"/>
                </a:solidFill>
              </a:rPr>
              <a:t>, ＇</a:t>
            </a:r>
            <a:r>
              <a:rPr lang="ko-KR" altLang="en-US" sz="1500" dirty="0">
                <a:solidFill>
                  <a:srgbClr val="FF0000"/>
                </a:solidFill>
              </a:rPr>
              <a:t>결과가 </a:t>
            </a:r>
            <a:r>
              <a:rPr lang="en-US" altLang="ko-KR" sz="1500" dirty="0">
                <a:solidFill>
                  <a:srgbClr val="FF0000"/>
                </a:solidFill>
              </a:rPr>
              <a:t>100% </a:t>
            </a:r>
            <a:r>
              <a:rPr lang="ko-KR" altLang="en-US" sz="1500" dirty="0">
                <a:solidFill>
                  <a:srgbClr val="FF0000"/>
                </a:solidFill>
              </a:rPr>
              <a:t>확정된 경로</a:t>
            </a:r>
            <a:r>
              <a:rPr lang="en-US" altLang="ko-KR" sz="1500" dirty="0">
                <a:solidFill>
                  <a:srgbClr val="FF0000"/>
                </a:solidFill>
              </a:rPr>
              <a:t>'</a:t>
            </a:r>
            <a:r>
              <a:rPr lang="ko-KR" altLang="en-US" sz="1500" dirty="0"/>
              <a:t>를 의미</a:t>
            </a:r>
            <a:r>
              <a:rPr lang="en-US" altLang="ko-KR" sz="1500" dirty="0"/>
              <a:t>. </a:t>
            </a:r>
            <a:r>
              <a:rPr lang="en-US" altLang="ko-KR" sz="1500" dirty="0">
                <a:solidFill>
                  <a:srgbClr val="FF0000"/>
                </a:solidFill>
              </a:rPr>
              <a:t>(</a:t>
            </a:r>
            <a:r>
              <a:rPr lang="ko-KR" altLang="en-US" sz="1500" dirty="0">
                <a:solidFill>
                  <a:srgbClr val="FF0000"/>
                </a:solidFill>
              </a:rPr>
              <a:t>해결</a:t>
            </a:r>
            <a:r>
              <a:rPr lang="en-US" altLang="ko-KR" sz="1500" dirty="0">
                <a:solidFill>
                  <a:srgbClr val="FF0000"/>
                </a:solidFill>
              </a:rPr>
              <a:t>)</a:t>
            </a:r>
          </a:p>
          <a:p>
            <a:r>
              <a:rPr lang="ko-KR" altLang="en-US" sz="1500" dirty="0"/>
              <a:t>즉</a:t>
            </a:r>
            <a:r>
              <a:rPr lang="en-US" altLang="ko-KR" sz="1500" dirty="0"/>
              <a:t>, </a:t>
            </a:r>
            <a:r>
              <a:rPr lang="ko-KR" altLang="en-US" sz="1500" dirty="0">
                <a:solidFill>
                  <a:srgbClr val="FF0000"/>
                </a:solidFill>
              </a:rPr>
              <a:t>주사위를 굴리지 않고도</a:t>
            </a:r>
            <a:r>
              <a:rPr lang="ko-KR" altLang="en-US" sz="1500" dirty="0"/>
              <a:t> 무작위 </a:t>
            </a:r>
            <a:r>
              <a:rPr lang="en-US" altLang="ko-KR" sz="1500" dirty="0"/>
              <a:t>SDE</a:t>
            </a:r>
            <a:r>
              <a:rPr lang="ko-KR" altLang="en-US" sz="1500" dirty="0"/>
              <a:t>와 완전히 똑같은 결과물을 만들어내는 루트를 수학적으로 찾아낸 것</a:t>
            </a:r>
            <a:endParaRPr lang="en-US" altLang="ko-KR" sz="1500" dirty="0"/>
          </a:p>
          <a:p>
            <a:endParaRPr lang="ko-KR" altLang="en-US" dirty="0"/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C93A938C-403B-F1B6-E987-62699CDAB404}"/>
              </a:ext>
            </a:extLst>
          </p:cNvPr>
          <p:cNvCxnSpPr/>
          <p:nvPr/>
        </p:nvCxnSpPr>
        <p:spPr>
          <a:xfrm>
            <a:off x="3556000" y="3879850"/>
            <a:ext cx="2997202" cy="0"/>
          </a:xfrm>
          <a:prstGeom prst="straightConnector1">
            <a:avLst/>
          </a:prstGeom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0AD7C93A-831F-018F-32DB-593DA0BACC84}"/>
              </a:ext>
            </a:extLst>
          </p:cNvPr>
          <p:cNvSpPr txBox="1"/>
          <p:nvPr/>
        </p:nvSpPr>
        <p:spPr>
          <a:xfrm>
            <a:off x="6547867" y="5291362"/>
            <a:ext cx="54147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7030A0"/>
                </a:solidFill>
              </a:rPr>
              <a:t>노이즈에서 원본데이터로 </a:t>
            </a:r>
            <a:r>
              <a:rPr lang="en-US" altLang="ko-KR" dirty="0">
                <a:solidFill>
                  <a:srgbClr val="7030A0"/>
                </a:solidFill>
              </a:rPr>
              <a:t>100% </a:t>
            </a:r>
            <a:r>
              <a:rPr lang="ko-KR" altLang="en-US" dirty="0">
                <a:solidFill>
                  <a:srgbClr val="7030A0"/>
                </a:solidFill>
              </a:rPr>
              <a:t>복원가능</a:t>
            </a:r>
            <a:r>
              <a:rPr lang="en-US" altLang="ko-KR" dirty="0">
                <a:solidFill>
                  <a:srgbClr val="7030A0"/>
                </a:solidFill>
              </a:rPr>
              <a:t>.</a:t>
            </a:r>
          </a:p>
          <a:p>
            <a:r>
              <a:rPr lang="en-US" altLang="ko-KR" dirty="0">
                <a:solidFill>
                  <a:srgbClr val="7030A0"/>
                </a:solidFill>
              </a:rPr>
              <a:t>AI </a:t>
            </a:r>
            <a:r>
              <a:rPr lang="ko-KR" altLang="en-US" dirty="0">
                <a:solidFill>
                  <a:srgbClr val="7030A0"/>
                </a:solidFill>
              </a:rPr>
              <a:t>모델 간 객관적 성능 평가 가능</a:t>
            </a:r>
            <a:r>
              <a:rPr lang="en-US" altLang="ko-KR" dirty="0">
                <a:solidFill>
                  <a:srgbClr val="7030A0"/>
                </a:solidFill>
              </a:rPr>
              <a:t>.</a:t>
            </a:r>
          </a:p>
          <a:p>
            <a:r>
              <a:rPr lang="ko-KR" altLang="en-US" dirty="0">
                <a:solidFill>
                  <a:srgbClr val="FF0000"/>
                </a:solidFill>
              </a:rPr>
              <a:t>무작위성을 제거하고 </a:t>
            </a:r>
            <a:r>
              <a:rPr lang="en-US" altLang="ko-KR" dirty="0">
                <a:solidFill>
                  <a:srgbClr val="FF0000"/>
                </a:solidFill>
              </a:rPr>
              <a:t>‘</a:t>
            </a:r>
            <a:r>
              <a:rPr lang="ko-KR" altLang="en-US" dirty="0">
                <a:solidFill>
                  <a:srgbClr val="FF0000"/>
                </a:solidFill>
              </a:rPr>
              <a:t>확정된 경로</a:t>
            </a:r>
            <a:r>
              <a:rPr lang="en-US" altLang="ko-KR" dirty="0">
                <a:solidFill>
                  <a:srgbClr val="FF0000"/>
                </a:solidFill>
              </a:rPr>
              <a:t>’</a:t>
            </a:r>
            <a:r>
              <a:rPr lang="ko-KR" altLang="en-US" dirty="0">
                <a:solidFill>
                  <a:srgbClr val="FF0000"/>
                </a:solidFill>
              </a:rPr>
              <a:t>를 얻어서</a:t>
            </a:r>
            <a:r>
              <a:rPr lang="en-US" altLang="ko-KR" dirty="0">
                <a:solidFill>
                  <a:srgbClr val="FF0000"/>
                </a:solidFill>
              </a:rPr>
              <a:t>..</a:t>
            </a:r>
            <a:endParaRPr lang="ko-KR" altLang="en-US" dirty="0">
              <a:solidFill>
                <a:srgbClr val="FF0000"/>
              </a:solidFill>
            </a:endParaRPr>
          </a:p>
        </p:txBody>
      </p: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DDA4F4AE-36DC-154B-3F35-A4B0B72CDAD4}"/>
              </a:ext>
            </a:extLst>
          </p:cNvPr>
          <p:cNvCxnSpPr/>
          <p:nvPr/>
        </p:nvCxnSpPr>
        <p:spPr>
          <a:xfrm flipH="1">
            <a:off x="2444750" y="3041650"/>
            <a:ext cx="177800" cy="6251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47698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54E7B5-9F90-FA95-C480-2728C83551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CB98FF-A348-09C4-D4A2-BB225094CD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US" altLang="ko-KR" dirty="0"/>
              <a:t>SDE -&gt; ODE ?</a:t>
            </a:r>
            <a:endParaRPr lang="ko-KR" altLang="en-US" dirty="0"/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73F1C52F-24F5-EE40-AA2D-4DD9491265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22507" y="1288954"/>
            <a:ext cx="10906703" cy="526836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F0FEC0-A089-88EA-6289-A1ECBCD251A3}"/>
              </a:ext>
            </a:extLst>
          </p:cNvPr>
          <p:cNvSpPr txBox="1"/>
          <p:nvPr/>
        </p:nvSpPr>
        <p:spPr>
          <a:xfrm>
            <a:off x="597621" y="2445807"/>
            <a:ext cx="61595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원본데이터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ACFD332-442A-C715-AB5E-B043051C634B}"/>
              </a:ext>
            </a:extLst>
          </p:cNvPr>
          <p:cNvSpPr txBox="1"/>
          <p:nvPr/>
        </p:nvSpPr>
        <p:spPr>
          <a:xfrm>
            <a:off x="11338146" y="2381250"/>
            <a:ext cx="461665" cy="185420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ko-KR" altLang="en-US" dirty="0" err="1">
                <a:solidFill>
                  <a:srgbClr val="FF0000"/>
                </a:solidFill>
              </a:rPr>
              <a:t>노이즈잔뜩낌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F30A353-1DDB-B53D-13AF-4292C9CDAF31}"/>
              </a:ext>
            </a:extLst>
          </p:cNvPr>
          <p:cNvSpPr txBox="1"/>
          <p:nvPr/>
        </p:nvSpPr>
        <p:spPr>
          <a:xfrm>
            <a:off x="7140575" y="781390"/>
            <a:ext cx="502285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지지직거리는</a:t>
            </a:r>
            <a:r>
              <a:rPr lang="ko-KR" altLang="en-US" dirty="0"/>
              <a:t> 선</a:t>
            </a:r>
            <a:r>
              <a:rPr lang="en-US" altLang="ko-KR" dirty="0"/>
              <a:t>(SDE)</a:t>
            </a:r>
          </a:p>
          <a:p>
            <a:r>
              <a:rPr lang="en-US" altLang="ko-KR" sz="1200" dirty="0"/>
              <a:t>-&gt;</a:t>
            </a:r>
            <a:r>
              <a:rPr lang="ko-KR" altLang="en-US" sz="1200" dirty="0"/>
              <a:t>입자가 무작위로 부딪히며 이동하는 것과 같음 </a:t>
            </a:r>
            <a:r>
              <a:rPr lang="en-US" altLang="ko-KR" sz="1200" dirty="0"/>
              <a:t>-&gt;</a:t>
            </a:r>
            <a:r>
              <a:rPr lang="ko-KR" altLang="en-US" sz="1200" dirty="0">
                <a:solidFill>
                  <a:srgbClr val="FF0000"/>
                </a:solidFill>
              </a:rPr>
              <a:t>궤적이 </a:t>
            </a:r>
            <a:r>
              <a:rPr lang="ko-KR" altLang="en-US" sz="1200" dirty="0" err="1">
                <a:solidFill>
                  <a:srgbClr val="FF0000"/>
                </a:solidFill>
              </a:rPr>
              <a:t>삐뚤빼뚤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4674BD1-D5C5-4DDE-5AA3-F55EF8E80C3F}"/>
              </a:ext>
            </a:extLst>
          </p:cNvPr>
          <p:cNvSpPr txBox="1"/>
          <p:nvPr/>
        </p:nvSpPr>
        <p:spPr>
          <a:xfrm>
            <a:off x="7140575" y="1343818"/>
            <a:ext cx="502285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하얀색 매끄러운 선</a:t>
            </a:r>
            <a:r>
              <a:rPr lang="en-US" altLang="ko-KR" dirty="0"/>
              <a:t>(ODE)</a:t>
            </a:r>
          </a:p>
          <a:p>
            <a:r>
              <a:rPr lang="en-US" altLang="ko-KR" sz="1200" dirty="0"/>
              <a:t>-&gt;</a:t>
            </a:r>
            <a:r>
              <a:rPr lang="ko-KR" altLang="en-US" sz="1200" dirty="0">
                <a:solidFill>
                  <a:srgbClr val="FF0000"/>
                </a:solidFill>
              </a:rPr>
              <a:t>흔들림</a:t>
            </a:r>
            <a:r>
              <a:rPr lang="en-US" altLang="ko-KR" sz="1200" dirty="0">
                <a:solidFill>
                  <a:srgbClr val="FF0000"/>
                </a:solidFill>
              </a:rPr>
              <a:t>(</a:t>
            </a:r>
            <a:r>
              <a:rPr lang="ko-KR" altLang="en-US" sz="1200" dirty="0">
                <a:solidFill>
                  <a:srgbClr val="FF0000"/>
                </a:solidFill>
              </a:rPr>
              <a:t>무작위성</a:t>
            </a:r>
            <a:r>
              <a:rPr lang="en-US" altLang="ko-KR" sz="1200" dirty="0">
                <a:solidFill>
                  <a:srgbClr val="FF0000"/>
                </a:solidFill>
              </a:rPr>
              <a:t>)</a:t>
            </a:r>
            <a:r>
              <a:rPr lang="ko-KR" altLang="en-US" sz="1200" dirty="0">
                <a:solidFill>
                  <a:srgbClr val="FF0000"/>
                </a:solidFill>
              </a:rPr>
              <a:t>을 없애고 매끄럽게 가도 </a:t>
            </a:r>
            <a:endParaRPr lang="en-US" altLang="ko-KR" sz="1200" dirty="0">
              <a:solidFill>
                <a:srgbClr val="FF0000"/>
              </a:solidFill>
            </a:endParaRPr>
          </a:p>
          <a:p>
            <a:r>
              <a:rPr lang="en-US" altLang="ko-KR" sz="1200" dirty="0"/>
              <a:t>-&gt;</a:t>
            </a:r>
            <a:r>
              <a:rPr lang="ko-KR" altLang="en-US" sz="1200" dirty="0"/>
              <a:t>오른쪽의 똑같은 노이즈 분포에 도달</a:t>
            </a:r>
            <a:r>
              <a:rPr lang="en-US" altLang="ko-KR" sz="1200" dirty="0"/>
              <a:t>!!!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30318BB-D78E-E81C-69D6-AC1B00B4BE05}"/>
              </a:ext>
            </a:extLst>
          </p:cNvPr>
          <p:cNvSpPr txBox="1"/>
          <p:nvPr/>
        </p:nvSpPr>
        <p:spPr>
          <a:xfrm>
            <a:off x="2324100" y="5199618"/>
            <a:ext cx="33401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FF0000"/>
                </a:solidFill>
              </a:rPr>
              <a:t>데이터의 움직임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520D0F1-6952-1828-D7F2-E2B2D122CB66}"/>
              </a:ext>
            </a:extLst>
          </p:cNvPr>
          <p:cNvSpPr txBox="1"/>
          <p:nvPr/>
        </p:nvSpPr>
        <p:spPr>
          <a:xfrm>
            <a:off x="3492500" y="5687412"/>
            <a:ext cx="10477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FF0000"/>
                </a:solidFill>
              </a:rPr>
              <a:t>노이즈의 크기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64B625E-F185-AA66-21AD-596BF31A04A0}"/>
              </a:ext>
            </a:extLst>
          </p:cNvPr>
          <p:cNvSpPr txBox="1"/>
          <p:nvPr/>
        </p:nvSpPr>
        <p:spPr>
          <a:xfrm>
            <a:off x="3994150" y="5179848"/>
            <a:ext cx="13779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FF0000"/>
                </a:solidFill>
              </a:rPr>
              <a:t>예측 불가능한 변화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AAFD04C-E583-8E24-7B75-250AB8474866}"/>
              </a:ext>
            </a:extLst>
          </p:cNvPr>
          <p:cNvSpPr txBox="1"/>
          <p:nvPr/>
        </p:nvSpPr>
        <p:spPr>
          <a:xfrm>
            <a:off x="6298267" y="5833734"/>
            <a:ext cx="13322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FF0000"/>
                </a:solidFill>
              </a:rPr>
              <a:t>확정된 속도와 방향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554A9A0-F155-5CC5-4ACA-0E59A9BEE535}"/>
              </a:ext>
            </a:extLst>
          </p:cNvPr>
          <p:cNvSpPr txBox="1"/>
          <p:nvPr/>
        </p:nvSpPr>
        <p:spPr>
          <a:xfrm>
            <a:off x="7685376" y="5833734"/>
            <a:ext cx="10477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FF0000"/>
                </a:solidFill>
              </a:rPr>
              <a:t>스코어에 얼마를 곱해줄까</a:t>
            </a:r>
            <a:r>
              <a:rPr lang="en-US" altLang="ko-KR" sz="1000" dirty="0">
                <a:solidFill>
                  <a:srgbClr val="FF0000"/>
                </a:solidFill>
              </a:rPr>
              <a:t>?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3DDCC3B-E8DD-86B0-7951-90EF3CA7D1CE}"/>
              </a:ext>
            </a:extLst>
          </p:cNvPr>
          <p:cNvSpPr txBox="1"/>
          <p:nvPr/>
        </p:nvSpPr>
        <p:spPr>
          <a:xfrm>
            <a:off x="8902700" y="5087019"/>
            <a:ext cx="13779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FF0000"/>
                </a:solidFill>
              </a:rPr>
              <a:t>스코어 </a:t>
            </a:r>
            <a:r>
              <a:rPr lang="en-US" altLang="ko-KR" sz="1000" dirty="0">
                <a:solidFill>
                  <a:srgbClr val="FF0000"/>
                </a:solidFill>
              </a:rPr>
              <a:t>(</a:t>
            </a:r>
            <a:r>
              <a:rPr lang="ko-KR" altLang="en-US" sz="1000" dirty="0">
                <a:solidFill>
                  <a:srgbClr val="FF0000"/>
                </a:solidFill>
              </a:rPr>
              <a:t>내비게이션</a:t>
            </a:r>
            <a:r>
              <a:rPr lang="en-US" altLang="ko-KR" sz="1000" dirty="0">
                <a:solidFill>
                  <a:srgbClr val="FF0000"/>
                </a:solidFill>
              </a:rPr>
              <a:t>)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6566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9678D4-6146-F4C9-F216-762F4E9792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AAC816-B35A-C680-6B76-0B49000C75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ko-KR" altLang="en-US" dirty="0"/>
              <a:t>생성속도의 한계</a:t>
            </a:r>
            <a:r>
              <a:rPr lang="en-US" altLang="ko-KR" dirty="0"/>
              <a:t>? (</a:t>
            </a:r>
            <a:r>
              <a:rPr lang="ko-KR" altLang="en-US" dirty="0"/>
              <a:t>문제점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9191433-10F5-1E05-3756-54C651699D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296" y="1182624"/>
            <a:ext cx="11582400" cy="5449823"/>
          </a:xfrm>
        </p:spPr>
        <p:txBody>
          <a:bodyPr/>
          <a:lstStyle/>
          <a:p>
            <a:pPr marL="0" indent="0">
              <a:buNone/>
            </a:pPr>
            <a:r>
              <a:rPr lang="en-US" altLang="ko-KR" sz="2000" dirty="0"/>
              <a:t>1)</a:t>
            </a:r>
            <a:r>
              <a:rPr lang="ko-KR" altLang="en-US" sz="2000" dirty="0"/>
              <a:t>징검다리 건너뛰기</a:t>
            </a:r>
            <a:r>
              <a:rPr lang="en-US" altLang="ko-KR" sz="2000" dirty="0"/>
              <a:t> (DDIM + </a:t>
            </a:r>
            <a:r>
              <a:rPr lang="ko-KR" altLang="en-US" sz="2000" dirty="0"/>
              <a:t>수치해석</a:t>
            </a:r>
            <a:r>
              <a:rPr lang="en-US" altLang="ko-KR" sz="2000" dirty="0"/>
              <a:t>)</a:t>
            </a:r>
          </a:p>
          <a:p>
            <a:pPr marL="0" indent="0">
              <a:buNone/>
            </a:pPr>
            <a:r>
              <a:rPr lang="en-US" altLang="ko-KR" sz="1400" dirty="0"/>
              <a:t>1000</a:t>
            </a:r>
            <a:r>
              <a:rPr lang="ko-KR" altLang="en-US" sz="1400" dirty="0"/>
              <a:t>단계를 다 밟는 것은 </a:t>
            </a:r>
            <a:r>
              <a:rPr lang="ko-KR" altLang="en-US" sz="1400" dirty="0" err="1"/>
              <a:t>연산량이</a:t>
            </a:r>
            <a:r>
              <a:rPr lang="ko-KR" altLang="en-US" sz="1400" dirty="0"/>
              <a:t> 너무 많다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ko-KR" altLang="en-US" sz="1400" dirty="0">
                <a:solidFill>
                  <a:srgbClr val="FF0000"/>
                </a:solidFill>
              </a:rPr>
              <a:t>시간 축을 넓게 나누어 큼직하게 건너뛰는 방식</a:t>
            </a:r>
            <a:r>
              <a:rPr lang="ko-KR" altLang="en-US" sz="1400" dirty="0"/>
              <a:t>을 취함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ko-KR" altLang="en-US" sz="1400" dirty="0"/>
              <a:t>단순히 스텝의 크기를 키워서 듬성듬성 뛰면 </a:t>
            </a:r>
            <a:r>
              <a:rPr lang="ko-KR" altLang="en-US" sz="1400" dirty="0">
                <a:solidFill>
                  <a:srgbClr val="FF0000"/>
                </a:solidFill>
              </a:rPr>
              <a:t>오차가 커지기 때문</a:t>
            </a:r>
            <a:r>
              <a:rPr lang="ko-KR" altLang="en-US" sz="1400" dirty="0"/>
              <a:t>에</a:t>
            </a:r>
            <a:r>
              <a:rPr lang="en-US" altLang="ko-KR" sz="1400" dirty="0"/>
              <a:t>, </a:t>
            </a:r>
            <a:r>
              <a:rPr lang="ko-KR" altLang="en-US" sz="1400" dirty="0"/>
              <a:t>그 해결책으로 </a:t>
            </a:r>
            <a:r>
              <a:rPr lang="en-US" altLang="ko-KR" sz="1400" dirty="0"/>
              <a:t>DDIM</a:t>
            </a:r>
            <a:r>
              <a:rPr lang="ko-KR" altLang="en-US" sz="1400" dirty="0"/>
              <a:t>을 사용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500" dirty="0"/>
          </a:p>
          <a:p>
            <a:pPr marL="0" indent="0">
              <a:buNone/>
            </a:pPr>
            <a:r>
              <a:rPr lang="en-US" altLang="ko-KR" sz="2000" dirty="0"/>
              <a:t>2)</a:t>
            </a:r>
            <a:r>
              <a:rPr lang="ko-KR" altLang="en-US" sz="2000" dirty="0"/>
              <a:t>병렬처리</a:t>
            </a:r>
            <a:endParaRPr lang="en-US" altLang="ko-KR" sz="2000" dirty="0"/>
          </a:p>
          <a:p>
            <a:pPr marL="0" indent="0">
              <a:buNone/>
            </a:pPr>
            <a:r>
              <a:rPr lang="ko-KR" altLang="en-US" sz="1500" dirty="0"/>
              <a:t>보통 다음 단계의 해를 </a:t>
            </a:r>
            <a:r>
              <a:rPr lang="ko-KR" altLang="en-US" sz="1500" dirty="0">
                <a:solidFill>
                  <a:srgbClr val="FF0000"/>
                </a:solidFill>
              </a:rPr>
              <a:t>구하려면 현재 단계의 계산이 끝날 때까지 기다려야 함</a:t>
            </a:r>
            <a:r>
              <a:rPr lang="en-US" altLang="ko-KR" sz="1500" dirty="0">
                <a:solidFill>
                  <a:srgbClr val="FF0000"/>
                </a:solidFill>
              </a:rPr>
              <a:t>.(</a:t>
            </a:r>
            <a:r>
              <a:rPr lang="ko-KR" altLang="en-US" sz="1500" dirty="0">
                <a:solidFill>
                  <a:srgbClr val="FF0000"/>
                </a:solidFill>
              </a:rPr>
              <a:t>순차적 계산</a:t>
            </a:r>
            <a:r>
              <a:rPr lang="en-US" altLang="ko-KR" sz="1500" dirty="0">
                <a:solidFill>
                  <a:srgbClr val="FF0000"/>
                </a:solidFill>
              </a:rPr>
              <a:t>)</a:t>
            </a:r>
          </a:p>
          <a:p>
            <a:pPr marL="0" indent="0">
              <a:buNone/>
            </a:pPr>
            <a:r>
              <a:rPr lang="ko-KR" altLang="en-US" sz="1500" dirty="0"/>
              <a:t>한 번에 </a:t>
            </a:r>
            <a:r>
              <a:rPr lang="ko-KR" altLang="en-US" sz="1500" dirty="0">
                <a:solidFill>
                  <a:srgbClr val="FF0000"/>
                </a:solidFill>
              </a:rPr>
              <a:t>여러 단계를 묶어서 처리</a:t>
            </a:r>
            <a:r>
              <a:rPr lang="ko-KR" altLang="en-US" sz="1500" dirty="0"/>
              <a:t>하는 </a:t>
            </a:r>
            <a:r>
              <a:rPr lang="en-US" altLang="ko-KR" sz="1500" dirty="0"/>
              <a:t>Batch window </a:t>
            </a:r>
            <a:r>
              <a:rPr lang="ko-KR" altLang="en-US" sz="1500" dirty="0"/>
              <a:t>방식을 도입</a:t>
            </a:r>
            <a:r>
              <a:rPr lang="en-US" altLang="ko-KR" sz="1500" dirty="0"/>
              <a:t>.</a:t>
            </a:r>
          </a:p>
          <a:p>
            <a:pPr marL="0" indent="0">
              <a:buNone/>
            </a:pPr>
            <a:endParaRPr lang="en-US" altLang="ko-KR" sz="500" dirty="0"/>
          </a:p>
          <a:p>
            <a:pPr marL="0" indent="0">
              <a:buNone/>
            </a:pPr>
            <a:r>
              <a:rPr lang="en-US" altLang="ko-KR" sz="2000" dirty="0"/>
              <a:t>3) </a:t>
            </a:r>
            <a:r>
              <a:rPr lang="ko-KR" altLang="en-US" sz="2000" dirty="0"/>
              <a:t>지식 증류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1500" dirty="0"/>
              <a:t> 1)</a:t>
            </a:r>
            <a:r>
              <a:rPr lang="ko-KR" altLang="en-US" sz="1500" dirty="0"/>
              <a:t>이미 </a:t>
            </a:r>
            <a:r>
              <a:rPr lang="ko-KR" altLang="en-US" sz="1500" dirty="0">
                <a:solidFill>
                  <a:srgbClr val="FF0000"/>
                </a:solidFill>
              </a:rPr>
              <a:t>듬성듬성 뛰는 법을 잘 아는 </a:t>
            </a:r>
            <a:r>
              <a:rPr lang="en-US" altLang="ko-KR" sz="1500" dirty="0">
                <a:solidFill>
                  <a:srgbClr val="FF0000"/>
                </a:solidFill>
              </a:rPr>
              <a:t>DDIM </a:t>
            </a:r>
            <a:r>
              <a:rPr lang="ko-KR" altLang="en-US" sz="1500" dirty="0" err="1">
                <a:solidFill>
                  <a:srgbClr val="FF0000"/>
                </a:solidFill>
              </a:rPr>
              <a:t>샘플러를</a:t>
            </a:r>
            <a:r>
              <a:rPr lang="ko-KR" altLang="en-US" sz="1500" dirty="0">
                <a:solidFill>
                  <a:srgbClr val="FF0000"/>
                </a:solidFill>
              </a:rPr>
              <a:t> </a:t>
            </a:r>
            <a:r>
              <a:rPr lang="en-US" altLang="ko-KR" sz="1500" dirty="0">
                <a:solidFill>
                  <a:srgbClr val="FF0000"/>
                </a:solidFill>
              </a:rPr>
              <a:t>‘</a:t>
            </a:r>
            <a:r>
              <a:rPr lang="ko-KR" altLang="en-US" sz="1500" dirty="0">
                <a:solidFill>
                  <a:srgbClr val="FF0000"/>
                </a:solidFill>
              </a:rPr>
              <a:t>선생님 모델</a:t>
            </a:r>
            <a:r>
              <a:rPr lang="en-US" altLang="ko-KR" sz="1500" dirty="0">
                <a:solidFill>
                  <a:srgbClr val="FF0000"/>
                </a:solidFill>
              </a:rPr>
              <a:t>‘</a:t>
            </a:r>
            <a:r>
              <a:rPr lang="ko-KR" altLang="en-US" sz="1500" dirty="0"/>
              <a:t>로 지정</a:t>
            </a:r>
            <a:r>
              <a:rPr lang="en-US" altLang="ko-KR" sz="1500" dirty="0"/>
              <a:t>.</a:t>
            </a:r>
          </a:p>
          <a:p>
            <a:pPr marL="0" indent="0">
              <a:buNone/>
            </a:pPr>
            <a:r>
              <a:rPr lang="en-US" altLang="ko-KR" sz="1500" dirty="0"/>
              <a:t> 2)</a:t>
            </a:r>
            <a:r>
              <a:rPr lang="ko-KR" altLang="en-US" sz="1500" dirty="0"/>
              <a:t>새로운 </a:t>
            </a:r>
            <a:r>
              <a:rPr lang="en-US" altLang="ko-KR" sz="1500" dirty="0"/>
              <a:t>‘</a:t>
            </a:r>
            <a:r>
              <a:rPr lang="ko-KR" altLang="en-US" sz="1500" dirty="0"/>
              <a:t>학생 모델</a:t>
            </a:r>
            <a:r>
              <a:rPr lang="en-US" altLang="ko-KR" sz="1500" dirty="0"/>
              <a:t>’</a:t>
            </a:r>
            <a:r>
              <a:rPr lang="ko-KR" altLang="en-US" sz="1500" dirty="0"/>
              <a:t>을 데려와</a:t>
            </a:r>
            <a:r>
              <a:rPr lang="en-US" altLang="ko-KR" sz="1500" dirty="0"/>
              <a:t>, </a:t>
            </a:r>
            <a:r>
              <a:rPr lang="ko-KR" altLang="en-US" sz="1500" dirty="0">
                <a:solidFill>
                  <a:srgbClr val="FF0000"/>
                </a:solidFill>
              </a:rPr>
              <a:t>선생님이 </a:t>
            </a:r>
            <a:r>
              <a:rPr lang="en-US" altLang="ko-KR" sz="1500" dirty="0">
                <a:solidFill>
                  <a:srgbClr val="FF0000"/>
                </a:solidFill>
              </a:rPr>
              <a:t>2</a:t>
            </a:r>
            <a:r>
              <a:rPr lang="ko-KR" altLang="en-US" sz="1500" dirty="0">
                <a:solidFill>
                  <a:srgbClr val="FF0000"/>
                </a:solidFill>
              </a:rPr>
              <a:t>단계에 걸쳐서 도달한 결과를 학생은 </a:t>
            </a:r>
            <a:r>
              <a:rPr lang="en-US" altLang="ko-KR" sz="1500" dirty="0">
                <a:solidFill>
                  <a:srgbClr val="FF0000"/>
                </a:solidFill>
              </a:rPr>
              <a:t>1</a:t>
            </a:r>
            <a:r>
              <a:rPr lang="ko-KR" altLang="en-US" sz="1500" dirty="0">
                <a:solidFill>
                  <a:srgbClr val="FF0000"/>
                </a:solidFill>
              </a:rPr>
              <a:t>단계만에 예측하도록 훈련</a:t>
            </a:r>
            <a:r>
              <a:rPr lang="en-US" altLang="ko-KR" sz="1500" dirty="0">
                <a:solidFill>
                  <a:srgbClr val="FF0000"/>
                </a:solidFill>
              </a:rPr>
              <a:t>.</a:t>
            </a:r>
          </a:p>
          <a:p>
            <a:pPr marL="0" indent="0">
              <a:buNone/>
            </a:pPr>
            <a:r>
              <a:rPr lang="en-US" altLang="ko-KR" sz="1500" dirty="0"/>
              <a:t> 3)</a:t>
            </a:r>
            <a:r>
              <a:rPr lang="ko-KR" altLang="en-US" sz="1500" dirty="0"/>
              <a:t>이 과정을 재귀적으로 계속 반복 적용</a:t>
            </a:r>
            <a:r>
              <a:rPr lang="en-US" altLang="ko-KR" sz="1500" dirty="0"/>
              <a:t>. </a:t>
            </a:r>
            <a:r>
              <a:rPr lang="en-US" altLang="ko-KR" sz="1500" dirty="0">
                <a:solidFill>
                  <a:srgbClr val="FF0000"/>
                </a:solidFill>
              </a:rPr>
              <a:t>(1000</a:t>
            </a:r>
            <a:r>
              <a:rPr lang="ko-KR" altLang="en-US" sz="1500" dirty="0">
                <a:solidFill>
                  <a:srgbClr val="FF0000"/>
                </a:solidFill>
              </a:rPr>
              <a:t>단계 </a:t>
            </a:r>
            <a:r>
              <a:rPr lang="en-US" altLang="ko-KR" sz="1500" dirty="0">
                <a:solidFill>
                  <a:srgbClr val="FF0000"/>
                </a:solidFill>
              </a:rPr>
              <a:t>-&gt; 500</a:t>
            </a:r>
            <a:r>
              <a:rPr lang="ko-KR" altLang="en-US" sz="1500" dirty="0">
                <a:solidFill>
                  <a:srgbClr val="FF0000"/>
                </a:solidFill>
              </a:rPr>
              <a:t>단계 </a:t>
            </a:r>
            <a:r>
              <a:rPr lang="en-US" altLang="ko-KR" sz="1500" dirty="0">
                <a:solidFill>
                  <a:srgbClr val="FF0000"/>
                </a:solidFill>
              </a:rPr>
              <a:t>-&gt; 250</a:t>
            </a:r>
            <a:r>
              <a:rPr lang="ko-KR" altLang="en-US" sz="1500" dirty="0">
                <a:solidFill>
                  <a:srgbClr val="FF0000"/>
                </a:solidFill>
              </a:rPr>
              <a:t>단계</a:t>
            </a:r>
            <a:r>
              <a:rPr lang="en-US" altLang="ko-KR" sz="1500" dirty="0">
                <a:solidFill>
                  <a:srgbClr val="FF0000"/>
                </a:solidFill>
              </a:rPr>
              <a:t>)</a:t>
            </a:r>
          </a:p>
          <a:p>
            <a:pPr marL="0" indent="0">
              <a:buNone/>
            </a:pPr>
            <a:endParaRPr lang="en-US" altLang="ko-KR" sz="15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8FA8AD9-929B-6AC6-DB49-BFE7FE969F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129" y="5368637"/>
            <a:ext cx="9853671" cy="1489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76192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537ACE-DCD2-65AF-8CFF-56601041B0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24980E-753B-2D78-8BA5-C953F0B8DD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ko-KR" altLang="en-US" dirty="0"/>
              <a:t>사용자의 명령어를 어떻게 </a:t>
            </a:r>
            <a:r>
              <a:rPr lang="en-US" altLang="ko-KR" dirty="0"/>
              <a:t>AI</a:t>
            </a:r>
            <a:r>
              <a:rPr lang="ko-KR" altLang="en-US" dirty="0"/>
              <a:t>에게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9B3D6F8-CD89-2E62-0D77-353DB7F69A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0200" y="1221580"/>
            <a:ext cx="11734800" cy="537911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400" dirty="0"/>
              <a:t>1)Classifier Guidance</a:t>
            </a:r>
          </a:p>
          <a:p>
            <a:pPr marL="0" indent="0">
              <a:buNone/>
            </a:pPr>
            <a:r>
              <a:rPr lang="en-US" altLang="ko-KR" sz="1400" dirty="0"/>
              <a:t>AI</a:t>
            </a:r>
            <a:r>
              <a:rPr lang="ko-KR" altLang="en-US" sz="1400" dirty="0"/>
              <a:t>가 그림을 그릴 때</a:t>
            </a:r>
            <a:r>
              <a:rPr lang="en-US" altLang="ko-KR" sz="1400" dirty="0"/>
              <a:t>, </a:t>
            </a:r>
            <a:r>
              <a:rPr lang="ko-KR" altLang="en-US" sz="1400" dirty="0">
                <a:solidFill>
                  <a:srgbClr val="FF0000"/>
                </a:solidFill>
              </a:rPr>
              <a:t>내가 원하는 조건</a:t>
            </a:r>
            <a:r>
              <a:rPr lang="en-US" altLang="ko-KR" sz="1400" dirty="0">
                <a:solidFill>
                  <a:srgbClr val="FF0000"/>
                </a:solidFill>
              </a:rPr>
              <a:t>(ex:</a:t>
            </a:r>
            <a:r>
              <a:rPr lang="ko-KR" altLang="en-US" sz="1400" dirty="0">
                <a:solidFill>
                  <a:srgbClr val="FF0000"/>
                </a:solidFill>
              </a:rPr>
              <a:t>강아지</a:t>
            </a:r>
            <a:r>
              <a:rPr lang="en-US" altLang="ko-KR" sz="1400" dirty="0">
                <a:solidFill>
                  <a:srgbClr val="FF0000"/>
                </a:solidFill>
              </a:rPr>
              <a:t>)</a:t>
            </a:r>
            <a:r>
              <a:rPr lang="ko-KR" altLang="en-US" sz="1400" dirty="0">
                <a:solidFill>
                  <a:srgbClr val="FF0000"/>
                </a:solidFill>
              </a:rPr>
              <a:t>로</a:t>
            </a:r>
            <a:r>
              <a:rPr lang="en-US" altLang="ko-KR" sz="1400" dirty="0">
                <a:solidFill>
                  <a:srgbClr val="FF0000"/>
                </a:solidFill>
              </a:rPr>
              <a:t> </a:t>
            </a:r>
            <a:r>
              <a:rPr lang="ko-KR" altLang="en-US" sz="1400" dirty="0">
                <a:solidFill>
                  <a:srgbClr val="FF0000"/>
                </a:solidFill>
              </a:rPr>
              <a:t>억지로 방향을 틀어줄 별도의 감시자</a:t>
            </a:r>
            <a:r>
              <a:rPr lang="en-US" altLang="ko-KR" sz="1400" dirty="0">
                <a:solidFill>
                  <a:srgbClr val="FF0000"/>
                </a:solidFill>
              </a:rPr>
              <a:t>(</a:t>
            </a:r>
            <a:r>
              <a:rPr lang="ko-KR" altLang="en-US" sz="1400" dirty="0">
                <a:solidFill>
                  <a:srgbClr val="FF0000"/>
                </a:solidFill>
              </a:rPr>
              <a:t>분류기</a:t>
            </a:r>
            <a:r>
              <a:rPr lang="en-US" altLang="ko-KR" sz="1400" dirty="0">
                <a:solidFill>
                  <a:srgbClr val="FF0000"/>
                </a:solidFill>
              </a:rPr>
              <a:t>)</a:t>
            </a:r>
            <a:r>
              <a:rPr lang="ko-KR" altLang="en-US" sz="1400" dirty="0">
                <a:solidFill>
                  <a:srgbClr val="FF0000"/>
                </a:solidFill>
              </a:rPr>
              <a:t>를 추가</a:t>
            </a:r>
            <a:r>
              <a:rPr lang="ko-KR" altLang="en-US" sz="1400" dirty="0"/>
              <a:t>하는 방식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22BE96D-8FD1-E332-3600-B7D7BF51FE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122" y="1875410"/>
            <a:ext cx="5229955" cy="54300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B8C0432-8A9E-C6F6-D28E-4E539ED6EB14}"/>
              </a:ext>
            </a:extLst>
          </p:cNvPr>
          <p:cNvSpPr txBox="1"/>
          <p:nvPr/>
        </p:nvSpPr>
        <p:spPr>
          <a:xfrm>
            <a:off x="2247900" y="2416338"/>
            <a:ext cx="33782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dirty="0">
                <a:solidFill>
                  <a:srgbClr val="FF0000"/>
                </a:solidFill>
              </a:rPr>
              <a:t>진짜 사진처럼 보이게 진행</a:t>
            </a:r>
            <a:r>
              <a:rPr lang="en-US" altLang="ko-KR" sz="1050" dirty="0">
                <a:solidFill>
                  <a:srgbClr val="FF0000"/>
                </a:solidFill>
              </a:rPr>
              <a:t>.</a:t>
            </a:r>
          </a:p>
          <a:p>
            <a:r>
              <a:rPr lang="en-US" altLang="ko-KR" sz="1050" dirty="0">
                <a:solidFill>
                  <a:srgbClr val="FF0000"/>
                </a:solidFill>
              </a:rPr>
              <a:t>(ex, </a:t>
            </a:r>
            <a:r>
              <a:rPr lang="ko-KR" altLang="en-US" sz="1050" dirty="0">
                <a:solidFill>
                  <a:srgbClr val="FF0000"/>
                </a:solidFill>
              </a:rPr>
              <a:t>고양이처럼</a:t>
            </a:r>
            <a:r>
              <a:rPr lang="en-US" altLang="ko-KR" sz="1050" dirty="0">
                <a:solidFill>
                  <a:srgbClr val="FF0000"/>
                </a:solidFill>
              </a:rPr>
              <a:t>, </a:t>
            </a:r>
            <a:r>
              <a:rPr lang="ko-KR" altLang="en-US" sz="1050" dirty="0">
                <a:solidFill>
                  <a:srgbClr val="FF0000"/>
                </a:solidFill>
              </a:rPr>
              <a:t>성인남성처럼</a:t>
            </a:r>
            <a:r>
              <a:rPr lang="en-US" altLang="ko-KR" sz="1050" dirty="0">
                <a:solidFill>
                  <a:srgbClr val="FF0000"/>
                </a:solidFill>
              </a:rPr>
              <a:t>)</a:t>
            </a:r>
            <a:endParaRPr lang="ko-KR" altLang="en-US" sz="1050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58B648-ECC7-BAA7-8310-B681610FB17C}"/>
              </a:ext>
            </a:extLst>
          </p:cNvPr>
          <p:cNvSpPr txBox="1"/>
          <p:nvPr/>
        </p:nvSpPr>
        <p:spPr>
          <a:xfrm>
            <a:off x="4165600" y="2409753"/>
            <a:ext cx="33782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dirty="0">
                <a:solidFill>
                  <a:srgbClr val="FF0000"/>
                </a:solidFill>
              </a:rPr>
              <a:t>강아지처럼 그리게 진행하라고 수정</a:t>
            </a:r>
            <a:r>
              <a:rPr lang="en-US" altLang="ko-KR" sz="1050" dirty="0">
                <a:solidFill>
                  <a:srgbClr val="FF0000"/>
                </a:solidFill>
              </a:rPr>
              <a:t>.</a:t>
            </a:r>
            <a:endParaRPr lang="ko-KR" altLang="en-US" sz="1050" dirty="0">
              <a:solidFill>
                <a:srgbClr val="FF0000"/>
              </a:solidFill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129010C5-C703-FCDE-4B00-B0E51A95D9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629" y="2850782"/>
            <a:ext cx="5229954" cy="3423018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2D7C68B3-0980-0695-2848-3806408E8A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0305" y="2823850"/>
            <a:ext cx="2810267" cy="1057423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B4BFBB2D-94EE-8FBD-22E5-4F13624994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90305" y="4129700"/>
            <a:ext cx="5772956" cy="857370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DFA96268-75C6-EAD7-61D5-57867945064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90305" y="5235497"/>
            <a:ext cx="6515100" cy="609685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EFAD721-4385-C7EB-96CB-0E879C6432D8}"/>
              </a:ext>
            </a:extLst>
          </p:cNvPr>
          <p:cNvSpPr txBox="1"/>
          <p:nvPr/>
        </p:nvSpPr>
        <p:spPr>
          <a:xfrm>
            <a:off x="11262455" y="4419885"/>
            <a:ext cx="14859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FF0000"/>
                </a:solidFill>
              </a:rPr>
              <a:t>양변 로그</a:t>
            </a:r>
            <a:endParaRPr lang="en-US" altLang="ko-KR" sz="1200" dirty="0">
              <a:solidFill>
                <a:srgbClr val="FF0000"/>
              </a:solidFill>
            </a:endParaRPr>
          </a:p>
          <a:p>
            <a:r>
              <a:rPr lang="ko-KR" altLang="en-US" sz="1200" dirty="0">
                <a:solidFill>
                  <a:srgbClr val="FF0000"/>
                </a:solidFill>
              </a:rPr>
              <a:t>씌우기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C29B5DA-6343-94E9-565D-9929A084E766}"/>
              </a:ext>
            </a:extLst>
          </p:cNvPr>
          <p:cNvSpPr txBox="1"/>
          <p:nvPr/>
        </p:nvSpPr>
        <p:spPr>
          <a:xfrm>
            <a:off x="8300572" y="3232252"/>
            <a:ext cx="14859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>
                <a:solidFill>
                  <a:srgbClr val="FF0000"/>
                </a:solidFill>
              </a:rPr>
              <a:t>베이즈</a:t>
            </a:r>
            <a:r>
              <a:rPr lang="ko-KR" altLang="en-US" sz="1200" dirty="0">
                <a:solidFill>
                  <a:srgbClr val="FF0000"/>
                </a:solidFill>
              </a:rPr>
              <a:t> 정리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5696DA3-38B2-7D90-5B3C-F578DDF40A49}"/>
              </a:ext>
            </a:extLst>
          </p:cNvPr>
          <p:cNvSpPr txBox="1"/>
          <p:nvPr/>
        </p:nvSpPr>
        <p:spPr>
          <a:xfrm>
            <a:off x="10751672" y="5959562"/>
            <a:ext cx="14859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FF0000"/>
                </a:solidFill>
              </a:rPr>
              <a:t>위의 식을 </a:t>
            </a:r>
            <a:endParaRPr lang="en-US" altLang="ko-KR" sz="1200" dirty="0">
              <a:solidFill>
                <a:srgbClr val="FF0000"/>
              </a:solidFill>
            </a:endParaRPr>
          </a:p>
          <a:p>
            <a:r>
              <a:rPr lang="en-US" altLang="ko-KR" sz="1200" dirty="0">
                <a:solidFill>
                  <a:srgbClr val="FF0000"/>
                </a:solidFill>
              </a:rPr>
              <a:t>X</a:t>
            </a:r>
            <a:r>
              <a:rPr lang="ko-KR" altLang="en-US" sz="1200" dirty="0">
                <a:solidFill>
                  <a:srgbClr val="FF0000"/>
                </a:solidFill>
              </a:rPr>
              <a:t>로 미분하기</a:t>
            </a:r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7A161F72-9287-FDF3-4F9F-525AEFAA995E}"/>
              </a:ext>
            </a:extLst>
          </p:cNvPr>
          <p:cNvGrpSpPr/>
          <p:nvPr/>
        </p:nvGrpSpPr>
        <p:grpSpPr>
          <a:xfrm>
            <a:off x="10794760" y="4971450"/>
            <a:ext cx="1022760" cy="978840"/>
            <a:chOff x="10794760" y="4971450"/>
            <a:chExt cx="1022760" cy="978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25" name="잉크 24">
                  <a:extLst>
                    <a:ext uri="{FF2B5EF4-FFF2-40B4-BE49-F238E27FC236}">
                      <a16:creationId xmlns:a16="http://schemas.microsoft.com/office/drawing/2014/main" id="{A67B96E1-2A8C-B5CA-07B6-6518EC07DDC1}"/>
                    </a:ext>
                  </a:extLst>
                </p14:cNvPr>
                <p14:cNvContentPartPr/>
                <p14:nvPr/>
              </p14:nvContentPartPr>
              <p14:xfrm>
                <a:off x="10794760" y="5160810"/>
                <a:ext cx="820800" cy="789480"/>
              </p14:xfrm>
            </p:contentPart>
          </mc:Choice>
          <mc:Fallback xmlns="">
            <p:pic>
              <p:nvPicPr>
                <p:cNvPr id="25" name="잉크 24">
                  <a:extLst>
                    <a:ext uri="{FF2B5EF4-FFF2-40B4-BE49-F238E27FC236}">
                      <a16:creationId xmlns:a16="http://schemas.microsoft.com/office/drawing/2014/main" id="{A67B96E1-2A8C-B5CA-07B6-6518EC07DDC1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0776760" y="5143170"/>
                  <a:ext cx="856440" cy="82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26" name="잉크 25">
                  <a:extLst>
                    <a:ext uri="{FF2B5EF4-FFF2-40B4-BE49-F238E27FC236}">
                      <a16:creationId xmlns:a16="http://schemas.microsoft.com/office/drawing/2014/main" id="{BAA5070A-940B-58C6-C2EC-A563CCB81FE6}"/>
                    </a:ext>
                  </a:extLst>
                </p14:cNvPr>
                <p14:cNvContentPartPr/>
                <p14:nvPr/>
              </p14:nvContentPartPr>
              <p14:xfrm>
                <a:off x="11322880" y="5156130"/>
                <a:ext cx="303840" cy="109440"/>
              </p14:xfrm>
            </p:contentPart>
          </mc:Choice>
          <mc:Fallback xmlns="">
            <p:pic>
              <p:nvPicPr>
                <p:cNvPr id="26" name="잉크 25">
                  <a:extLst>
                    <a:ext uri="{FF2B5EF4-FFF2-40B4-BE49-F238E27FC236}">
                      <a16:creationId xmlns:a16="http://schemas.microsoft.com/office/drawing/2014/main" id="{BAA5070A-940B-58C6-C2EC-A563CCB81FE6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1305240" y="5138130"/>
                  <a:ext cx="33948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27" name="잉크 26">
                  <a:extLst>
                    <a:ext uri="{FF2B5EF4-FFF2-40B4-BE49-F238E27FC236}">
                      <a16:creationId xmlns:a16="http://schemas.microsoft.com/office/drawing/2014/main" id="{AF72046B-B140-C676-1A67-42F4D6C875E2}"/>
                    </a:ext>
                  </a:extLst>
                </p14:cNvPr>
                <p14:cNvContentPartPr/>
                <p14:nvPr/>
              </p14:nvContentPartPr>
              <p14:xfrm>
                <a:off x="11569480" y="5193930"/>
                <a:ext cx="38520" cy="233280"/>
              </p14:xfrm>
            </p:contentPart>
          </mc:Choice>
          <mc:Fallback xmlns="">
            <p:pic>
              <p:nvPicPr>
                <p:cNvPr id="27" name="잉크 26">
                  <a:extLst>
                    <a:ext uri="{FF2B5EF4-FFF2-40B4-BE49-F238E27FC236}">
                      <a16:creationId xmlns:a16="http://schemas.microsoft.com/office/drawing/2014/main" id="{AF72046B-B140-C676-1A67-42F4D6C875E2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1551480" y="5176290"/>
                  <a:ext cx="74160" cy="26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29" name="잉크 28">
                  <a:extLst>
                    <a:ext uri="{FF2B5EF4-FFF2-40B4-BE49-F238E27FC236}">
                      <a16:creationId xmlns:a16="http://schemas.microsoft.com/office/drawing/2014/main" id="{A2627FDC-59EB-CEB0-DB4D-FC3065953E0A}"/>
                    </a:ext>
                  </a:extLst>
                </p14:cNvPr>
                <p14:cNvContentPartPr/>
                <p14:nvPr/>
              </p14:nvContentPartPr>
              <p14:xfrm>
                <a:off x="11614120" y="4971450"/>
                <a:ext cx="203400" cy="280800"/>
              </p14:xfrm>
            </p:contentPart>
          </mc:Choice>
          <mc:Fallback xmlns="">
            <p:pic>
              <p:nvPicPr>
                <p:cNvPr id="29" name="잉크 28">
                  <a:extLst>
                    <a:ext uri="{FF2B5EF4-FFF2-40B4-BE49-F238E27FC236}">
                      <a16:creationId xmlns:a16="http://schemas.microsoft.com/office/drawing/2014/main" id="{A2627FDC-59EB-CEB0-DB4D-FC3065953E0A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1596480" y="4953810"/>
                  <a:ext cx="239040" cy="3164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4422468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085353-0325-5979-2694-EFD605515C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3DB2DE-6C69-B8FA-DDB9-56E50D38F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ko-KR" altLang="en-US" dirty="0"/>
              <a:t>사용자의 명령어를 어떻게 </a:t>
            </a:r>
            <a:r>
              <a:rPr lang="en-US" altLang="ko-KR" dirty="0"/>
              <a:t>AI</a:t>
            </a:r>
            <a:r>
              <a:rPr lang="ko-KR" altLang="en-US" dirty="0"/>
              <a:t>에게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DB987DB-F467-3517-EFE8-9BA1CE19A4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0200" y="1221580"/>
            <a:ext cx="11734800" cy="537911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400" dirty="0"/>
              <a:t>2)</a:t>
            </a:r>
            <a:r>
              <a:rPr lang="en-US" altLang="ko-KR" sz="1400" dirty="0" err="1"/>
              <a:t>Classifier_Free_Guidance</a:t>
            </a:r>
            <a:r>
              <a:rPr lang="en-US" altLang="ko-KR" sz="1400" dirty="0"/>
              <a:t> (</a:t>
            </a:r>
            <a:r>
              <a:rPr lang="ko-KR" altLang="en-US" sz="1400" dirty="0"/>
              <a:t>분류기 없는 </a:t>
            </a:r>
            <a:r>
              <a:rPr lang="ko-KR" altLang="en-US" sz="1400" dirty="0" err="1"/>
              <a:t>가이던스</a:t>
            </a:r>
            <a:r>
              <a:rPr lang="en-US" altLang="ko-KR" sz="1400" dirty="0"/>
              <a:t>)</a:t>
            </a:r>
          </a:p>
          <a:p>
            <a:pPr marL="0" indent="0">
              <a:buNone/>
            </a:pPr>
            <a:r>
              <a:rPr lang="ko-KR" altLang="en-US" sz="1400" dirty="0"/>
              <a:t>감시자</a:t>
            </a:r>
            <a:r>
              <a:rPr lang="en-US" altLang="ko-KR" sz="1400" dirty="0"/>
              <a:t>(</a:t>
            </a:r>
            <a:r>
              <a:rPr lang="ko-KR" altLang="en-US" sz="1400" dirty="0"/>
              <a:t>분류기</a:t>
            </a:r>
            <a:r>
              <a:rPr lang="en-US" altLang="ko-KR" sz="1400" dirty="0"/>
              <a:t>)</a:t>
            </a:r>
            <a:r>
              <a:rPr lang="ko-KR" altLang="en-US" sz="1400" dirty="0"/>
              <a:t>를 따로 만들지 말고</a:t>
            </a:r>
            <a:r>
              <a:rPr lang="en-US" altLang="ko-KR" sz="1400" dirty="0"/>
              <a:t>, </a:t>
            </a:r>
            <a:r>
              <a:rPr lang="ko-KR" altLang="en-US" sz="1400" dirty="0">
                <a:solidFill>
                  <a:srgbClr val="FF0000"/>
                </a:solidFill>
              </a:rPr>
              <a:t>모델 하나가 </a:t>
            </a:r>
            <a:r>
              <a:rPr lang="en-US" altLang="ko-KR" sz="1400" dirty="0">
                <a:solidFill>
                  <a:srgbClr val="FF0000"/>
                </a:solidFill>
              </a:rPr>
              <a:t>‘</a:t>
            </a:r>
            <a:r>
              <a:rPr lang="ko-KR" altLang="en-US" sz="1400" dirty="0">
                <a:solidFill>
                  <a:srgbClr val="FF0000"/>
                </a:solidFill>
              </a:rPr>
              <a:t>명령어 듣고 그리기</a:t>
            </a:r>
            <a:r>
              <a:rPr lang="en-US" altLang="ko-KR" sz="1400" dirty="0">
                <a:solidFill>
                  <a:srgbClr val="FF0000"/>
                </a:solidFill>
              </a:rPr>
              <a:t>‘ + ‘</a:t>
            </a:r>
            <a:r>
              <a:rPr lang="ko-KR" altLang="en-US" sz="1400" dirty="0">
                <a:solidFill>
                  <a:srgbClr val="FF0000"/>
                </a:solidFill>
              </a:rPr>
              <a:t>마음대로 그리기</a:t>
            </a:r>
            <a:r>
              <a:rPr lang="en-US" altLang="ko-KR" sz="1400" dirty="0">
                <a:solidFill>
                  <a:srgbClr val="FF0000"/>
                </a:solidFill>
              </a:rPr>
              <a:t>’</a:t>
            </a:r>
            <a:r>
              <a:rPr lang="ko-KR" altLang="en-US" sz="1400" dirty="0">
                <a:solidFill>
                  <a:srgbClr val="FF0000"/>
                </a:solidFill>
              </a:rPr>
              <a:t>를 혼자서 다 할 수 있게 </a:t>
            </a:r>
            <a:r>
              <a:rPr lang="ko-KR" altLang="en-US" sz="1400" dirty="0" err="1"/>
              <a:t>만듬</a:t>
            </a: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AI</a:t>
            </a:r>
            <a:r>
              <a:rPr lang="ko-KR" altLang="en-US" sz="1400" dirty="0"/>
              <a:t>를 훈련할 때 </a:t>
            </a:r>
            <a:r>
              <a:rPr lang="ko-KR" altLang="en-US" sz="1400" dirty="0">
                <a:solidFill>
                  <a:srgbClr val="FF0000"/>
                </a:solidFill>
              </a:rPr>
              <a:t>가끔 텍스트 명령어</a:t>
            </a:r>
            <a:r>
              <a:rPr lang="en-US" altLang="ko-KR" sz="1400" dirty="0">
                <a:solidFill>
                  <a:srgbClr val="FF0000"/>
                </a:solidFill>
              </a:rPr>
              <a:t>(ex :</a:t>
            </a:r>
            <a:r>
              <a:rPr lang="ko-KR" altLang="en-US" sz="1400" dirty="0" err="1">
                <a:solidFill>
                  <a:srgbClr val="FF0000"/>
                </a:solidFill>
              </a:rPr>
              <a:t>보더콜리</a:t>
            </a:r>
            <a:r>
              <a:rPr lang="ko-KR" altLang="en-US" sz="1400" dirty="0">
                <a:solidFill>
                  <a:srgbClr val="FF0000"/>
                </a:solidFill>
              </a:rPr>
              <a:t> 그려줘</a:t>
            </a:r>
            <a:r>
              <a:rPr lang="en-US" altLang="ko-KR" sz="1400" dirty="0">
                <a:solidFill>
                  <a:srgbClr val="FF0000"/>
                </a:solidFill>
              </a:rPr>
              <a:t>)</a:t>
            </a:r>
            <a:r>
              <a:rPr lang="ko-KR" altLang="en-US" sz="1400" dirty="0">
                <a:solidFill>
                  <a:srgbClr val="FF0000"/>
                </a:solidFill>
              </a:rPr>
              <a:t>를 고의로 숨김</a:t>
            </a:r>
            <a:r>
              <a:rPr lang="en-US" altLang="ko-KR" sz="1400" dirty="0">
                <a:solidFill>
                  <a:srgbClr val="FF0000"/>
                </a:solidFill>
              </a:rPr>
              <a:t>.</a:t>
            </a:r>
          </a:p>
          <a:p>
            <a:pPr marL="0" indent="0">
              <a:buNone/>
            </a:pPr>
            <a:r>
              <a:rPr lang="en-US" altLang="ko-KR" sz="1400" dirty="0"/>
              <a:t>-&gt;</a:t>
            </a:r>
            <a:r>
              <a:rPr lang="ko-KR" altLang="en-US" sz="1400" dirty="0"/>
              <a:t>그러면 </a:t>
            </a:r>
            <a:r>
              <a:rPr lang="en-US" altLang="ko-KR" sz="1400" dirty="0"/>
              <a:t>AI</a:t>
            </a:r>
            <a:r>
              <a:rPr lang="ko-KR" altLang="en-US" sz="1400" dirty="0"/>
              <a:t>는 명령어가 있을 때와 없을 때 그리는 법 두가지를 스스로 알아냄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755DAC90-88ED-01D3-0DE0-6D9EC91774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199" y="3651989"/>
            <a:ext cx="8611802" cy="847843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74357A2C-345E-23D8-6FB8-C5FC635AC6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4302" y="3694090"/>
            <a:ext cx="3105858" cy="75518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C3F57D86-EF38-0526-E1E5-6593C91B05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445" y="2885999"/>
            <a:ext cx="5229955" cy="54300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3" name="잉크 12">
                <a:extLst>
                  <a:ext uri="{FF2B5EF4-FFF2-40B4-BE49-F238E27FC236}">
                    <a16:creationId xmlns:a16="http://schemas.microsoft.com/office/drawing/2014/main" id="{770EB1F5-118F-3DA3-D0B1-363C71B7F368}"/>
                  </a:ext>
                </a:extLst>
              </p14:cNvPr>
              <p14:cNvContentPartPr/>
              <p14:nvPr/>
            </p14:nvContentPartPr>
            <p14:xfrm>
              <a:off x="1174760" y="3566370"/>
              <a:ext cx="1222560" cy="154800"/>
            </p14:xfrm>
          </p:contentPart>
        </mc:Choice>
        <mc:Fallback xmlns="">
          <p:pic>
            <p:nvPicPr>
              <p:cNvPr id="13" name="잉크 12">
                <a:extLst>
                  <a:ext uri="{FF2B5EF4-FFF2-40B4-BE49-F238E27FC236}">
                    <a16:creationId xmlns:a16="http://schemas.microsoft.com/office/drawing/2014/main" id="{770EB1F5-118F-3DA3-D0B1-363C71B7F36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56760" y="3548730"/>
                <a:ext cx="1258200" cy="19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5" name="잉크 14">
                <a:extLst>
                  <a:ext uri="{FF2B5EF4-FFF2-40B4-BE49-F238E27FC236}">
                    <a16:creationId xmlns:a16="http://schemas.microsoft.com/office/drawing/2014/main" id="{03FF798F-833C-7E09-9513-9E88E1DF0CF2}"/>
                  </a:ext>
                </a:extLst>
              </p14:cNvPr>
              <p14:cNvContentPartPr/>
              <p14:nvPr/>
            </p14:nvContentPartPr>
            <p14:xfrm>
              <a:off x="2330360" y="3491490"/>
              <a:ext cx="2932920" cy="256680"/>
            </p14:xfrm>
          </p:contentPart>
        </mc:Choice>
        <mc:Fallback xmlns="">
          <p:pic>
            <p:nvPicPr>
              <p:cNvPr id="15" name="잉크 14">
                <a:extLst>
                  <a:ext uri="{FF2B5EF4-FFF2-40B4-BE49-F238E27FC236}">
                    <a16:creationId xmlns:a16="http://schemas.microsoft.com/office/drawing/2014/main" id="{03FF798F-833C-7E09-9513-9E88E1DF0CF2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312360" y="3473850"/>
                <a:ext cx="2968560" cy="29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4" name="잉크 23">
                <a:extLst>
                  <a:ext uri="{FF2B5EF4-FFF2-40B4-BE49-F238E27FC236}">
                    <a16:creationId xmlns:a16="http://schemas.microsoft.com/office/drawing/2014/main" id="{AB3A72E1-8FEA-2732-FBEF-C6E3BA9FBC07}"/>
                  </a:ext>
                </a:extLst>
              </p14:cNvPr>
              <p14:cNvContentPartPr/>
              <p14:nvPr/>
            </p14:nvContentPartPr>
            <p14:xfrm>
              <a:off x="5149520" y="3608850"/>
              <a:ext cx="244080" cy="181440"/>
            </p14:xfrm>
          </p:contentPart>
        </mc:Choice>
        <mc:Fallback xmlns="">
          <p:pic>
            <p:nvPicPr>
              <p:cNvPr id="24" name="잉크 23">
                <a:extLst>
                  <a:ext uri="{FF2B5EF4-FFF2-40B4-BE49-F238E27FC236}">
                    <a16:creationId xmlns:a16="http://schemas.microsoft.com/office/drawing/2014/main" id="{AB3A72E1-8FEA-2732-FBEF-C6E3BA9FBC07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131880" y="3591210"/>
                <a:ext cx="279720" cy="21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8" name="잉크 27">
                <a:extLst>
                  <a:ext uri="{FF2B5EF4-FFF2-40B4-BE49-F238E27FC236}">
                    <a16:creationId xmlns:a16="http://schemas.microsoft.com/office/drawing/2014/main" id="{D823825D-AAA5-90FD-B6F5-4C3BDC9F1388}"/>
                  </a:ext>
                </a:extLst>
              </p14:cNvPr>
              <p14:cNvContentPartPr/>
              <p14:nvPr/>
            </p14:nvContentPartPr>
            <p14:xfrm>
              <a:off x="4844960" y="4025370"/>
              <a:ext cx="2399760" cy="52200"/>
            </p14:xfrm>
          </p:contentPart>
        </mc:Choice>
        <mc:Fallback xmlns="">
          <p:pic>
            <p:nvPicPr>
              <p:cNvPr id="28" name="잉크 27">
                <a:extLst>
                  <a:ext uri="{FF2B5EF4-FFF2-40B4-BE49-F238E27FC236}">
                    <a16:creationId xmlns:a16="http://schemas.microsoft.com/office/drawing/2014/main" id="{D823825D-AAA5-90FD-B6F5-4C3BDC9F1388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826960" y="4007730"/>
                <a:ext cx="2435400" cy="87840"/>
              </a:xfrm>
              <a:prstGeom prst="rect">
                <a:avLst/>
              </a:prstGeom>
            </p:spPr>
          </p:pic>
        </mc:Fallback>
      </mc:AlternateContent>
      <p:grpSp>
        <p:nvGrpSpPr>
          <p:cNvPr id="33" name="그룹 32">
            <a:extLst>
              <a:ext uri="{FF2B5EF4-FFF2-40B4-BE49-F238E27FC236}">
                <a16:creationId xmlns:a16="http://schemas.microsoft.com/office/drawing/2014/main" id="{8D13BC53-FD26-61CA-2629-E8A9CB6F3863}"/>
              </a:ext>
            </a:extLst>
          </p:cNvPr>
          <p:cNvGrpSpPr/>
          <p:nvPr/>
        </p:nvGrpSpPr>
        <p:grpSpPr>
          <a:xfrm>
            <a:off x="5956280" y="3136890"/>
            <a:ext cx="701280" cy="572040"/>
            <a:chOff x="5956280" y="3136890"/>
            <a:chExt cx="701280" cy="572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31" name="잉크 30">
                  <a:extLst>
                    <a:ext uri="{FF2B5EF4-FFF2-40B4-BE49-F238E27FC236}">
                      <a16:creationId xmlns:a16="http://schemas.microsoft.com/office/drawing/2014/main" id="{F50E362F-6957-6A2F-184B-D3C90979483F}"/>
                    </a:ext>
                  </a:extLst>
                </p14:cNvPr>
                <p14:cNvContentPartPr/>
                <p14:nvPr/>
              </p14:nvContentPartPr>
              <p14:xfrm>
                <a:off x="5956280" y="3136890"/>
                <a:ext cx="521280" cy="533880"/>
              </p14:xfrm>
            </p:contentPart>
          </mc:Choice>
          <mc:Fallback xmlns="">
            <p:pic>
              <p:nvPicPr>
                <p:cNvPr id="31" name="잉크 30">
                  <a:extLst>
                    <a:ext uri="{FF2B5EF4-FFF2-40B4-BE49-F238E27FC236}">
                      <a16:creationId xmlns:a16="http://schemas.microsoft.com/office/drawing/2014/main" id="{F50E362F-6957-6A2F-184B-D3C90979483F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5938280" y="3118890"/>
                  <a:ext cx="556920" cy="56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32" name="잉크 31">
                  <a:extLst>
                    <a:ext uri="{FF2B5EF4-FFF2-40B4-BE49-F238E27FC236}">
                      <a16:creationId xmlns:a16="http://schemas.microsoft.com/office/drawing/2014/main" id="{188F5F97-6A41-9AD8-98A5-1A99DDCB2300}"/>
                    </a:ext>
                  </a:extLst>
                </p14:cNvPr>
                <p14:cNvContentPartPr/>
                <p14:nvPr/>
              </p14:nvContentPartPr>
              <p14:xfrm>
                <a:off x="6375320" y="3549450"/>
                <a:ext cx="282240" cy="159480"/>
              </p14:xfrm>
            </p:contentPart>
          </mc:Choice>
          <mc:Fallback xmlns="">
            <p:pic>
              <p:nvPicPr>
                <p:cNvPr id="32" name="잉크 31">
                  <a:extLst>
                    <a:ext uri="{FF2B5EF4-FFF2-40B4-BE49-F238E27FC236}">
                      <a16:creationId xmlns:a16="http://schemas.microsoft.com/office/drawing/2014/main" id="{188F5F97-6A41-9AD8-98A5-1A99DDCB2300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357320" y="3531810"/>
                  <a:ext cx="317880" cy="195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37" name="잉크 36">
                <a:extLst>
                  <a:ext uri="{FF2B5EF4-FFF2-40B4-BE49-F238E27FC236}">
                    <a16:creationId xmlns:a16="http://schemas.microsoft.com/office/drawing/2014/main" id="{A3A88480-F326-170A-B349-E8B0D4E20A0E}"/>
                  </a:ext>
                </a:extLst>
              </p14:cNvPr>
              <p14:cNvContentPartPr/>
              <p14:nvPr/>
            </p14:nvContentPartPr>
            <p14:xfrm>
              <a:off x="7537400" y="4209690"/>
              <a:ext cx="1435320" cy="171720"/>
            </p14:xfrm>
          </p:contentPart>
        </mc:Choice>
        <mc:Fallback xmlns="">
          <p:pic>
            <p:nvPicPr>
              <p:cNvPr id="37" name="잉크 36">
                <a:extLst>
                  <a:ext uri="{FF2B5EF4-FFF2-40B4-BE49-F238E27FC236}">
                    <a16:creationId xmlns:a16="http://schemas.microsoft.com/office/drawing/2014/main" id="{A3A88480-F326-170A-B349-E8B0D4E20A0E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7528400" y="4200690"/>
                <a:ext cx="1452960" cy="189360"/>
              </a:xfrm>
              <a:prstGeom prst="rect">
                <a:avLst/>
              </a:prstGeom>
            </p:spPr>
          </p:pic>
        </mc:Fallback>
      </mc:AlternateContent>
      <p:grpSp>
        <p:nvGrpSpPr>
          <p:cNvPr id="41" name="그룹 40">
            <a:extLst>
              <a:ext uri="{FF2B5EF4-FFF2-40B4-BE49-F238E27FC236}">
                <a16:creationId xmlns:a16="http://schemas.microsoft.com/office/drawing/2014/main" id="{103E872B-29DD-F45E-242E-4BB3069AC3DC}"/>
              </a:ext>
            </a:extLst>
          </p:cNvPr>
          <p:cNvGrpSpPr/>
          <p:nvPr/>
        </p:nvGrpSpPr>
        <p:grpSpPr>
          <a:xfrm>
            <a:off x="8833400" y="4178730"/>
            <a:ext cx="151920" cy="114840"/>
            <a:chOff x="8833400" y="4178730"/>
            <a:chExt cx="151920" cy="114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38" name="잉크 37">
                  <a:extLst>
                    <a:ext uri="{FF2B5EF4-FFF2-40B4-BE49-F238E27FC236}">
                      <a16:creationId xmlns:a16="http://schemas.microsoft.com/office/drawing/2014/main" id="{21836854-E31D-D486-34B7-D51CF0DE233C}"/>
                    </a:ext>
                  </a:extLst>
                </p14:cNvPr>
                <p14:cNvContentPartPr/>
                <p14:nvPr/>
              </p14:nvContentPartPr>
              <p14:xfrm>
                <a:off x="8833400" y="4178730"/>
                <a:ext cx="151920" cy="25200"/>
              </p14:xfrm>
            </p:contentPart>
          </mc:Choice>
          <mc:Fallback xmlns="">
            <p:pic>
              <p:nvPicPr>
                <p:cNvPr id="38" name="잉크 37">
                  <a:extLst>
                    <a:ext uri="{FF2B5EF4-FFF2-40B4-BE49-F238E27FC236}">
                      <a16:creationId xmlns:a16="http://schemas.microsoft.com/office/drawing/2014/main" id="{21836854-E31D-D486-34B7-D51CF0DE233C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8824760" y="4169730"/>
                  <a:ext cx="16956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40" name="잉크 39">
                  <a:extLst>
                    <a:ext uri="{FF2B5EF4-FFF2-40B4-BE49-F238E27FC236}">
                      <a16:creationId xmlns:a16="http://schemas.microsoft.com/office/drawing/2014/main" id="{A6BA8A2A-957A-3DC5-D30C-5ED49CFD2B90}"/>
                    </a:ext>
                  </a:extLst>
                </p14:cNvPr>
                <p14:cNvContentPartPr/>
                <p14:nvPr/>
              </p14:nvContentPartPr>
              <p14:xfrm>
                <a:off x="8865080" y="4222650"/>
                <a:ext cx="101160" cy="70920"/>
              </p14:xfrm>
            </p:contentPart>
          </mc:Choice>
          <mc:Fallback xmlns="">
            <p:pic>
              <p:nvPicPr>
                <p:cNvPr id="40" name="잉크 39">
                  <a:extLst>
                    <a:ext uri="{FF2B5EF4-FFF2-40B4-BE49-F238E27FC236}">
                      <a16:creationId xmlns:a16="http://schemas.microsoft.com/office/drawing/2014/main" id="{A6BA8A2A-957A-3DC5-D30C-5ED49CFD2B90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8856440" y="4213650"/>
                  <a:ext cx="118800" cy="8856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F01A343B-901D-721D-D0AF-EC896B23E0F2}"/>
              </a:ext>
            </a:extLst>
          </p:cNvPr>
          <p:cNvSpPr txBox="1"/>
          <p:nvPr/>
        </p:nvSpPr>
        <p:spPr>
          <a:xfrm>
            <a:off x="527050" y="5093419"/>
            <a:ext cx="1082675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AI</a:t>
            </a:r>
            <a:r>
              <a:rPr lang="ko-KR" altLang="en-US" sz="1400" dirty="0"/>
              <a:t>에게 두 개의 그림을 그리게 시킴</a:t>
            </a:r>
            <a:r>
              <a:rPr lang="en-US" altLang="ko-KR" sz="1400" dirty="0"/>
              <a:t>. </a:t>
            </a:r>
            <a:r>
              <a:rPr lang="ko-KR" altLang="en-US" sz="1400" dirty="0"/>
              <a:t>하나는 </a:t>
            </a:r>
            <a:r>
              <a:rPr lang="en-US" altLang="ko-KR" sz="1400" dirty="0">
                <a:solidFill>
                  <a:srgbClr val="FF0000"/>
                </a:solidFill>
              </a:rPr>
              <a:t>‘</a:t>
            </a:r>
            <a:r>
              <a:rPr lang="ko-KR" altLang="en-US" sz="1400" dirty="0" err="1">
                <a:solidFill>
                  <a:srgbClr val="FF0000"/>
                </a:solidFill>
              </a:rPr>
              <a:t>보더콜리</a:t>
            </a:r>
            <a:r>
              <a:rPr lang="en-US" altLang="ko-KR" sz="1400" dirty="0">
                <a:solidFill>
                  <a:srgbClr val="FF0000"/>
                </a:solidFill>
              </a:rPr>
              <a:t>(Y)’</a:t>
            </a:r>
            <a:r>
              <a:rPr lang="ko-KR" altLang="en-US" sz="1400" dirty="0">
                <a:solidFill>
                  <a:srgbClr val="FF0000"/>
                </a:solidFill>
              </a:rPr>
              <a:t>를 생각하며 그리게</a:t>
            </a:r>
            <a:r>
              <a:rPr lang="ko-KR" altLang="en-US" sz="1400" dirty="0"/>
              <a:t> 하고</a:t>
            </a:r>
            <a:r>
              <a:rPr lang="en-US" altLang="ko-KR" sz="1400" dirty="0"/>
              <a:t>, </a:t>
            </a:r>
            <a:r>
              <a:rPr lang="ko-KR" altLang="en-US" sz="1400" dirty="0">
                <a:solidFill>
                  <a:srgbClr val="FF0000"/>
                </a:solidFill>
              </a:rPr>
              <a:t>다른 하나는 </a:t>
            </a:r>
            <a:r>
              <a:rPr lang="en-US" altLang="ko-KR" sz="1400" dirty="0">
                <a:solidFill>
                  <a:srgbClr val="FF0000"/>
                </a:solidFill>
              </a:rPr>
              <a:t>‘</a:t>
            </a:r>
            <a:r>
              <a:rPr lang="ko-KR" altLang="en-US" sz="1400" dirty="0" err="1">
                <a:solidFill>
                  <a:srgbClr val="FF0000"/>
                </a:solidFill>
              </a:rPr>
              <a:t>아무생각없이</a:t>
            </a:r>
            <a:r>
              <a:rPr lang="en-US" altLang="ko-KR" sz="1400" dirty="0">
                <a:solidFill>
                  <a:srgbClr val="FF0000"/>
                </a:solidFill>
              </a:rPr>
              <a:t>’ </a:t>
            </a:r>
            <a:r>
              <a:rPr lang="ko-KR" altLang="en-US" sz="1400" dirty="0">
                <a:solidFill>
                  <a:srgbClr val="FF0000"/>
                </a:solidFill>
              </a:rPr>
              <a:t>그리게</a:t>
            </a:r>
            <a:r>
              <a:rPr lang="ko-KR" altLang="en-US" sz="1400" dirty="0"/>
              <a:t> 함</a:t>
            </a:r>
            <a:r>
              <a:rPr lang="en-US" altLang="ko-KR" sz="1400" dirty="0"/>
              <a:t>.</a:t>
            </a:r>
          </a:p>
          <a:p>
            <a:endParaRPr lang="en-US" altLang="ko-KR" sz="1400" dirty="0"/>
          </a:p>
          <a:p>
            <a:r>
              <a:rPr lang="ko-KR" altLang="en-US" sz="1400" dirty="0">
                <a:solidFill>
                  <a:srgbClr val="FF0000"/>
                </a:solidFill>
              </a:rPr>
              <a:t>수식의 마이너스</a:t>
            </a:r>
            <a:r>
              <a:rPr lang="en-US" altLang="ko-KR" sz="1400" dirty="0">
                <a:solidFill>
                  <a:srgbClr val="FF0000"/>
                </a:solidFill>
              </a:rPr>
              <a:t>(-)</a:t>
            </a:r>
            <a:r>
              <a:rPr lang="ko-KR" altLang="en-US" sz="1400" dirty="0">
                <a:solidFill>
                  <a:srgbClr val="FF0000"/>
                </a:solidFill>
              </a:rPr>
              <a:t>는 </a:t>
            </a:r>
            <a:r>
              <a:rPr lang="en-US" altLang="ko-KR" sz="1400" dirty="0">
                <a:solidFill>
                  <a:srgbClr val="FF0000"/>
                </a:solidFill>
              </a:rPr>
              <a:t>‘</a:t>
            </a:r>
            <a:r>
              <a:rPr lang="ko-KR" altLang="en-US" sz="1400" dirty="0">
                <a:solidFill>
                  <a:srgbClr val="FF0000"/>
                </a:solidFill>
              </a:rPr>
              <a:t>차이점을 극대화하라</a:t>
            </a:r>
            <a:r>
              <a:rPr lang="en-US" altLang="ko-KR" sz="1400" dirty="0">
                <a:solidFill>
                  <a:srgbClr val="FF0000"/>
                </a:solidFill>
              </a:rPr>
              <a:t>’</a:t>
            </a:r>
            <a:r>
              <a:rPr lang="ko-KR" altLang="en-US" sz="1400" dirty="0"/>
              <a:t>라는 의미</a:t>
            </a:r>
            <a:r>
              <a:rPr lang="en-US" altLang="ko-KR" sz="1400" dirty="0"/>
              <a:t>. </a:t>
            </a:r>
          </a:p>
          <a:p>
            <a:r>
              <a:rPr lang="ko-KR" altLang="en-US" sz="1400" dirty="0"/>
              <a:t>즉</a:t>
            </a:r>
            <a:r>
              <a:rPr lang="en-US" altLang="ko-KR" sz="1400" dirty="0"/>
              <a:t>, </a:t>
            </a:r>
            <a:r>
              <a:rPr lang="en-US" altLang="ko-KR" sz="1400" dirty="0">
                <a:solidFill>
                  <a:srgbClr val="FF0000"/>
                </a:solidFill>
              </a:rPr>
              <a:t>“</a:t>
            </a:r>
            <a:r>
              <a:rPr lang="ko-KR" altLang="en-US" sz="1400" dirty="0">
                <a:solidFill>
                  <a:srgbClr val="FF0000"/>
                </a:solidFill>
              </a:rPr>
              <a:t>아무 생각 없이 그린 그림의 특징은 다 빼고서</a:t>
            </a:r>
            <a:r>
              <a:rPr lang="en-US" altLang="ko-KR" sz="1400" dirty="0">
                <a:solidFill>
                  <a:srgbClr val="FF0000"/>
                </a:solidFill>
              </a:rPr>
              <a:t>, </a:t>
            </a:r>
            <a:r>
              <a:rPr lang="ko-KR" altLang="en-US" sz="1400" dirty="0" err="1">
                <a:solidFill>
                  <a:srgbClr val="FF0000"/>
                </a:solidFill>
              </a:rPr>
              <a:t>보더콜리를</a:t>
            </a:r>
            <a:r>
              <a:rPr lang="ko-KR" altLang="en-US" sz="1400" dirty="0">
                <a:solidFill>
                  <a:srgbClr val="FF0000"/>
                </a:solidFill>
              </a:rPr>
              <a:t> </a:t>
            </a:r>
            <a:r>
              <a:rPr lang="ko-KR" altLang="en-US" sz="1400" dirty="0" err="1">
                <a:solidFill>
                  <a:srgbClr val="FF0000"/>
                </a:solidFill>
              </a:rPr>
              <a:t>그렸을때</a:t>
            </a:r>
            <a:r>
              <a:rPr lang="ko-KR" altLang="en-US" sz="1400" dirty="0">
                <a:solidFill>
                  <a:srgbClr val="FF0000"/>
                </a:solidFill>
              </a:rPr>
              <a:t> 나타나는 </a:t>
            </a:r>
            <a:r>
              <a:rPr lang="ko-KR" altLang="en-US" sz="1400" dirty="0" err="1">
                <a:solidFill>
                  <a:srgbClr val="FF0000"/>
                </a:solidFill>
              </a:rPr>
              <a:t>특징쪽에만</a:t>
            </a:r>
            <a:r>
              <a:rPr lang="ko-KR" altLang="en-US" sz="1400" dirty="0">
                <a:solidFill>
                  <a:srgbClr val="FF0000"/>
                </a:solidFill>
              </a:rPr>
              <a:t> </a:t>
            </a:r>
            <a:r>
              <a:rPr lang="en-US" altLang="ko-KR" sz="1400" dirty="0">
                <a:solidFill>
                  <a:srgbClr val="FF0000"/>
                </a:solidFill>
              </a:rPr>
              <a:t>1+W</a:t>
            </a:r>
            <a:r>
              <a:rPr lang="ko-KR" altLang="en-US" sz="1400" dirty="0">
                <a:solidFill>
                  <a:srgbClr val="FF0000"/>
                </a:solidFill>
              </a:rPr>
              <a:t>배의 악셀을 밟아라</a:t>
            </a:r>
            <a:r>
              <a:rPr lang="en-US" altLang="ko-KR" sz="1400" dirty="0">
                <a:solidFill>
                  <a:srgbClr val="FF0000"/>
                </a:solidFill>
              </a:rPr>
              <a:t>“</a:t>
            </a:r>
            <a:r>
              <a:rPr lang="ko-KR" altLang="en-US" sz="1400" dirty="0"/>
              <a:t>라는 뜻</a:t>
            </a:r>
            <a:r>
              <a:rPr lang="en-US" altLang="ko-KR" sz="1400" dirty="0"/>
              <a:t>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5" name="잉크 4">
                <a:extLst>
                  <a:ext uri="{FF2B5EF4-FFF2-40B4-BE49-F238E27FC236}">
                    <a16:creationId xmlns:a16="http://schemas.microsoft.com/office/drawing/2014/main" id="{41EF7080-C8EE-299D-FBED-4FEDB30F0B8F}"/>
                  </a:ext>
                </a:extLst>
              </p14:cNvPr>
              <p14:cNvContentPartPr/>
              <p14:nvPr/>
            </p14:nvContentPartPr>
            <p14:xfrm>
              <a:off x="4089320" y="4532970"/>
              <a:ext cx="3422160" cy="40680"/>
            </p14:xfrm>
          </p:contentPart>
        </mc:Choice>
        <mc:Fallback xmlns="">
          <p:pic>
            <p:nvPicPr>
              <p:cNvPr id="5" name="잉크 4">
                <a:extLst>
                  <a:ext uri="{FF2B5EF4-FFF2-40B4-BE49-F238E27FC236}">
                    <a16:creationId xmlns:a16="http://schemas.microsoft.com/office/drawing/2014/main" id="{41EF7080-C8EE-299D-FBED-4FEDB30F0B8F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4080320" y="4523970"/>
                <a:ext cx="3439800" cy="58320"/>
              </a:xfrm>
              <a:prstGeom prst="rect">
                <a:avLst/>
              </a:prstGeom>
            </p:spPr>
          </p:pic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2BABE3D3-38E4-7422-3E79-37018573AE94}"/>
              </a:ext>
            </a:extLst>
          </p:cNvPr>
          <p:cNvSpPr txBox="1"/>
          <p:nvPr/>
        </p:nvSpPr>
        <p:spPr>
          <a:xfrm>
            <a:off x="9768861" y="3244334"/>
            <a:ext cx="25774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최종방향</a:t>
            </a:r>
            <a:r>
              <a:rPr lang="en-US" altLang="ko-KR" dirty="0">
                <a:solidFill>
                  <a:srgbClr val="FF0000"/>
                </a:solidFill>
              </a:rPr>
              <a:t>(</a:t>
            </a:r>
            <a:r>
              <a:rPr lang="ko-KR" altLang="en-US" dirty="0">
                <a:solidFill>
                  <a:srgbClr val="FF0000"/>
                </a:solidFill>
              </a:rPr>
              <a:t>벡터</a:t>
            </a:r>
            <a:r>
              <a:rPr lang="en-US" altLang="ko-KR" dirty="0">
                <a:solidFill>
                  <a:srgbClr val="FF0000"/>
                </a:solidFill>
              </a:rPr>
              <a:t>)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C384F2-7D20-2B3B-0843-E0ACA083D897}"/>
              </a:ext>
            </a:extLst>
          </p:cNvPr>
          <p:cNvSpPr txBox="1"/>
          <p:nvPr/>
        </p:nvSpPr>
        <p:spPr>
          <a:xfrm>
            <a:off x="8255060" y="4591084"/>
            <a:ext cx="36837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EX) W=8,  </a:t>
            </a:r>
            <a:r>
              <a:rPr lang="en-US" altLang="ko-KR" sz="1400" dirty="0">
                <a:solidFill>
                  <a:srgbClr val="FF0000"/>
                </a:solidFill>
              </a:rPr>
              <a:t>(1+8) X (</a:t>
            </a:r>
            <a:r>
              <a:rPr lang="ko-KR" altLang="en-US" sz="1400" dirty="0">
                <a:solidFill>
                  <a:srgbClr val="FF0000"/>
                </a:solidFill>
              </a:rPr>
              <a:t>조건부</a:t>
            </a:r>
            <a:r>
              <a:rPr lang="en-US" altLang="ko-KR" sz="1400" dirty="0">
                <a:solidFill>
                  <a:srgbClr val="FF0000"/>
                </a:solidFill>
              </a:rPr>
              <a:t>) – 8 X (</a:t>
            </a:r>
            <a:r>
              <a:rPr lang="ko-KR" altLang="en-US" sz="1400" dirty="0">
                <a:solidFill>
                  <a:srgbClr val="FF0000"/>
                </a:solidFill>
              </a:rPr>
              <a:t>무조건부</a:t>
            </a:r>
            <a:r>
              <a:rPr lang="en-US" altLang="ko-KR" sz="1400" dirty="0">
                <a:solidFill>
                  <a:srgbClr val="FF0000"/>
                </a:solidFill>
              </a:rPr>
              <a:t>) 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05960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</TotalTime>
  <Words>1232</Words>
  <Application>Microsoft Office PowerPoint</Application>
  <PresentationFormat>와이드스크린</PresentationFormat>
  <Paragraphs>152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13</vt:i4>
      </vt:variant>
    </vt:vector>
  </HeadingPairs>
  <TitlesOfParts>
    <vt:vector size="17" baseType="lpstr">
      <vt:lpstr>맑은 고딕</vt:lpstr>
      <vt:lpstr>Arial</vt:lpstr>
      <vt:lpstr>Office 테마</vt:lpstr>
      <vt:lpstr>1_Office 테마</vt:lpstr>
      <vt:lpstr>Deep Generative Models Lecture 16</vt:lpstr>
      <vt:lpstr>확률 밀도 모델의 문제점?</vt:lpstr>
      <vt:lpstr>샘플링 기반 방식(GAN)의 문제점?</vt:lpstr>
      <vt:lpstr>스코어 함수? 스코어 기반 모델?</vt:lpstr>
      <vt:lpstr>PowerPoint 프레젠테이션</vt:lpstr>
      <vt:lpstr>일반 VAE vs 계층적 VAE (확산모델)</vt:lpstr>
      <vt:lpstr>징검다리를 건너는 과정?</vt:lpstr>
      <vt:lpstr>ELBO = Score Matching? (디코더의 훈련)</vt:lpstr>
      <vt:lpstr>노이즈를 연속적인 시간으로 주입?</vt:lpstr>
      <vt:lpstr>SDE -&gt; ODE ?</vt:lpstr>
      <vt:lpstr>생성속도의 한계? (문제점)</vt:lpstr>
      <vt:lpstr>사용자의 명령어를 어떻게 AI에게?</vt:lpstr>
      <vt:lpstr>사용자의 명령어를 어떻게 AI에게?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전승윤</dc:creator>
  <cp:lastModifiedBy>전승윤</cp:lastModifiedBy>
  <cp:revision>22</cp:revision>
  <dcterms:created xsi:type="dcterms:W3CDTF">2026-05-03T06:31:19Z</dcterms:created>
  <dcterms:modified xsi:type="dcterms:W3CDTF">2026-05-03T13:40:18Z</dcterms:modified>
</cp:coreProperties>
</file>